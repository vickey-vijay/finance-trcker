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2.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Categories</c:v>
                </c:pt>
              </c:strCache>
            </c:strRef>
          </c:tx>
          <c:spPr>
            <a:solidFill>
              <a:schemeClr val="accent1"/>
            </a:solidFill>
            <a:ln w="9525" cap="flat">
              <a:solidFill>
                <a:srgbClr val="F9F9F9"/>
              </a:solidFill>
              <a:prstDash val="solid"/>
              <a:round/>
            </a:ln>
            <a:effectLst/>
          </c:spPr>
          <c:dPt>
            <c:idx val="0"/>
            <c:bubble3D val="0"/>
            <c:spPr>
              <a:solidFill>
                <a:srgbClr val="1A73E8"/>
              </a:solidFill>
              <a:effectLst/>
            </c:spPr>
          </c:dPt>
          <c:dPt>
            <c:idx val="1"/>
            <c:bubble3D val="0"/>
            <c:spPr>
              <a:solidFill>
                <a:srgbClr val="E8F0FE"/>
              </a:solidFill>
              <a:effectLst/>
            </c:spPr>
          </c:dPt>
          <c:dLbls>
            <c:dLbl>
              <c:idx val="0"/>
              <c:numFmt formatCode="General" sourceLinked="0"/>
              <c:spPr/>
              <c:txPr>
                <a:bodyPr/>
                <a:lstStyle/>
                <a:p>
                  <a:pPr>
                    <a:defRPr sz="1100" b="0" i="0" u="none" strike="noStrike">
                      <a:solidFill>
                        <a:srgbClr val="1F2733"/>
                      </a:solidFill>
                      <a:latin typeface="Arial"/>
                    </a:defRPr>
                  </a:pPr>
                </a:p>
              </c:txPr>
              <c:showLegendKey val="0"/>
              <c:showVal val="1"/>
              <c:showCatName val="0"/>
              <c:showSerName val="0"/>
              <c:showPercent val="0"/>
              <c:showBubbleSize val="0"/>
            </c:dLbl>
            <c:dLbl>
              <c:idx val="1"/>
              <c:numFmt formatCode="General" sourceLinked="0"/>
              <c:spPr/>
              <c:txPr>
                <a:bodyPr/>
                <a:lstStyle/>
                <a:p>
                  <a:pPr>
                    <a:defRPr sz="1100" b="0" i="0" u="none" strike="noStrike">
                      <a:solidFill>
                        <a:srgbClr val="1F2733"/>
                      </a:solidFill>
                      <a:latin typeface="Arial"/>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Sheet1!$A$2:$A$3</c:f>
              <c:strCache>
                <c:ptCount val="2"/>
                <c:pt idx="0">
                  <c:v>Recurring-eligible (6)</c:v>
                </c:pt>
                <c:pt idx="1">
                  <c:v>Other categories (11)</c:v>
                </c:pt>
              </c:strCache>
            </c:strRef>
          </c:cat>
          <c:val>
            <c:numRef>
              <c:f>Sheet1!$B$2:$B$3</c:f>
              <c:numCache>
                <c:ptCount val="2"/>
                <c:pt idx="0">
                  <c:v>6</c:v>
                </c:pt>
                <c:pt idx="1">
                  <c:v>11</c:v>
                </c:pt>
              </c:numCache>
            </c:numRef>
          </c:val>
        </c:ser>
        <c:firstSliceAng val="0"/>
      </c:pieChart>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Total tax (Rs.)</c:v>
                </c:pt>
              </c:strCache>
            </c:strRef>
          </c:tx>
          <c:spPr>
            <a:solidFill>
              <a:srgbClr val="1AA260"/>
            </a:solidFill>
            <a:effectLst/>
          </c:spPr>
          <c:invertIfNegative val="0"/>
          <c:dLbls>
            <c:numFmt formatCode="#,##0" sourceLinked="0"/>
            <c:txPr>
              <a:bodyPr/>
              <a:lstStyle/>
              <a:p>
                <a:pPr>
                  <a:defRPr b="0" i="0" strike="noStrike" sz="1200" u="none">
                    <a:solidFill>
                      <a:srgbClr val="1F2733"/>
                    </a:solidFill>
                    <a:latin typeface="Arial"/>
                  </a:defRPr>
                </a:pPr>
              </a:p>
            </c:txPr>
            <c:showLegendKey val="0"/>
            <c:showVal val="1"/>
            <c:showCatName val="0"/>
            <c:showSerName val="0"/>
            <c:showPercent val="0"/>
            <c:showBubbleSize val="0"/>
            <c:showLeaderLines val="0"/>
          </c:dLbls>
          <c:dPt>
            <c:idx val="0"/>
            <c:invertIfNegative val="0"/>
            <c:bubble3D val="0"/>
            <c:spPr>
              <a:solidFill>
                <a:srgbClr val="1AA260"/>
              </a:solidFill>
              <a:effectLst/>
            </c:spPr>
          </c:dPt>
          <c:dPt>
            <c:idx val="1"/>
            <c:invertIfNegative val="0"/>
            <c:bubble3D val="0"/>
            <c:spPr>
              <a:solidFill>
                <a:srgbClr val="6B7787"/>
              </a:solidFill>
              <a:effectLst/>
            </c:spPr>
          </c:dPt>
          <c:cat>
            <c:multiLvlStrRef>
              <c:f>Sheet1!$A$2:$A$3</c:f>
              <c:multiLvlStrCache>
                <c:ptCount val="2"/>
                <c:lvl>
                  <c:pt idx="0">
                    <c:v>New Regime</c:v>
                  </c:pt>
                  <c:pt idx="1">
                    <c:v>Old Regime</c:v>
                  </c:pt>
                </c:lvl>
              </c:multiLvlStrCache>
            </c:multiLvlStrRef>
          </c:cat>
          <c:val>
            <c:numRef>
              <c:f>Sheet1!$B$2:$B$3</c:f>
              <c:numCache>
                <c:formatCode>General</c:formatCode>
                <c:ptCount val="2"/>
                <c:pt idx="0">
                  <c:v>125625</c:v>
                </c:pt>
                <c:pt idx="1">
                  <c:v>215145</c:v>
                </c:pt>
              </c:numCache>
            </c:numRef>
          </c:val>
        </c:ser>
        <c:dLbls>
          <c:numFmt formatCode="#,##0" sourceLinked="0"/>
          <c:txPr>
            <a:bodyPr/>
            <a:lstStyle/>
            <a:p>
              <a:pPr>
                <a:defRPr b="0" i="0" strike="noStrike" sz="1200" u="none">
                  <a:solidFill>
                    <a:srgbClr val="1F27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73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787"/>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by name. One-line pitch: SmartEdit AI reads an Indian salaried user's own bank statement and turns cryptic bank narrations into a clear, trustworthy picture of where the money went, with a chat assistant that can answer specific questions about that same data. State student ID, supervisor and organisation as printed on the slide before continuing.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agenda briefly: the problem being solved, what changed since mid-semester, the architecture and database, then each of the eight modules grouped by theme, ending with grounding and trust, privacy and testing, and a closing assessment of limitations and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three narrations aloud as written — they mean nothing to a normal reader. This is the actual raw input the system has to work with: no two banks format it the same way, and the meaning is buried inside abbreviations and codes. Emphasise the third gap especially, since it foreshadows the grounding discussion later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objective maps directly onto one or more of the eight backend modules covered later in the deck. The last objective — running entirely on-device — is the one most likely to be probed, since it is the least common design choice among comparable applications; be ready to explain that this was a deliberate privacy and availability decision, not a limitation.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growth in depth, not just breadth: it is not only more pages, but a shift from trusting an external API and a rule-only classifier to a system that grounds every figure in real computation and runs its own model locally. The two defects fixed during the live run — described later — are part of this semester's work, not oversights left over from mid-semester.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down the diagram from top to bottom. The browser layer is deliberately simple — server-rendered pages rather than a client-side framework, which is why the interface works offline. The Flask layer is the eight modules covered on the next slide. The inference layer is a separate, swappable piece with its own provider ladder. The database is SQLite reached through SQLAlchemy, chosen for a single-user desktop-style deployment rather than a multi-tenant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eight modules sit on top of the database and beneath the front end. Each will get its own slide or slide-pair later where it matters most for the viva narrative — parsing, classification, analytics, salary, and the natural-language chat with its grounding guard. Authentication and Advisory are covered briefly since their defence rests mainly on the test suite and on the grounding discussion respectively.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transactions table is the centre of the schema — it carries category, method, source, merchant, confidence and the fingerprint alongside the usual date, amount and description fields. The fingerprint is the mechanism behind duplicate-upload protection, demonstrated later in the live run. ensure_schema() is what allowed the database location fix, discussed in the grounding section, to be made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row in this table is a real measurement against the bundled sample statements, not an estimate. Point out that the parser scans the first 25 rows to score a header candidate, which is exactly why the six-row HDFC preamble does not cause any row to be dropped. The Axis example is worth dwelling on, since it demonstrates that the direction-resolution order is not decorative — that statement genuinely needs the fourth rule to be read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not hypothetical edge cases — each one corresponds to a real bundled sample statement or a real failure mode. If asked what would happen with a bank not in the current list of eleven, the honest answer is that it depends on how close its layout and amount formatting are to what is already handled; genuinely novel formats would need a new alias map entry.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ordering is the whole point of this slide: testing rail markers last is what keeps a UPI payment to a known merchant correctly categorised, instead of every UPI transaction collapsing into a meaningless Transfers bucket. The 64.7% figure belongs only to the fallback model on deliberately ambiguous narrations — the rules resolve the unambiguous majority before the model is ever consulted, which is covered in more depth two slides from now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genuinely useful concrete example for a viva, because it shows a real bug that was found and fixed, not a hypothetical one. It also demonstrates that keyword matching in the classifier is not naive substring matching — the four-character threshold and word-boundary rule exist specifically because of this incident.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of the seventeen categories — Subscriptions, Utilities, Insurance, EMI / Loans, Rent and Investments — are the ones eligible for recurring-commitment detection, shown in the chart. The remaining eleven, including Food &amp; Dining and Groceries, are deliberately excluded from that specific feature, which is the subject of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second concrete, named bug in the deck, alongside the PREMIUM/EMI trap. Nearly a five-times overstatement of a real EMI is a serious error for a personal finance tool to make, which is why the fix — deciding cadence from the count of distinct calendar months rather than the raw gap between two charges — is worth explaining carefully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percentage on this slide is used in the worked example on the next slide, so keep this one brief and treat it as reference material the audience can look back at. The professional-tax detail is worth having ready since it is state-specific and easy to be asked about directly — the eight states are Tamil Nadu, Karnataka, Maharashtra, West Bengal, Andhra Pradesh, Telangana, Gujarat and Madhya Pradesh.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figure in the table is a real output of the salary module for this exact input, not a rounded illustration — be ready to explain any single row. The chart makes the regime comparison concrete: total tax of Rs.1,25,625 under the new regime against Rs.2,15,145 under the old regime, for the identical profile, a difference of Rs.89,520 a year. If asked why the new regime wins here, the answer is that its wider slabs and larger standard deduction outweigh what the old regime's HRA exemption would have saved at this rent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technical tax point in the whole system and the one most likely to be probed directly. The key distinction in the table: at the lower CTC, the excess over Rs.12,00,000 is smaller than what ordinary slab tax would charge, so relief caps it down; at the higher CTC, ordinary slab tax has already fallen below the excess amount, so relief no longer changes the result. Both rows were computed by the salary module, not chosen to fit a narrative.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mechanical description of grounding; the next two slides tell the story of why it exists — the actual failure that was observed, and the specific guard rules that resulted from it. Understanding this pipeline in order is essential: parsing and computation happen with zero model involvement, and the model only ever touches a sentence that is already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numbers on this slide are direct measurements on the development machine, not vendor claims. If asked why 1.5 billion parameters specifically, the honest answer is a deliberate trade-off between running comfortably on an ordinary machine and having enough language ability to reword a sentence — which is genuinely all it is ever asked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ladder is used identically by AI Advisory and by the RAG chatbot. The important point is that the final step is not a degraded experience — it is a deterministic, rule-based advisor with no external dependency, which is exactly why the system can guarantee an answer is always produced, with or without internet, with or without a key, with or without the local model even being installed.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two real, observed failures that motivated everything on the next slide. The LaTeX incident happened during development and is the more dramatic of the two — it shows the model attempting arithmetic and failing visibly. The advisory incident is arguably more dangerous, because an invented but plausible-looking savings figure would not have been obviously wrong to a user reading the dashboard, which is exactly why a silent output guard was needed rather than relying on the failure being obvious.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item in the left-hand list traces back to an observed failure mode, not a guess — the LaTeX check exists because of the exact incident on the previous slide. The right-hand point is arguably the stronger guarantee of the two, since routing multi-row answers around the model entirely means there is no generated text to fail a check in the first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bank statement is about as sensitive as personal data gets, and this slide is the direct payoff of choosing an on-device model over a cloud API in the first place. The graceful-degradation point matters as much as the privacy point — the application was designed so that a missing optional dependency reduces capability rather than availability.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file maps onto specific modules covered earlier in the deck, and each test name is a specific, checkable claim — for a viva, naming the file that proves a claim is stronger than describing the behaviour alone. test_routes.py's account-isolation test is worth having ready if asked directly how privacy between users is enforced.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on this slide happened on the finished build in one continuous run, not across separate isolated tests. Presenting the two defects found and fixed is deliberate — it demonstrates that the live run was a genuine verification step that changed the code, not a rehearsed demo. Being ready to name both fixes precisely, as printed here, is worth doing before the viva.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Stating limitations honestly and specifically, with the same real numbers used throughout the deck, is stronger in a viva than either hiding them or being vague. Each limitation here should be recognisable from an earlier slide, since it is the same figure discussed positively earlier, now examined for what it does not yet 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points follow directly from the limitations on the previous slide — each one names the specific number or behaviour that would need to change, rather than a vague aspiration. If asked what would be done differently with more time, the classifier accuracy point is the strongest single answer, since it is the most honestly reported weak point in the whole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draw the whole narrative together in one breath: the problem was genuinely hard because Indian bank data is messy and inconsistent, and the system's central design principle throughout — computation by real code, generation only for wording — is what makes its numbers trustworthy rather than merely plausible.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questions. Keep the demo script and the viva question bank from the knowledge transfer guide within reach, since most follow-up questions will land on grounding, the classifier accuracy figure, marginal relief, or privacy — the four topics with the deepest supporting detail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57B8"/>
        </a:solidFill>
      </p:bgPr>
    </p:bg>
    <p:spTree>
      <p:nvGrpSpPr>
        <p:cNvPr id="1" name=""/>
        <p:cNvGrpSpPr/>
        <p:nvPr/>
      </p:nvGrpSpPr>
      <p:grpSpPr>
        <a:xfrm>
          <a:off x="0" y="0"/>
          <a:ext cx="0" cy="0"/>
          <a:chOff x="0" y="0"/>
          <a:chExt cx="0" cy="0"/>
        </a:xfrm>
      </p:grpSpPr>
      <p:sp>
        <p:nvSpPr>
          <p:cNvPr id="2" name="Shape 0"/>
          <p:cNvSpPr/>
          <p:nvPr/>
        </p:nvSpPr>
        <p:spPr>
          <a:xfrm>
            <a:off x="822960" y="2286000"/>
            <a:ext cx="1371600" cy="1371600"/>
          </a:xfrm>
          <a:prstGeom prst="roundRect">
            <a:avLst>
              <a:gd name="adj" fmla="val 13333"/>
            </a:avLst>
          </a:prstGeom>
          <a:solidFill>
            <a:srgbClr val="FFFFFF"/>
          </a:solidFill>
          <a:ln/>
        </p:spPr>
      </p:sp>
      <p:sp>
        <p:nvSpPr>
          <p:cNvPr id="3" name="Shape 1"/>
          <p:cNvSpPr/>
          <p:nvPr/>
        </p:nvSpPr>
        <p:spPr>
          <a:xfrm>
            <a:off x="1097280" y="2697480"/>
            <a:ext cx="201168" cy="502920"/>
          </a:xfrm>
          <a:prstGeom prst="rect">
            <a:avLst/>
          </a:prstGeom>
          <a:solidFill>
            <a:srgbClr val="1A73E8"/>
          </a:solidFill>
          <a:ln/>
        </p:spPr>
      </p:sp>
      <p:sp>
        <p:nvSpPr>
          <p:cNvPr id="4" name="Shape 2"/>
          <p:cNvSpPr/>
          <p:nvPr/>
        </p:nvSpPr>
        <p:spPr>
          <a:xfrm>
            <a:off x="1399032" y="2331720"/>
            <a:ext cx="201168" cy="868680"/>
          </a:xfrm>
          <a:prstGeom prst="rect">
            <a:avLst/>
          </a:prstGeom>
          <a:solidFill>
            <a:srgbClr val="1A73E8"/>
          </a:solidFill>
          <a:ln/>
        </p:spPr>
      </p:sp>
      <p:sp>
        <p:nvSpPr>
          <p:cNvPr id="5" name="Shape 3"/>
          <p:cNvSpPr/>
          <p:nvPr/>
        </p:nvSpPr>
        <p:spPr>
          <a:xfrm>
            <a:off x="1700784" y="1965960"/>
            <a:ext cx="201168" cy="1234440"/>
          </a:xfrm>
          <a:prstGeom prst="rect">
            <a:avLst/>
          </a:prstGeom>
          <a:solidFill>
            <a:srgbClr val="1A73E8"/>
          </a:solidFill>
          <a:ln/>
        </p:spPr>
      </p:sp>
      <p:sp>
        <p:nvSpPr>
          <p:cNvPr id="6" name="Text 4"/>
          <p:cNvSpPr/>
          <p:nvPr/>
        </p:nvSpPr>
        <p:spPr>
          <a:xfrm>
            <a:off x="2468880" y="2286000"/>
            <a:ext cx="8686800" cy="914400"/>
          </a:xfrm>
          <a:prstGeom prst="rect">
            <a:avLst/>
          </a:prstGeom>
          <a:noFill/>
          <a:ln/>
        </p:spPr>
        <p:txBody>
          <a:bodyPr wrap="square" lIns="0" tIns="0" rIns="0" bIns="0" rtlCol="0" anchor="ctr"/>
          <a:lstStyle/>
          <a:p>
            <a:pPr indent="0" marL="0">
              <a:buNone/>
            </a:pPr>
            <a:r>
              <a:rPr lang="en-US" sz="5200" b="1" dirty="0">
                <a:solidFill>
                  <a:srgbClr val="FFFFFF"/>
                </a:solidFill>
                <a:latin typeface="Georgia" pitchFamily="34" charset="0"/>
                <a:ea typeface="Georgia" pitchFamily="34" charset="-122"/>
                <a:cs typeface="Georgia" pitchFamily="34" charset="-120"/>
              </a:rPr>
              <a:t>SmartEdit AI</a:t>
            </a:r>
            <a:endParaRPr lang="en-US" sz="5200" dirty="0"/>
          </a:p>
        </p:txBody>
      </p:sp>
      <p:sp>
        <p:nvSpPr>
          <p:cNvPr id="7" name="Text 5"/>
          <p:cNvSpPr/>
          <p:nvPr/>
        </p:nvSpPr>
        <p:spPr>
          <a:xfrm>
            <a:off x="2487168" y="3246120"/>
            <a:ext cx="8686800" cy="548640"/>
          </a:xfrm>
          <a:prstGeom prst="rect">
            <a:avLst/>
          </a:prstGeom>
          <a:noFill/>
          <a:ln/>
        </p:spPr>
        <p:txBody>
          <a:bodyPr wrap="square" lIns="0" tIns="0" rIns="0" bIns="0" rtlCol="0" anchor="ctr"/>
          <a:lstStyle/>
          <a:p>
            <a:pPr indent="0" marL="0">
              <a:buNone/>
            </a:pPr>
            <a:r>
              <a:rPr lang="en-US" sz="1800" dirty="0">
                <a:solidFill>
                  <a:srgbClr val="CADCFC"/>
                </a:solidFill>
              </a:rPr>
              <a:t>An Intelligent Personal Finance Web Application for Indian Salaried Users</a:t>
            </a:r>
            <a:endParaRPr lang="en-US" sz="1800" dirty="0"/>
          </a:p>
        </p:txBody>
      </p:sp>
      <p:sp>
        <p:nvSpPr>
          <p:cNvPr id="8" name="Text 6"/>
          <p:cNvSpPr/>
          <p:nvPr/>
        </p:nvSpPr>
        <p:spPr>
          <a:xfrm>
            <a:off x="2487168" y="3794760"/>
            <a:ext cx="8229600" cy="365760"/>
          </a:xfrm>
          <a:prstGeom prst="rect">
            <a:avLst/>
          </a:prstGeom>
          <a:noFill/>
          <a:ln/>
        </p:spPr>
        <p:txBody>
          <a:bodyPr wrap="square" lIns="0" tIns="0" rIns="0" bIns="0" rtlCol="0" anchor="ctr"/>
          <a:lstStyle/>
          <a:p>
            <a:pPr indent="0" marL="0">
              <a:buNone/>
            </a:pPr>
            <a:r>
              <a:rPr lang="en-US" sz="1400" i="1" dirty="0">
                <a:solidFill>
                  <a:srgbClr val="9DB8F0"/>
                </a:solidFill>
              </a:rPr>
              <a:t>Final Viva Presentation</a:t>
            </a:r>
            <a:endParaRPr lang="en-US" sz="1400" dirty="0"/>
          </a:p>
        </p:txBody>
      </p:sp>
      <p:sp>
        <p:nvSpPr>
          <p:cNvPr id="9" name="Text 7"/>
          <p:cNvSpPr/>
          <p:nvPr/>
        </p:nvSpPr>
        <p:spPr>
          <a:xfrm>
            <a:off x="822960" y="5074920"/>
            <a:ext cx="10058400" cy="1280160"/>
          </a:xfrm>
          <a:prstGeom prst="rect">
            <a:avLst/>
          </a:prstGeom>
          <a:noFill/>
          <a:ln/>
        </p:spPr>
        <p:txBody>
          <a:bodyPr wrap="square" rtlCol="0" anchor="ctr"/>
          <a:lstStyle/>
          <a:p>
            <a:pPr indent="0" marL="0">
              <a:buNone/>
            </a:pPr>
            <a:r>
              <a:rPr lang="en-US" sz="1250" dirty="0">
                <a:solidFill>
                  <a:srgbClr val="CADCFC"/>
                </a:solidFill>
              </a:rPr>
              <a:t>Student: Shyam Sundar</a:t>
            </a:r>
            <a:endParaRPr lang="en-US" sz="1250" dirty="0"/>
          </a:p>
          <a:p>
            <a:pPr indent="0" marL="0">
              <a:buNone/>
            </a:pPr>
            <a:r>
              <a:rPr lang="en-US" sz="1250" dirty="0">
                <a:solidFill>
                  <a:srgbClr val="CADCFC"/>
                </a:solidFill>
              </a:rPr>
              <a:t>Student ID: (Insert student ID)</a:t>
            </a:r>
            <a:endParaRPr lang="en-US" sz="1250" dirty="0"/>
          </a:p>
          <a:p>
            <a:pPr indent="0" marL="0">
              <a:buNone/>
            </a:pPr>
            <a:r>
              <a:rPr lang="en-US" sz="1250" dirty="0">
                <a:solidFill>
                  <a:srgbClr val="CADCFC"/>
                </a:solidFill>
              </a:rPr>
              <a:t>Course: BITS ZG628T — Dissertation  ·  BITS Pilani (WILP)</a:t>
            </a:r>
            <a:endParaRPr lang="en-US" sz="1250" dirty="0"/>
          </a:p>
          <a:p>
            <a:pPr indent="0" marL="0">
              <a:buNone/>
            </a:pPr>
            <a:r>
              <a:rPr lang="en-US" sz="1250" dirty="0">
                <a:solidFill>
                  <a:srgbClr val="CADCFC"/>
                </a:solidFill>
              </a:rPr>
              <a:t>Supervisor: (Insert supervisor name)  ·  Organisation: (Insert organisation)</a:t>
            </a:r>
            <a:endParaRPr lang="en-US" sz="1250" dirty="0"/>
          </a:p>
          <a:p>
            <a:pPr indent="0" marL="0">
              <a:buNone/>
            </a:pPr>
            <a:r>
              <a:rPr lang="en-US" sz="1250" dirty="0">
                <a:solidFill>
                  <a:srgbClr val="CADCFC"/>
                </a:solidFill>
              </a:rPr>
              <a:t>2026</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9FC"/>
        </a:solidFill>
      </p:bgPr>
    </p:bg>
    <p:spTree>
      <p:nvGrpSpPr>
        <p:cNvPr id="1" name=""/>
        <p:cNvGrpSpPr/>
        <p:nvPr/>
      </p:nvGrpSpPr>
      <p:grpSpPr>
        <a:xfrm>
          <a:off x="0" y="0"/>
          <a:ext cx="0" cy="0"/>
          <a:chOff x="0" y="0"/>
          <a:chExt cx="0" cy="0"/>
        </a:xfrm>
      </p:grpSpPr>
      <p:sp>
        <p:nvSpPr>
          <p:cNvPr id="2" name="Text 0"/>
          <p:cNvSpPr/>
          <p:nvPr/>
        </p:nvSpPr>
        <p:spPr>
          <a:xfrm>
            <a:off x="457200" y="365760"/>
            <a:ext cx="11247120" cy="548640"/>
          </a:xfrm>
          <a:prstGeom prst="rect">
            <a:avLst/>
          </a:prstGeom>
          <a:noFill/>
          <a:ln/>
        </p:spPr>
        <p:txBody>
          <a:bodyPr wrap="square" lIns="0" tIns="0" rIns="0" bIns="0" rtlCol="0" anchor="ctr"/>
          <a:lstStyle/>
          <a:p>
            <a:pPr indent="0" marL="0">
              <a:buNone/>
            </a:pPr>
            <a:r>
              <a:rPr lang="en-US" sz="3000" b="1" dirty="0">
                <a:solidFill>
                  <a:srgbClr val="1457B8"/>
                </a:solidFill>
                <a:latin typeface="Georgia" pitchFamily="34" charset="0"/>
                <a:ea typeface="Georgia" pitchFamily="34" charset="-122"/>
                <a:cs typeface="Georgia" pitchFamily="34" charset="-120"/>
              </a:rPr>
              <a:t>Agenda</a:t>
            </a:r>
            <a:endParaRPr lang="en-US" sz="3000" dirty="0"/>
          </a:p>
        </p:txBody>
      </p:sp>
      <p:sp>
        <p:nvSpPr>
          <p:cNvPr id="3" name="Shape 1"/>
          <p:cNvSpPr/>
          <p:nvPr/>
        </p:nvSpPr>
        <p:spPr>
          <a:xfrm>
            <a:off x="548640" y="1554480"/>
            <a:ext cx="5486400" cy="749808"/>
          </a:xfrm>
          <a:prstGeom prst="roundRect">
            <a:avLst>
              <a:gd name="adj" fmla="val 9756"/>
            </a:avLst>
          </a:prstGeom>
          <a:solidFill>
            <a:srgbClr val="FFFFFF"/>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4" name="Shape 2"/>
          <p:cNvSpPr/>
          <p:nvPr/>
        </p:nvSpPr>
        <p:spPr>
          <a:xfrm>
            <a:off x="731520" y="1700784"/>
            <a:ext cx="457200" cy="457200"/>
          </a:xfrm>
          <a:prstGeom prst="ellipse">
            <a:avLst/>
          </a:prstGeom>
          <a:solidFill>
            <a:srgbClr val="1A73E8"/>
          </a:solidFill>
          <a:ln/>
        </p:spPr>
      </p:sp>
      <p:sp>
        <p:nvSpPr>
          <p:cNvPr id="5" name="Text 3"/>
          <p:cNvSpPr/>
          <p:nvPr/>
        </p:nvSpPr>
        <p:spPr>
          <a:xfrm>
            <a:off x="731520" y="170078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6" name="Text 4"/>
          <p:cNvSpPr/>
          <p:nvPr/>
        </p:nvSpPr>
        <p:spPr>
          <a:xfrm>
            <a:off x="1325880" y="1554480"/>
            <a:ext cx="4572000" cy="749808"/>
          </a:xfrm>
          <a:prstGeom prst="rect">
            <a:avLst/>
          </a:prstGeom>
          <a:noFill/>
          <a:ln/>
        </p:spPr>
        <p:txBody>
          <a:bodyPr wrap="square" lIns="0" tIns="0" rIns="0" bIns="0" rtlCol="0" anchor="ctr"/>
          <a:lstStyle/>
          <a:p>
            <a:pPr indent="0" marL="0">
              <a:buNone/>
            </a:pPr>
            <a:r>
              <a:rPr lang="en-US" sz="1400" b="1" dirty="0">
                <a:solidFill>
                  <a:srgbClr val="1F2733"/>
                </a:solidFill>
              </a:rPr>
              <a:t>The Problem</a:t>
            </a:r>
            <a:endParaRPr lang="en-US" sz="1400" dirty="0"/>
          </a:p>
        </p:txBody>
      </p:sp>
      <p:sp>
        <p:nvSpPr>
          <p:cNvPr id="7" name="Shape 5"/>
          <p:cNvSpPr/>
          <p:nvPr/>
        </p:nvSpPr>
        <p:spPr>
          <a:xfrm>
            <a:off x="6309360" y="1554480"/>
            <a:ext cx="5486400" cy="749808"/>
          </a:xfrm>
          <a:prstGeom prst="roundRect">
            <a:avLst>
              <a:gd name="adj" fmla="val 9756"/>
            </a:avLst>
          </a:prstGeom>
          <a:solidFill>
            <a:srgbClr val="FFFFFF"/>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8" name="Shape 6"/>
          <p:cNvSpPr/>
          <p:nvPr/>
        </p:nvSpPr>
        <p:spPr>
          <a:xfrm>
            <a:off x="6492240" y="1700784"/>
            <a:ext cx="457200" cy="457200"/>
          </a:xfrm>
          <a:prstGeom prst="ellipse">
            <a:avLst/>
          </a:prstGeom>
          <a:solidFill>
            <a:srgbClr val="1A73E8"/>
          </a:solidFill>
          <a:ln/>
        </p:spPr>
      </p:sp>
      <p:sp>
        <p:nvSpPr>
          <p:cNvPr id="9" name="Text 7"/>
          <p:cNvSpPr/>
          <p:nvPr/>
        </p:nvSpPr>
        <p:spPr>
          <a:xfrm>
            <a:off x="6492240" y="170078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0" name="Text 8"/>
          <p:cNvSpPr/>
          <p:nvPr/>
        </p:nvSpPr>
        <p:spPr>
          <a:xfrm>
            <a:off x="7086600" y="1554480"/>
            <a:ext cx="4572000" cy="749808"/>
          </a:xfrm>
          <a:prstGeom prst="rect">
            <a:avLst/>
          </a:prstGeom>
          <a:noFill/>
          <a:ln/>
        </p:spPr>
        <p:txBody>
          <a:bodyPr wrap="square" lIns="0" tIns="0" rIns="0" bIns="0" rtlCol="0" anchor="ctr"/>
          <a:lstStyle/>
          <a:p>
            <a:pPr indent="0" marL="0">
              <a:buNone/>
            </a:pPr>
            <a:r>
              <a:rPr lang="en-US" sz="1400" b="1" dirty="0">
                <a:solidFill>
                  <a:srgbClr val="1F2733"/>
                </a:solidFill>
              </a:rPr>
              <a:t>Objectives &amp; What Changed This Semester</a:t>
            </a:r>
            <a:endParaRPr lang="en-US" sz="1400" dirty="0"/>
          </a:p>
        </p:txBody>
      </p:sp>
      <p:sp>
        <p:nvSpPr>
          <p:cNvPr id="11" name="Shape 9"/>
          <p:cNvSpPr/>
          <p:nvPr/>
        </p:nvSpPr>
        <p:spPr>
          <a:xfrm>
            <a:off x="548640" y="2468880"/>
            <a:ext cx="5486400" cy="749808"/>
          </a:xfrm>
          <a:prstGeom prst="roundRect">
            <a:avLst>
              <a:gd name="adj" fmla="val 9756"/>
            </a:avLst>
          </a:prstGeom>
          <a:solidFill>
            <a:srgbClr val="FFFFFF"/>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12" name="Shape 10"/>
          <p:cNvSpPr/>
          <p:nvPr/>
        </p:nvSpPr>
        <p:spPr>
          <a:xfrm>
            <a:off x="731520" y="2615184"/>
            <a:ext cx="457200" cy="457200"/>
          </a:xfrm>
          <a:prstGeom prst="ellipse">
            <a:avLst/>
          </a:prstGeom>
          <a:solidFill>
            <a:srgbClr val="1A73E8"/>
          </a:solidFill>
          <a:ln/>
        </p:spPr>
      </p:sp>
      <p:sp>
        <p:nvSpPr>
          <p:cNvPr id="13" name="Text 11"/>
          <p:cNvSpPr/>
          <p:nvPr/>
        </p:nvSpPr>
        <p:spPr>
          <a:xfrm>
            <a:off x="731520" y="261518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4" name="Text 12"/>
          <p:cNvSpPr/>
          <p:nvPr/>
        </p:nvSpPr>
        <p:spPr>
          <a:xfrm>
            <a:off x="1325880" y="2468880"/>
            <a:ext cx="4572000" cy="749808"/>
          </a:xfrm>
          <a:prstGeom prst="rect">
            <a:avLst/>
          </a:prstGeom>
          <a:noFill/>
          <a:ln/>
        </p:spPr>
        <p:txBody>
          <a:bodyPr wrap="square" lIns="0" tIns="0" rIns="0" bIns="0" rtlCol="0" anchor="ctr"/>
          <a:lstStyle/>
          <a:p>
            <a:pPr indent="0" marL="0">
              <a:buNone/>
            </a:pPr>
            <a:r>
              <a:rPr lang="en-US" sz="1400" b="1" dirty="0">
                <a:solidFill>
                  <a:srgbClr val="1F2733"/>
                </a:solidFill>
              </a:rPr>
              <a:t>System Architecture &amp; Database</a:t>
            </a:r>
            <a:endParaRPr lang="en-US" sz="1400" dirty="0"/>
          </a:p>
        </p:txBody>
      </p:sp>
      <p:sp>
        <p:nvSpPr>
          <p:cNvPr id="15" name="Shape 13"/>
          <p:cNvSpPr/>
          <p:nvPr/>
        </p:nvSpPr>
        <p:spPr>
          <a:xfrm>
            <a:off x="6309360" y="2468880"/>
            <a:ext cx="5486400" cy="749808"/>
          </a:xfrm>
          <a:prstGeom prst="roundRect">
            <a:avLst>
              <a:gd name="adj" fmla="val 9756"/>
            </a:avLst>
          </a:prstGeom>
          <a:solidFill>
            <a:srgbClr val="FFFFFF"/>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16" name="Shape 14"/>
          <p:cNvSpPr/>
          <p:nvPr/>
        </p:nvSpPr>
        <p:spPr>
          <a:xfrm>
            <a:off x="6492240" y="2615184"/>
            <a:ext cx="457200" cy="457200"/>
          </a:xfrm>
          <a:prstGeom prst="ellipse">
            <a:avLst/>
          </a:prstGeom>
          <a:solidFill>
            <a:srgbClr val="1A73E8"/>
          </a:solidFill>
          <a:ln/>
        </p:spPr>
      </p:sp>
      <p:sp>
        <p:nvSpPr>
          <p:cNvPr id="17" name="Text 15"/>
          <p:cNvSpPr/>
          <p:nvPr/>
        </p:nvSpPr>
        <p:spPr>
          <a:xfrm>
            <a:off x="6492240" y="261518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18" name="Text 16"/>
          <p:cNvSpPr/>
          <p:nvPr/>
        </p:nvSpPr>
        <p:spPr>
          <a:xfrm>
            <a:off x="7086600" y="2468880"/>
            <a:ext cx="4572000" cy="749808"/>
          </a:xfrm>
          <a:prstGeom prst="rect">
            <a:avLst/>
          </a:prstGeom>
          <a:noFill/>
          <a:ln/>
        </p:spPr>
        <p:txBody>
          <a:bodyPr wrap="square" lIns="0" tIns="0" rIns="0" bIns="0" rtlCol="0" anchor="ctr"/>
          <a:lstStyle/>
          <a:p>
            <a:pPr indent="0" marL="0">
              <a:buNone/>
            </a:pPr>
            <a:r>
              <a:rPr lang="en-US" sz="1400" b="1" dirty="0">
                <a:solidFill>
                  <a:srgbClr val="1F2733"/>
                </a:solidFill>
              </a:rPr>
              <a:t>Statement Parsing</a:t>
            </a:r>
            <a:endParaRPr lang="en-US" sz="1400" dirty="0"/>
          </a:p>
        </p:txBody>
      </p:sp>
      <p:sp>
        <p:nvSpPr>
          <p:cNvPr id="19" name="Shape 17"/>
          <p:cNvSpPr/>
          <p:nvPr/>
        </p:nvSpPr>
        <p:spPr>
          <a:xfrm>
            <a:off x="548640" y="3383280"/>
            <a:ext cx="5486400" cy="749808"/>
          </a:xfrm>
          <a:prstGeom prst="roundRect">
            <a:avLst>
              <a:gd name="adj" fmla="val 9756"/>
            </a:avLst>
          </a:prstGeom>
          <a:solidFill>
            <a:srgbClr val="FFFFFF"/>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20" name="Shape 18"/>
          <p:cNvSpPr/>
          <p:nvPr/>
        </p:nvSpPr>
        <p:spPr>
          <a:xfrm>
            <a:off x="731520" y="3529584"/>
            <a:ext cx="457200" cy="457200"/>
          </a:xfrm>
          <a:prstGeom prst="ellipse">
            <a:avLst/>
          </a:prstGeom>
          <a:solidFill>
            <a:srgbClr val="1A73E8"/>
          </a:solidFill>
          <a:ln/>
        </p:spPr>
      </p:sp>
      <p:sp>
        <p:nvSpPr>
          <p:cNvPr id="21" name="Text 19"/>
          <p:cNvSpPr/>
          <p:nvPr/>
        </p:nvSpPr>
        <p:spPr>
          <a:xfrm>
            <a:off x="731520" y="352958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22" name="Text 20"/>
          <p:cNvSpPr/>
          <p:nvPr/>
        </p:nvSpPr>
        <p:spPr>
          <a:xfrm>
            <a:off x="1325880" y="3383280"/>
            <a:ext cx="4572000" cy="749808"/>
          </a:xfrm>
          <a:prstGeom prst="rect">
            <a:avLst/>
          </a:prstGeom>
          <a:noFill/>
          <a:ln/>
        </p:spPr>
        <p:txBody>
          <a:bodyPr wrap="square" lIns="0" tIns="0" rIns="0" bIns="0" rtlCol="0" anchor="ctr"/>
          <a:lstStyle/>
          <a:p>
            <a:pPr indent="0" marL="0">
              <a:buNone/>
            </a:pPr>
            <a:r>
              <a:rPr lang="en-US" sz="1400" b="1" dirty="0">
                <a:solidFill>
                  <a:srgbClr val="1F2733"/>
                </a:solidFill>
              </a:rPr>
              <a:t>Transaction Classification</a:t>
            </a:r>
            <a:endParaRPr lang="en-US" sz="1400" dirty="0"/>
          </a:p>
        </p:txBody>
      </p:sp>
      <p:sp>
        <p:nvSpPr>
          <p:cNvPr id="23" name="Shape 21"/>
          <p:cNvSpPr/>
          <p:nvPr/>
        </p:nvSpPr>
        <p:spPr>
          <a:xfrm>
            <a:off x="6309360" y="3383280"/>
            <a:ext cx="5486400" cy="749808"/>
          </a:xfrm>
          <a:prstGeom prst="roundRect">
            <a:avLst>
              <a:gd name="adj" fmla="val 9756"/>
            </a:avLst>
          </a:prstGeom>
          <a:solidFill>
            <a:srgbClr val="FFFFFF"/>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24" name="Shape 22"/>
          <p:cNvSpPr/>
          <p:nvPr/>
        </p:nvSpPr>
        <p:spPr>
          <a:xfrm>
            <a:off x="6492240" y="3529584"/>
            <a:ext cx="457200" cy="457200"/>
          </a:xfrm>
          <a:prstGeom prst="ellipse">
            <a:avLst/>
          </a:prstGeom>
          <a:solidFill>
            <a:srgbClr val="1A73E8"/>
          </a:solidFill>
          <a:ln/>
        </p:spPr>
      </p:sp>
      <p:sp>
        <p:nvSpPr>
          <p:cNvPr id="25" name="Text 23"/>
          <p:cNvSpPr/>
          <p:nvPr/>
        </p:nvSpPr>
        <p:spPr>
          <a:xfrm>
            <a:off x="6492240" y="352958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6</a:t>
            </a:r>
            <a:endParaRPr lang="en-US" sz="1600" dirty="0"/>
          </a:p>
        </p:txBody>
      </p:sp>
      <p:sp>
        <p:nvSpPr>
          <p:cNvPr id="26" name="Text 24"/>
          <p:cNvSpPr/>
          <p:nvPr/>
        </p:nvSpPr>
        <p:spPr>
          <a:xfrm>
            <a:off x="7086600" y="3383280"/>
            <a:ext cx="4572000" cy="749808"/>
          </a:xfrm>
          <a:prstGeom prst="rect">
            <a:avLst/>
          </a:prstGeom>
          <a:noFill/>
          <a:ln/>
        </p:spPr>
        <p:txBody>
          <a:bodyPr wrap="square" lIns="0" tIns="0" rIns="0" bIns="0" rtlCol="0" anchor="ctr"/>
          <a:lstStyle/>
          <a:p>
            <a:pPr indent="0" marL="0">
              <a:buNone/>
            </a:pPr>
            <a:r>
              <a:rPr lang="en-US" sz="1400" b="1" dirty="0">
                <a:solidFill>
                  <a:srgbClr val="1F2733"/>
                </a:solidFill>
              </a:rPr>
              <a:t>Analytics &amp; Insights</a:t>
            </a:r>
            <a:endParaRPr lang="en-US" sz="1400" dirty="0"/>
          </a:p>
        </p:txBody>
      </p:sp>
      <p:sp>
        <p:nvSpPr>
          <p:cNvPr id="27" name="Shape 25"/>
          <p:cNvSpPr/>
          <p:nvPr/>
        </p:nvSpPr>
        <p:spPr>
          <a:xfrm>
            <a:off x="548640" y="4297680"/>
            <a:ext cx="5486400" cy="749808"/>
          </a:xfrm>
          <a:prstGeom prst="roundRect">
            <a:avLst>
              <a:gd name="adj" fmla="val 9756"/>
            </a:avLst>
          </a:prstGeom>
          <a:solidFill>
            <a:srgbClr val="FFFFFF"/>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28" name="Shape 26"/>
          <p:cNvSpPr/>
          <p:nvPr/>
        </p:nvSpPr>
        <p:spPr>
          <a:xfrm>
            <a:off x="731520" y="4443984"/>
            <a:ext cx="457200" cy="457200"/>
          </a:xfrm>
          <a:prstGeom prst="ellipse">
            <a:avLst/>
          </a:prstGeom>
          <a:solidFill>
            <a:srgbClr val="1A73E8"/>
          </a:solidFill>
          <a:ln/>
        </p:spPr>
      </p:sp>
      <p:sp>
        <p:nvSpPr>
          <p:cNvPr id="29" name="Text 27"/>
          <p:cNvSpPr/>
          <p:nvPr/>
        </p:nvSpPr>
        <p:spPr>
          <a:xfrm>
            <a:off x="731520" y="444398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7</a:t>
            </a:r>
            <a:endParaRPr lang="en-US" sz="1600" dirty="0"/>
          </a:p>
        </p:txBody>
      </p:sp>
      <p:sp>
        <p:nvSpPr>
          <p:cNvPr id="30" name="Text 28"/>
          <p:cNvSpPr/>
          <p:nvPr/>
        </p:nvSpPr>
        <p:spPr>
          <a:xfrm>
            <a:off x="1325880" y="4297680"/>
            <a:ext cx="4572000" cy="749808"/>
          </a:xfrm>
          <a:prstGeom prst="rect">
            <a:avLst/>
          </a:prstGeom>
          <a:noFill/>
          <a:ln/>
        </p:spPr>
        <p:txBody>
          <a:bodyPr wrap="square" lIns="0" tIns="0" rIns="0" bIns="0" rtlCol="0" anchor="ctr"/>
          <a:lstStyle/>
          <a:p>
            <a:pPr indent="0" marL="0">
              <a:buNone/>
            </a:pPr>
            <a:r>
              <a:rPr lang="en-US" sz="1400" b="1" dirty="0">
                <a:solidFill>
                  <a:srgbClr val="1F2733"/>
                </a:solidFill>
              </a:rPr>
              <a:t>Salary &amp; Tax</a:t>
            </a:r>
            <a:endParaRPr lang="en-US" sz="1400" dirty="0"/>
          </a:p>
        </p:txBody>
      </p:sp>
      <p:sp>
        <p:nvSpPr>
          <p:cNvPr id="31" name="Shape 29"/>
          <p:cNvSpPr/>
          <p:nvPr/>
        </p:nvSpPr>
        <p:spPr>
          <a:xfrm>
            <a:off x="6309360" y="4297680"/>
            <a:ext cx="5486400" cy="749808"/>
          </a:xfrm>
          <a:prstGeom prst="roundRect">
            <a:avLst>
              <a:gd name="adj" fmla="val 9756"/>
            </a:avLst>
          </a:prstGeom>
          <a:solidFill>
            <a:srgbClr val="FFFFFF"/>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32" name="Shape 30"/>
          <p:cNvSpPr/>
          <p:nvPr/>
        </p:nvSpPr>
        <p:spPr>
          <a:xfrm>
            <a:off x="6492240" y="4443984"/>
            <a:ext cx="457200" cy="457200"/>
          </a:xfrm>
          <a:prstGeom prst="ellipse">
            <a:avLst/>
          </a:prstGeom>
          <a:solidFill>
            <a:srgbClr val="1A73E8"/>
          </a:solidFill>
          <a:ln/>
        </p:spPr>
      </p:sp>
      <p:sp>
        <p:nvSpPr>
          <p:cNvPr id="33" name="Text 31"/>
          <p:cNvSpPr/>
          <p:nvPr/>
        </p:nvSpPr>
        <p:spPr>
          <a:xfrm>
            <a:off x="6492240" y="444398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8</a:t>
            </a:r>
            <a:endParaRPr lang="en-US" sz="1600" dirty="0"/>
          </a:p>
        </p:txBody>
      </p:sp>
      <p:sp>
        <p:nvSpPr>
          <p:cNvPr id="34" name="Text 32"/>
          <p:cNvSpPr/>
          <p:nvPr/>
        </p:nvSpPr>
        <p:spPr>
          <a:xfrm>
            <a:off x="7086600" y="4297680"/>
            <a:ext cx="4572000" cy="749808"/>
          </a:xfrm>
          <a:prstGeom prst="rect">
            <a:avLst/>
          </a:prstGeom>
          <a:noFill/>
          <a:ln/>
        </p:spPr>
        <p:txBody>
          <a:bodyPr wrap="square" lIns="0" tIns="0" rIns="0" bIns="0" rtlCol="0" anchor="ctr"/>
          <a:lstStyle/>
          <a:p>
            <a:pPr indent="0" marL="0">
              <a:buNone/>
            </a:pPr>
            <a:r>
              <a:rPr lang="en-US" sz="1400" b="1" dirty="0">
                <a:solidFill>
                  <a:srgbClr val="1F2733"/>
                </a:solidFill>
              </a:rPr>
              <a:t>Natural-Language Chat &amp; Grounding</a:t>
            </a:r>
            <a:endParaRPr lang="en-US" sz="1400" dirty="0"/>
          </a:p>
        </p:txBody>
      </p:sp>
      <p:sp>
        <p:nvSpPr>
          <p:cNvPr id="35" name="Shape 33"/>
          <p:cNvSpPr/>
          <p:nvPr/>
        </p:nvSpPr>
        <p:spPr>
          <a:xfrm>
            <a:off x="548640" y="5212080"/>
            <a:ext cx="5486400" cy="749808"/>
          </a:xfrm>
          <a:prstGeom prst="roundRect">
            <a:avLst>
              <a:gd name="adj" fmla="val 9756"/>
            </a:avLst>
          </a:prstGeom>
          <a:solidFill>
            <a:srgbClr val="FFFFFF"/>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36" name="Shape 34"/>
          <p:cNvSpPr/>
          <p:nvPr/>
        </p:nvSpPr>
        <p:spPr>
          <a:xfrm>
            <a:off x="731520" y="5358384"/>
            <a:ext cx="457200" cy="457200"/>
          </a:xfrm>
          <a:prstGeom prst="ellipse">
            <a:avLst/>
          </a:prstGeom>
          <a:solidFill>
            <a:srgbClr val="1A73E8"/>
          </a:solidFill>
          <a:ln/>
        </p:spPr>
      </p:sp>
      <p:sp>
        <p:nvSpPr>
          <p:cNvPr id="37" name="Text 35"/>
          <p:cNvSpPr/>
          <p:nvPr/>
        </p:nvSpPr>
        <p:spPr>
          <a:xfrm>
            <a:off x="731520" y="535838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9</a:t>
            </a:r>
            <a:endParaRPr lang="en-US" sz="1600" dirty="0"/>
          </a:p>
        </p:txBody>
      </p:sp>
      <p:sp>
        <p:nvSpPr>
          <p:cNvPr id="38" name="Text 36"/>
          <p:cNvSpPr/>
          <p:nvPr/>
        </p:nvSpPr>
        <p:spPr>
          <a:xfrm>
            <a:off x="1325880" y="5212080"/>
            <a:ext cx="4572000" cy="749808"/>
          </a:xfrm>
          <a:prstGeom prst="rect">
            <a:avLst/>
          </a:prstGeom>
          <a:noFill/>
          <a:ln/>
        </p:spPr>
        <p:txBody>
          <a:bodyPr wrap="square" lIns="0" tIns="0" rIns="0" bIns="0" rtlCol="0" anchor="ctr"/>
          <a:lstStyle/>
          <a:p>
            <a:pPr indent="0" marL="0">
              <a:buNone/>
            </a:pPr>
            <a:r>
              <a:rPr lang="en-US" sz="1400" b="1" dirty="0">
                <a:solidFill>
                  <a:srgbClr val="1F2733"/>
                </a:solidFill>
              </a:rPr>
              <a:t>Privacy, Testing &amp; Live Run</a:t>
            </a:r>
            <a:endParaRPr lang="en-US" sz="1400" dirty="0"/>
          </a:p>
        </p:txBody>
      </p:sp>
      <p:sp>
        <p:nvSpPr>
          <p:cNvPr id="39" name="Shape 37"/>
          <p:cNvSpPr/>
          <p:nvPr/>
        </p:nvSpPr>
        <p:spPr>
          <a:xfrm>
            <a:off x="6309360" y="5212080"/>
            <a:ext cx="5486400" cy="749808"/>
          </a:xfrm>
          <a:prstGeom prst="roundRect">
            <a:avLst>
              <a:gd name="adj" fmla="val 9756"/>
            </a:avLst>
          </a:prstGeom>
          <a:solidFill>
            <a:srgbClr val="FFFFFF"/>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40" name="Shape 38"/>
          <p:cNvSpPr/>
          <p:nvPr/>
        </p:nvSpPr>
        <p:spPr>
          <a:xfrm>
            <a:off x="6492240" y="5358384"/>
            <a:ext cx="457200" cy="457200"/>
          </a:xfrm>
          <a:prstGeom prst="ellipse">
            <a:avLst/>
          </a:prstGeom>
          <a:solidFill>
            <a:srgbClr val="1A73E8"/>
          </a:solidFill>
          <a:ln/>
        </p:spPr>
      </p:sp>
      <p:sp>
        <p:nvSpPr>
          <p:cNvPr id="41" name="Text 39"/>
          <p:cNvSpPr/>
          <p:nvPr/>
        </p:nvSpPr>
        <p:spPr>
          <a:xfrm>
            <a:off x="6492240" y="535838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10</a:t>
            </a:r>
            <a:endParaRPr lang="en-US" sz="1600" dirty="0"/>
          </a:p>
        </p:txBody>
      </p:sp>
      <p:sp>
        <p:nvSpPr>
          <p:cNvPr id="42" name="Text 40"/>
          <p:cNvSpPr/>
          <p:nvPr/>
        </p:nvSpPr>
        <p:spPr>
          <a:xfrm>
            <a:off x="7086600" y="5212080"/>
            <a:ext cx="4572000" cy="749808"/>
          </a:xfrm>
          <a:prstGeom prst="rect">
            <a:avLst/>
          </a:prstGeom>
          <a:noFill/>
          <a:ln/>
        </p:spPr>
        <p:txBody>
          <a:bodyPr wrap="square" lIns="0" tIns="0" rIns="0" bIns="0" rtlCol="0" anchor="ctr"/>
          <a:lstStyle/>
          <a:p>
            <a:pPr indent="0" marL="0">
              <a:buNone/>
            </a:pPr>
            <a:r>
              <a:rPr lang="en-US" sz="1400" b="1" dirty="0">
                <a:solidFill>
                  <a:srgbClr val="1F2733"/>
                </a:solidFill>
              </a:rPr>
              <a:t>Limitations, Future Work &amp; Conclusion</a:t>
            </a:r>
            <a:endParaRPr lang="en-US" sz="1400" dirty="0"/>
          </a:p>
        </p:txBody>
      </p:sp>
      <p:sp>
        <p:nvSpPr>
          <p:cNvPr id="43" name="Text 41"/>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B7787"/>
                </a:solidFill>
              </a:rPr>
              <a:t>SmartEdit AI  ·  Final Viva Presentation</a:t>
            </a:r>
            <a:endParaRPr lang="en-US" sz="900" dirty="0"/>
          </a:p>
        </p:txBody>
      </p:sp>
      <p:sp>
        <p:nvSpPr>
          <p:cNvPr id="44" name="Text 42"/>
          <p:cNvSpPr/>
          <p:nvPr/>
        </p:nvSpPr>
        <p:spPr>
          <a:xfrm>
            <a:off x="10972800" y="6446520"/>
            <a:ext cx="731520" cy="274320"/>
          </a:xfrm>
          <a:prstGeom prst="rect">
            <a:avLst/>
          </a:prstGeom>
          <a:noFill/>
          <a:ln/>
        </p:spPr>
        <p:txBody>
          <a:bodyPr wrap="square" rtlCol="0" anchor="ctr"/>
          <a:lstStyle/>
          <a:p>
            <a:pPr algn="r" indent="0" marL="0">
              <a:buNone/>
            </a:pPr>
            <a:r>
              <a:rPr lang="en-US" sz="900" dirty="0">
                <a:solidFill>
                  <a:srgbClr val="6B7787"/>
                </a:solidFill>
              </a:rPr>
              <a:t>2 / 29</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9FC"/>
        </a:solidFill>
      </p:bgPr>
    </p:bg>
    <p:spTree>
      <p:nvGrpSpPr>
        <p:cNvPr id="1" name=""/>
        <p:cNvGrpSpPr/>
        <p:nvPr/>
      </p:nvGrpSpPr>
      <p:grpSpPr>
        <a:xfrm>
          <a:off x="0" y="0"/>
          <a:ext cx="0" cy="0"/>
          <a:chOff x="0" y="0"/>
          <a:chExt cx="0" cy="0"/>
        </a:xfrm>
      </p:grpSpPr>
      <p:sp>
        <p:nvSpPr>
          <p:cNvPr id="2" name="Text 0"/>
          <p:cNvSpPr/>
          <p:nvPr/>
        </p:nvSpPr>
        <p:spPr>
          <a:xfrm>
            <a:off x="457200" y="365760"/>
            <a:ext cx="11247120" cy="548640"/>
          </a:xfrm>
          <a:prstGeom prst="rect">
            <a:avLst/>
          </a:prstGeom>
          <a:noFill/>
          <a:ln/>
        </p:spPr>
        <p:txBody>
          <a:bodyPr wrap="square" lIns="0" tIns="0" rIns="0" bIns="0" rtlCol="0" anchor="ctr"/>
          <a:lstStyle/>
          <a:p>
            <a:pPr indent="0" marL="0">
              <a:buNone/>
            </a:pPr>
            <a:r>
              <a:rPr lang="en-US" sz="3000" b="1" dirty="0">
                <a:solidFill>
                  <a:srgbClr val="1457B8"/>
                </a:solidFill>
                <a:latin typeface="Georgia" pitchFamily="34" charset="0"/>
                <a:ea typeface="Georgia" pitchFamily="34" charset="-122"/>
                <a:cs typeface="Georgia" pitchFamily="34" charset="-120"/>
              </a:rPr>
              <a:t>The Problem</a:t>
            </a:r>
            <a:endParaRPr lang="en-US" sz="3000" dirty="0"/>
          </a:p>
        </p:txBody>
      </p:sp>
      <p:sp>
        <p:nvSpPr>
          <p:cNvPr id="3" name="Text 1"/>
          <p:cNvSpPr/>
          <p:nvPr/>
        </p:nvSpPr>
        <p:spPr>
          <a:xfrm>
            <a:off x="457200" y="960120"/>
            <a:ext cx="11247120" cy="365760"/>
          </a:xfrm>
          <a:prstGeom prst="rect">
            <a:avLst/>
          </a:prstGeom>
          <a:noFill/>
          <a:ln/>
        </p:spPr>
        <p:txBody>
          <a:bodyPr wrap="square" lIns="0" tIns="0" rIns="0" bIns="0" rtlCol="0" anchor="ctr"/>
          <a:lstStyle/>
          <a:p>
            <a:pPr indent="0" marL="0">
              <a:buNone/>
            </a:pPr>
            <a:r>
              <a:rPr lang="en-US" sz="1400" i="1" dirty="0">
                <a:solidFill>
                  <a:srgbClr val="6B7787"/>
                </a:solidFill>
              </a:rPr>
              <a:t>Indian bank statements are not standardised, and narrations are cryptic</a:t>
            </a:r>
            <a:endParaRPr lang="en-US" sz="1400" dirty="0"/>
          </a:p>
        </p:txBody>
      </p:sp>
      <p:sp>
        <p:nvSpPr>
          <p:cNvPr id="4" name="Shape 2"/>
          <p:cNvSpPr/>
          <p:nvPr/>
        </p:nvSpPr>
        <p:spPr>
          <a:xfrm>
            <a:off x="548640" y="1554480"/>
            <a:ext cx="5486400" cy="4480560"/>
          </a:xfrm>
          <a:prstGeom prst="roundRect">
            <a:avLst>
              <a:gd name="adj" fmla="val 1633"/>
            </a:avLst>
          </a:prstGeom>
          <a:solidFill>
            <a:srgbClr val="1457B8"/>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5" name="Text 3"/>
          <p:cNvSpPr/>
          <p:nvPr/>
        </p:nvSpPr>
        <p:spPr>
          <a:xfrm>
            <a:off x="822960" y="1737360"/>
            <a:ext cx="4937760" cy="320040"/>
          </a:xfrm>
          <a:prstGeom prst="rect">
            <a:avLst/>
          </a:prstGeom>
          <a:noFill/>
          <a:ln/>
        </p:spPr>
        <p:txBody>
          <a:bodyPr wrap="square" lIns="0" tIns="0" rIns="0" bIns="0" rtlCol="0" anchor="ctr"/>
          <a:lstStyle/>
          <a:p>
            <a:pPr indent="0" marL="0">
              <a:buNone/>
            </a:pPr>
            <a:r>
              <a:rPr lang="en-US" sz="1300" b="1" dirty="0">
                <a:solidFill>
                  <a:srgbClr val="CADCFC"/>
                </a:solidFill>
              </a:rPr>
              <a:t>A real narration, unchanged:</a:t>
            </a:r>
            <a:endParaRPr lang="en-US" sz="1300" dirty="0"/>
          </a:p>
        </p:txBody>
      </p:sp>
      <p:sp>
        <p:nvSpPr>
          <p:cNvPr id="6" name="Text 4"/>
          <p:cNvSpPr/>
          <p:nvPr/>
        </p:nvSpPr>
        <p:spPr>
          <a:xfrm>
            <a:off x="822960" y="2148840"/>
            <a:ext cx="4937760" cy="1371600"/>
          </a:xfrm>
          <a:prstGeom prst="rect">
            <a:avLst/>
          </a:prstGeom>
          <a:noFill/>
          <a:ln/>
        </p:spPr>
        <p:txBody>
          <a:bodyPr wrap="square" lIns="0" tIns="0" rIns="0" bIns="0" rtlCol="0" anchor="t"/>
          <a:lstStyle/>
          <a:p>
            <a:pPr indent="0" marL="0">
              <a:buNone/>
            </a:pPr>
            <a:r>
              <a:rPr lang="en-US" sz="1600" dirty="0">
                <a:solidFill>
                  <a:srgbClr val="FFFFFF"/>
                </a:solidFill>
                <a:latin typeface="Consolas" pitchFamily="34" charset="0"/>
                <a:ea typeface="Consolas" pitchFamily="34" charset="-122"/>
                <a:cs typeface="Consolas" pitchFamily="34" charset="-120"/>
              </a:rPr>
              <a:t>UPI-SWIGGY-OKAXIS-XXXX1234
</a:t>
            </a:r>
            <a:endParaRPr lang="en-US" sz="1600" dirty="0"/>
          </a:p>
          <a:p>
            <a:pPr indent="0" marL="0">
              <a:buNone/>
            </a:pPr>
            <a:r>
              <a:rPr lang="en-US" sz="1600" dirty="0">
                <a:solidFill>
                  <a:srgbClr val="FFFFFF"/>
                </a:solidFill>
                <a:latin typeface="Consolas" pitchFamily="34" charset="0"/>
                <a:ea typeface="Consolas" pitchFamily="34" charset="-122"/>
                <a:cs typeface="Consolas" pitchFamily="34" charset="-120"/>
              </a:rPr>
              <a:t>POS-4521-RELIANCE FRESH
</a:t>
            </a:r>
            <a:endParaRPr lang="en-US" sz="1600" dirty="0"/>
          </a:p>
          <a:p>
            <a:pPr indent="0" marL="0">
              <a:buNone/>
            </a:pPr>
            <a:r>
              <a:rPr lang="en-US" sz="1600" dirty="0">
                <a:solidFill>
                  <a:srgbClr val="FFFFFF"/>
                </a:solidFill>
                <a:latin typeface="Consolas" pitchFamily="34" charset="0"/>
                <a:ea typeface="Consolas" pitchFamily="34" charset="-122"/>
                <a:cs typeface="Consolas" pitchFamily="34" charset="-120"/>
              </a:rPr>
              <a:t>NACH-LIC PREMIUM-AUTODEBIT</a:t>
            </a:r>
            <a:endParaRPr lang="en-US" sz="1600" dirty="0"/>
          </a:p>
        </p:txBody>
      </p:sp>
      <p:sp>
        <p:nvSpPr>
          <p:cNvPr id="7" name="Text 5"/>
          <p:cNvSpPr/>
          <p:nvPr/>
        </p:nvSpPr>
        <p:spPr>
          <a:xfrm>
            <a:off x="822960" y="3703320"/>
            <a:ext cx="4937760" cy="1097280"/>
          </a:xfrm>
          <a:prstGeom prst="rect">
            <a:avLst/>
          </a:prstGeom>
          <a:noFill/>
          <a:ln/>
        </p:spPr>
        <p:txBody>
          <a:bodyPr wrap="square" lIns="0" tIns="0" rIns="0" bIns="0" rtlCol="0" anchor="t"/>
          <a:lstStyle/>
          <a:p>
            <a:pPr indent="0" marL="0">
              <a:buNone/>
            </a:pPr>
            <a:r>
              <a:rPr lang="en-US" sz="1400" i="1" dirty="0">
                <a:solidFill>
                  <a:srgbClr val="DCE7FF"/>
                </a:solidFill>
              </a:rPr>
              <a:t>A salaried user cannot tell from eighty rows like these where their money actually went.</a:t>
            </a:r>
            <a:endParaRPr lang="en-US" sz="1400" dirty="0"/>
          </a:p>
        </p:txBody>
      </p:sp>
      <p:sp>
        <p:nvSpPr>
          <p:cNvPr id="8" name="Text 6"/>
          <p:cNvSpPr/>
          <p:nvPr/>
        </p:nvSpPr>
        <p:spPr>
          <a:xfrm>
            <a:off x="6309360" y="1554480"/>
            <a:ext cx="5394960" cy="365760"/>
          </a:xfrm>
          <a:prstGeom prst="rect">
            <a:avLst/>
          </a:prstGeom>
          <a:noFill/>
          <a:ln/>
        </p:spPr>
        <p:txBody>
          <a:bodyPr wrap="square" lIns="0" tIns="0" rIns="0" bIns="0" rtlCol="0" anchor="ctr"/>
          <a:lstStyle/>
          <a:p>
            <a:pPr indent="0" marL="0">
              <a:buNone/>
            </a:pPr>
            <a:r>
              <a:rPr lang="en-US" sz="1500" b="1" dirty="0">
                <a:solidFill>
                  <a:srgbClr val="1457B8"/>
                </a:solidFill>
              </a:rPr>
              <a:t>Why this is genuinely hard:</a:t>
            </a:r>
            <a:endParaRPr lang="en-US" sz="1500" dirty="0"/>
          </a:p>
        </p:txBody>
      </p:sp>
      <p:sp>
        <p:nvSpPr>
          <p:cNvPr id="9" name="Shape 7"/>
          <p:cNvSpPr/>
          <p:nvPr/>
        </p:nvSpPr>
        <p:spPr>
          <a:xfrm>
            <a:off x="6309360" y="1965960"/>
            <a:ext cx="5394960" cy="1051560"/>
          </a:xfrm>
          <a:prstGeom prst="roundRect">
            <a:avLst>
              <a:gd name="adj" fmla="val 6957"/>
            </a:avLst>
          </a:prstGeom>
          <a:solidFill>
            <a:srgbClr val="FFFFFF"/>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10" name="Text 8"/>
          <p:cNvSpPr/>
          <p:nvPr/>
        </p:nvSpPr>
        <p:spPr>
          <a:xfrm>
            <a:off x="6537960" y="2075688"/>
            <a:ext cx="4937760" cy="365760"/>
          </a:xfrm>
          <a:prstGeom prst="rect">
            <a:avLst/>
          </a:prstGeom>
          <a:noFill/>
          <a:ln/>
        </p:spPr>
        <p:txBody>
          <a:bodyPr wrap="square" lIns="0" tIns="0" rIns="0" bIns="0" rtlCol="0" anchor="ctr"/>
          <a:lstStyle/>
          <a:p>
            <a:pPr indent="0" marL="0">
              <a:buNone/>
            </a:pPr>
            <a:r>
              <a:rPr lang="en-US" sz="1400" b="1" dirty="0">
                <a:solidFill>
                  <a:srgbClr val="1F2733"/>
                </a:solidFill>
              </a:rPr>
              <a:t>No standard layout</a:t>
            </a:r>
            <a:endParaRPr lang="en-US" sz="1400" dirty="0"/>
          </a:p>
        </p:txBody>
      </p:sp>
      <p:sp>
        <p:nvSpPr>
          <p:cNvPr id="11" name="Text 9"/>
          <p:cNvSpPr/>
          <p:nvPr/>
        </p:nvSpPr>
        <p:spPr>
          <a:xfrm>
            <a:off x="6537960" y="2423160"/>
            <a:ext cx="4983480" cy="548640"/>
          </a:xfrm>
          <a:prstGeom prst="rect">
            <a:avLst/>
          </a:prstGeom>
          <a:noFill/>
          <a:ln/>
        </p:spPr>
        <p:txBody>
          <a:bodyPr wrap="square" lIns="0" tIns="0" rIns="0" bIns="0" rtlCol="0" anchor="ctr"/>
          <a:lstStyle/>
          <a:p>
            <a:pPr indent="0" marL="0">
              <a:buNone/>
            </a:pPr>
            <a:r>
              <a:rPr lang="en-US" sz="1150" dirty="0">
                <a:solidFill>
                  <a:srgbClr val="6B7787"/>
                </a:solidFill>
              </a:rPr>
              <a:t>SBI, HDFC, ICICI and Axis each export a different column structure, with account details and blank rows above the real table.</a:t>
            </a:r>
            <a:endParaRPr lang="en-US" sz="1150" dirty="0"/>
          </a:p>
        </p:txBody>
      </p:sp>
      <p:sp>
        <p:nvSpPr>
          <p:cNvPr id="12" name="Shape 10"/>
          <p:cNvSpPr/>
          <p:nvPr/>
        </p:nvSpPr>
        <p:spPr>
          <a:xfrm>
            <a:off x="6309360" y="3200400"/>
            <a:ext cx="5394960" cy="1051560"/>
          </a:xfrm>
          <a:prstGeom prst="roundRect">
            <a:avLst>
              <a:gd name="adj" fmla="val 6957"/>
            </a:avLst>
          </a:prstGeom>
          <a:solidFill>
            <a:srgbClr val="FFFFFF"/>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13" name="Text 11"/>
          <p:cNvSpPr/>
          <p:nvPr/>
        </p:nvSpPr>
        <p:spPr>
          <a:xfrm>
            <a:off x="6537960" y="3310128"/>
            <a:ext cx="4937760" cy="365760"/>
          </a:xfrm>
          <a:prstGeom prst="rect">
            <a:avLst/>
          </a:prstGeom>
          <a:noFill/>
          <a:ln/>
        </p:spPr>
        <p:txBody>
          <a:bodyPr wrap="square" lIns="0" tIns="0" rIns="0" bIns="0" rtlCol="0" anchor="ctr"/>
          <a:lstStyle/>
          <a:p>
            <a:pPr indent="0" marL="0">
              <a:buNone/>
            </a:pPr>
            <a:r>
              <a:rPr lang="en-US" sz="1400" b="1" dirty="0">
                <a:solidFill>
                  <a:srgbClr val="1F2733"/>
                </a:solidFill>
              </a:rPr>
              <a:t>No standard narration format</a:t>
            </a:r>
            <a:endParaRPr lang="en-US" sz="1400" dirty="0"/>
          </a:p>
        </p:txBody>
      </p:sp>
      <p:sp>
        <p:nvSpPr>
          <p:cNvPr id="14" name="Text 12"/>
          <p:cNvSpPr/>
          <p:nvPr/>
        </p:nvSpPr>
        <p:spPr>
          <a:xfrm>
            <a:off x="6537960" y="3657600"/>
            <a:ext cx="4983480" cy="548640"/>
          </a:xfrm>
          <a:prstGeom prst="rect">
            <a:avLst/>
          </a:prstGeom>
          <a:noFill/>
          <a:ln/>
        </p:spPr>
        <p:txBody>
          <a:bodyPr wrap="square" lIns="0" tIns="0" rIns="0" bIns="0" rtlCol="0" anchor="ctr"/>
          <a:lstStyle/>
          <a:p>
            <a:pPr indent="0" marL="0">
              <a:buNone/>
            </a:pPr>
            <a:r>
              <a:rPr lang="en-US" sz="1150" dirty="0">
                <a:solidFill>
                  <a:srgbClr val="6B7787"/>
                </a:solidFill>
              </a:rPr>
              <a:t>The same merchant appears differently depending on the payment rail — UPI, POS, NACH — used for that transaction.</a:t>
            </a:r>
            <a:endParaRPr lang="en-US" sz="1150" dirty="0"/>
          </a:p>
        </p:txBody>
      </p:sp>
      <p:sp>
        <p:nvSpPr>
          <p:cNvPr id="15" name="Shape 13"/>
          <p:cNvSpPr/>
          <p:nvPr/>
        </p:nvSpPr>
        <p:spPr>
          <a:xfrm>
            <a:off x="6309360" y="4434840"/>
            <a:ext cx="5394960" cy="1051560"/>
          </a:xfrm>
          <a:prstGeom prst="roundRect">
            <a:avLst>
              <a:gd name="adj" fmla="val 6957"/>
            </a:avLst>
          </a:prstGeom>
          <a:solidFill>
            <a:srgbClr val="FFFFFF"/>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16" name="Text 14"/>
          <p:cNvSpPr/>
          <p:nvPr/>
        </p:nvSpPr>
        <p:spPr>
          <a:xfrm>
            <a:off x="6537960" y="4544568"/>
            <a:ext cx="4937760" cy="365760"/>
          </a:xfrm>
          <a:prstGeom prst="rect">
            <a:avLst/>
          </a:prstGeom>
          <a:noFill/>
          <a:ln/>
        </p:spPr>
        <p:txBody>
          <a:bodyPr wrap="square" lIns="0" tIns="0" rIns="0" bIns="0" rtlCol="0" anchor="ctr"/>
          <a:lstStyle/>
          <a:p>
            <a:pPr indent="0" marL="0">
              <a:buNone/>
            </a:pPr>
            <a:r>
              <a:rPr lang="en-US" sz="1400" b="1" dirty="0">
                <a:solidFill>
                  <a:srgbClr val="1F2733"/>
                </a:solidFill>
              </a:rPr>
              <a:t>No arithmetic from a small model</a:t>
            </a:r>
            <a:endParaRPr lang="en-US" sz="1400" dirty="0"/>
          </a:p>
        </p:txBody>
      </p:sp>
      <p:sp>
        <p:nvSpPr>
          <p:cNvPr id="17" name="Text 15"/>
          <p:cNvSpPr/>
          <p:nvPr/>
        </p:nvSpPr>
        <p:spPr>
          <a:xfrm>
            <a:off x="6537960" y="4892040"/>
            <a:ext cx="4983480" cy="548640"/>
          </a:xfrm>
          <a:prstGeom prst="rect">
            <a:avLst/>
          </a:prstGeom>
          <a:noFill/>
          <a:ln/>
        </p:spPr>
        <p:txBody>
          <a:bodyPr wrap="square" lIns="0" tIns="0" rIns="0" bIns="0" rtlCol="0" anchor="ctr"/>
          <a:lstStyle/>
          <a:p>
            <a:pPr indent="0" marL="0">
              <a:buNone/>
            </a:pPr>
            <a:r>
              <a:rPr lang="en-US" sz="1150" dirty="0">
                <a:solidFill>
                  <a:srgbClr val="6B7787"/>
                </a:solidFill>
              </a:rPr>
              <a:t>A 1.5-billion-parameter model cannot be trusted to compute a rupee figure directly from raw transactions.</a:t>
            </a:r>
            <a:endParaRPr lang="en-US" sz="1150" dirty="0"/>
          </a:p>
        </p:txBody>
      </p:sp>
      <p:sp>
        <p:nvSpPr>
          <p:cNvPr id="18" name="Text 16"/>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B7787"/>
                </a:solidFill>
              </a:rPr>
              <a:t>SmartEdit AI  ·  Final Viva Presentation</a:t>
            </a:r>
            <a:endParaRPr lang="en-US" sz="900" dirty="0"/>
          </a:p>
        </p:txBody>
      </p:sp>
      <p:sp>
        <p:nvSpPr>
          <p:cNvPr id="19" name="Text 17"/>
          <p:cNvSpPr/>
          <p:nvPr/>
        </p:nvSpPr>
        <p:spPr>
          <a:xfrm>
            <a:off x="10972800" y="6446520"/>
            <a:ext cx="731520" cy="274320"/>
          </a:xfrm>
          <a:prstGeom prst="rect">
            <a:avLst/>
          </a:prstGeom>
          <a:noFill/>
          <a:ln/>
        </p:spPr>
        <p:txBody>
          <a:bodyPr wrap="square" rtlCol="0" anchor="ctr"/>
          <a:lstStyle/>
          <a:p>
            <a:pPr algn="r" indent="0" marL="0">
              <a:buNone/>
            </a:pPr>
            <a:r>
              <a:rPr lang="en-US" sz="900" dirty="0">
                <a:solidFill>
                  <a:srgbClr val="6B7787"/>
                </a:solidFill>
              </a:rPr>
              <a:t>3 / 29</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9FC"/>
        </a:solidFill>
      </p:bgPr>
    </p:bg>
    <p:spTree>
      <p:nvGrpSpPr>
        <p:cNvPr id="1" name=""/>
        <p:cNvGrpSpPr/>
        <p:nvPr/>
      </p:nvGrpSpPr>
      <p:grpSpPr>
        <a:xfrm>
          <a:off x="0" y="0"/>
          <a:ext cx="0" cy="0"/>
          <a:chOff x="0" y="0"/>
          <a:chExt cx="0" cy="0"/>
        </a:xfrm>
      </p:grpSpPr>
      <p:sp>
        <p:nvSpPr>
          <p:cNvPr id="2" name="Text 0"/>
          <p:cNvSpPr/>
          <p:nvPr/>
        </p:nvSpPr>
        <p:spPr>
          <a:xfrm>
            <a:off x="457200" y="365760"/>
            <a:ext cx="11247120" cy="548640"/>
          </a:xfrm>
          <a:prstGeom prst="rect">
            <a:avLst/>
          </a:prstGeom>
          <a:noFill/>
          <a:ln/>
        </p:spPr>
        <p:txBody>
          <a:bodyPr wrap="square" lIns="0" tIns="0" rIns="0" bIns="0" rtlCol="0" anchor="ctr"/>
          <a:lstStyle/>
          <a:p>
            <a:pPr indent="0" marL="0">
              <a:buNone/>
            </a:pPr>
            <a:r>
              <a:rPr lang="en-US" sz="3000" b="1" dirty="0">
                <a:solidFill>
                  <a:srgbClr val="1457B8"/>
                </a:solidFill>
                <a:latin typeface="Georgia" pitchFamily="34" charset="0"/>
                <a:ea typeface="Georgia" pitchFamily="34" charset="-122"/>
                <a:cs typeface="Georgia" pitchFamily="34" charset="-120"/>
              </a:rPr>
              <a:t>Objectives</a:t>
            </a:r>
            <a:endParaRPr lang="en-US" sz="3000" dirty="0"/>
          </a:p>
        </p:txBody>
      </p:sp>
      <p:sp>
        <p:nvSpPr>
          <p:cNvPr id="3" name="Shape 1"/>
          <p:cNvSpPr/>
          <p:nvPr/>
        </p:nvSpPr>
        <p:spPr>
          <a:xfrm>
            <a:off x="548640" y="1554480"/>
            <a:ext cx="11064240" cy="4480560"/>
          </a:xfrm>
          <a:prstGeom prst="roundRect">
            <a:avLst>
              <a:gd name="adj" fmla="val 1633"/>
            </a:avLst>
          </a:prstGeom>
          <a:solidFill>
            <a:srgbClr val="FFFFFF"/>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4" name="Text 2"/>
          <p:cNvSpPr/>
          <p:nvPr/>
        </p:nvSpPr>
        <p:spPr>
          <a:xfrm>
            <a:off x="868680" y="1783080"/>
            <a:ext cx="10607040" cy="4114800"/>
          </a:xfrm>
          <a:prstGeom prst="rect">
            <a:avLst/>
          </a:prstGeom>
          <a:noFill/>
          <a:ln/>
        </p:spPr>
        <p:txBody>
          <a:bodyPr wrap="square" lIns="0" tIns="0" rIns="0" bIns="0" rtlCol="0" anchor="t"/>
          <a:lstStyle/>
          <a:p>
            <a:pPr marL="342900" indent="-342900">
              <a:spcAft>
                <a:spcPts val="1400"/>
              </a:spcAft>
              <a:buSzPct val="100000"/>
              <a:buChar char="•"/>
            </a:pPr>
            <a:r>
              <a:rPr lang="en-US" sz="1500" dirty="0">
                <a:solidFill>
                  <a:srgbClr val="1F2733"/>
                </a:solidFill>
              </a:rPr>
              <a:t>Parse Indian bank statement CSV, XLSX and PDF exports across eleven banks, recovering every genuine transaction row and rejecting balance and sub-total rows.</a:t>
            </a:r>
            <a:endParaRPr lang="en-US" sz="1500" dirty="0"/>
          </a:p>
          <a:p>
            <a:pPr marL="342900" indent="-342900">
              <a:spcAft>
                <a:spcPts val="1400"/>
              </a:spcAft>
              <a:buSzPct val="100000"/>
              <a:buChar char="•"/>
            </a:pPr>
            <a:r>
              <a:rPr lang="en-US" sz="1500" dirty="0">
                <a:solidFill>
                  <a:srgbClr val="1F2733"/>
                </a:solidFill>
              </a:rPr>
              <a:t>Classify cryptic narrations into 17 spending categories, resolving payment-rail markers correctly against merchant identity.</a:t>
            </a:r>
            <a:endParaRPr lang="en-US" sz="1500" dirty="0"/>
          </a:p>
          <a:p>
            <a:pPr marL="342900" indent="-342900">
              <a:spcAft>
                <a:spcPts val="1400"/>
              </a:spcAft>
              <a:buSzPct val="100000"/>
              <a:buChar char="•"/>
            </a:pPr>
            <a:r>
              <a:rPr lang="en-US" sz="1500" dirty="0">
                <a:solidFill>
                  <a:srgbClr val="1F2733"/>
                </a:solidFill>
              </a:rPr>
              <a:t>Turn categorised transactions into a period summary, trend series and a set of deterministic, plain-language insights.</a:t>
            </a:r>
            <a:endParaRPr lang="en-US" sz="1500" dirty="0"/>
          </a:p>
          <a:p>
            <a:pPr marL="342900" indent="-342900">
              <a:spcAft>
                <a:spcPts val="1400"/>
              </a:spcAft>
              <a:buSzPct val="100000"/>
              <a:buChar char="•"/>
            </a:pPr>
            <a:r>
              <a:rPr lang="en-US" sz="1500" dirty="0">
                <a:solidFill>
                  <a:srgbClr val="1F2733"/>
                </a:solidFill>
              </a:rPr>
              <a:t>Compute an Indian salaried user's take-home pay and compare the old and new tax regimes, including marginal relief.</a:t>
            </a:r>
            <a:endParaRPr lang="en-US" sz="1500" dirty="0"/>
          </a:p>
          <a:p>
            <a:pPr marL="342900" indent="-342900">
              <a:spcAft>
                <a:spcPts val="1400"/>
              </a:spcAft>
              <a:buSzPct val="100000"/>
              <a:buChar char="•"/>
            </a:pPr>
            <a:r>
              <a:rPr lang="en-US" sz="1500" dirty="0">
                <a:solidFill>
                  <a:srgbClr val="1F2733"/>
                </a:solidFill>
              </a:rPr>
              <a:t>Answer free-form natural-language questions about a user's own spending with an answer that is provably grounded in real data, never invented.</a:t>
            </a:r>
            <a:endParaRPr lang="en-US" sz="1500" dirty="0"/>
          </a:p>
          <a:p>
            <a:pPr marL="342900" indent="-342900">
              <a:spcAft>
                <a:spcPts val="1400"/>
              </a:spcAft>
              <a:buSzPct val="100000"/>
              <a:buChar char="•"/>
            </a:pPr>
            <a:r>
              <a:rPr lang="en-US" sz="1500" dirty="0">
                <a:solidFill>
                  <a:srgbClr val="1F2733"/>
                </a:solidFill>
              </a:rPr>
              <a:t>Run the entire system, including its language model, on the user's own machine, with no dependency on an external AI service in the default configuration.</a:t>
            </a:r>
            <a:endParaRPr lang="en-US" sz="1500" dirty="0"/>
          </a:p>
        </p:txBody>
      </p:sp>
      <p:sp>
        <p:nvSpPr>
          <p:cNvPr id="5"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B7787"/>
                </a:solidFill>
              </a:rPr>
              <a:t>SmartEdit AI  ·  Final Viva Presentation</a:t>
            </a:r>
            <a:endParaRPr lang="en-US" sz="900" dirty="0"/>
          </a:p>
        </p:txBody>
      </p:sp>
      <p:sp>
        <p:nvSpPr>
          <p:cNvPr id="6" name="Text 4"/>
          <p:cNvSpPr/>
          <p:nvPr/>
        </p:nvSpPr>
        <p:spPr>
          <a:xfrm>
            <a:off x="10972800" y="6446520"/>
            <a:ext cx="731520" cy="274320"/>
          </a:xfrm>
          <a:prstGeom prst="rect">
            <a:avLst/>
          </a:prstGeom>
          <a:noFill/>
          <a:ln/>
        </p:spPr>
        <p:txBody>
          <a:bodyPr wrap="square" rtlCol="0" anchor="ctr"/>
          <a:lstStyle/>
          <a:p>
            <a:pPr algn="r" indent="0" marL="0">
              <a:buNone/>
            </a:pPr>
            <a:r>
              <a:rPr lang="en-US" sz="900" dirty="0">
                <a:solidFill>
                  <a:srgbClr val="6B7787"/>
                </a:solidFill>
              </a:rPr>
              <a:t>4 / 29</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9FC"/>
        </a:solidFill>
      </p:bgPr>
    </p:bg>
    <p:spTree>
      <p:nvGrpSpPr>
        <p:cNvPr id="1" name=""/>
        <p:cNvGrpSpPr/>
        <p:nvPr/>
      </p:nvGrpSpPr>
      <p:grpSpPr>
        <a:xfrm>
          <a:off x="0" y="0"/>
          <a:ext cx="0" cy="0"/>
          <a:chOff x="0" y="0"/>
          <a:chExt cx="0" cy="0"/>
        </a:xfrm>
      </p:grpSpPr>
      <p:sp>
        <p:nvSpPr>
          <p:cNvPr id="2" name="Text 0"/>
          <p:cNvSpPr/>
          <p:nvPr/>
        </p:nvSpPr>
        <p:spPr>
          <a:xfrm>
            <a:off x="457200" y="365760"/>
            <a:ext cx="11247120" cy="548640"/>
          </a:xfrm>
          <a:prstGeom prst="rect">
            <a:avLst/>
          </a:prstGeom>
          <a:noFill/>
          <a:ln/>
        </p:spPr>
        <p:txBody>
          <a:bodyPr wrap="square" lIns="0" tIns="0" rIns="0" bIns="0" rtlCol="0" anchor="ctr"/>
          <a:lstStyle/>
          <a:p>
            <a:pPr indent="0" marL="0">
              <a:buNone/>
            </a:pPr>
            <a:r>
              <a:rPr lang="en-US" sz="3000" b="1" dirty="0">
                <a:solidFill>
                  <a:srgbClr val="1457B8"/>
                </a:solidFill>
                <a:latin typeface="Georgia" pitchFamily="34" charset="0"/>
                <a:ea typeface="Georgia" pitchFamily="34" charset="-122"/>
                <a:cs typeface="Georgia" pitchFamily="34" charset="-120"/>
              </a:rPr>
              <a:t>What Was Delivered This Semester</a:t>
            </a:r>
            <a:endParaRPr lang="en-US" sz="3000" dirty="0"/>
          </a:p>
        </p:txBody>
      </p:sp>
      <p:sp>
        <p:nvSpPr>
          <p:cNvPr id="3" name="Shape 1"/>
          <p:cNvSpPr/>
          <p:nvPr/>
        </p:nvSpPr>
        <p:spPr>
          <a:xfrm>
            <a:off x="548640" y="1554480"/>
            <a:ext cx="5394960" cy="4480560"/>
          </a:xfrm>
          <a:prstGeom prst="roundRect">
            <a:avLst>
              <a:gd name="adj" fmla="val 1633"/>
            </a:avLst>
          </a:prstGeom>
          <a:solidFill>
            <a:srgbClr val="FFFFFF"/>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4" name="Text 2"/>
          <p:cNvSpPr/>
          <p:nvPr/>
        </p:nvSpPr>
        <p:spPr>
          <a:xfrm>
            <a:off x="822960" y="1737360"/>
            <a:ext cx="4846320" cy="365760"/>
          </a:xfrm>
          <a:prstGeom prst="rect">
            <a:avLst/>
          </a:prstGeom>
          <a:noFill/>
          <a:ln/>
        </p:spPr>
        <p:txBody>
          <a:bodyPr wrap="square" lIns="0" tIns="0" rIns="0" bIns="0" rtlCol="0" anchor="ctr"/>
          <a:lstStyle/>
          <a:p>
            <a:pPr indent="0" marL="0">
              <a:buNone/>
            </a:pPr>
            <a:r>
              <a:rPr lang="en-US" sz="1600" b="1" dirty="0">
                <a:solidFill>
                  <a:srgbClr val="6B7787"/>
                </a:solidFill>
              </a:rPr>
              <a:t>Mid-Semester</a:t>
            </a:r>
            <a:endParaRPr lang="en-US" sz="1600" dirty="0"/>
          </a:p>
        </p:txBody>
      </p:sp>
      <p:sp>
        <p:nvSpPr>
          <p:cNvPr id="5" name="Text 3"/>
          <p:cNvSpPr/>
          <p:nvPr/>
        </p:nvSpPr>
        <p:spPr>
          <a:xfrm>
            <a:off x="868680" y="2148840"/>
            <a:ext cx="5029200" cy="3566160"/>
          </a:xfrm>
          <a:prstGeom prst="rect">
            <a:avLst/>
          </a:prstGeom>
          <a:noFill/>
          <a:ln/>
        </p:spPr>
        <p:txBody>
          <a:bodyPr wrap="square" lIns="0" tIns="0" rIns="0" bIns="0" rtlCol="0" anchor="t"/>
          <a:lstStyle/>
          <a:p>
            <a:pPr marL="342900" indent="-342900">
              <a:spcAft>
                <a:spcPts val="1000"/>
              </a:spcAft>
              <a:buSzPct val="100000"/>
              <a:buChar char="•"/>
            </a:pPr>
            <a:r>
              <a:rPr lang="en-US" sz="1350" dirty="0">
                <a:solidFill>
                  <a:srgbClr val="1F2733"/>
                </a:solidFill>
              </a:rPr>
              <a:t>Five pages: Dashboard, Add Entry, View/Database, Tracker, AI Chat</a:t>
            </a:r>
            <a:endParaRPr lang="en-US" sz="1350" dirty="0"/>
          </a:p>
          <a:p>
            <a:pPr marL="342900" indent="-342900">
              <a:spcAft>
                <a:spcPts val="1000"/>
              </a:spcAft>
              <a:buSzPct val="100000"/>
              <a:buChar char="•"/>
            </a:pPr>
            <a:r>
              <a:rPr lang="en-US" sz="1350" dirty="0">
                <a:solidFill>
                  <a:srgbClr val="1F2733"/>
                </a:solidFill>
              </a:rPr>
              <a:t>PDF/CSV parsing and a rule-based classifier</a:t>
            </a:r>
            <a:endParaRPr lang="en-US" sz="1350" dirty="0"/>
          </a:p>
          <a:p>
            <a:pPr marL="342900" indent="-342900">
              <a:spcAft>
                <a:spcPts val="1000"/>
              </a:spcAft>
              <a:buSzPct val="100000"/>
              <a:buChar char="•"/>
            </a:pPr>
            <a:r>
              <a:rPr lang="en-US" sz="1350" dirty="0">
                <a:solidFill>
                  <a:srgbClr val="1F2733"/>
                </a:solidFill>
              </a:rPr>
              <a:t>AI advisory and a RAG chatbot using the Gemini API</a:t>
            </a:r>
            <a:endParaRPr lang="en-US" sz="1350" dirty="0"/>
          </a:p>
          <a:p>
            <a:pPr marL="342900" indent="-342900">
              <a:spcAft>
                <a:spcPts val="1000"/>
              </a:spcAft>
              <a:buSzPct val="100000"/>
              <a:buChar char="•"/>
            </a:pPr>
            <a:r>
              <a:rPr lang="en-US" sz="1350" dirty="0">
                <a:solidFill>
                  <a:srgbClr val="1F2733"/>
                </a:solidFill>
              </a:rPr>
              <a:t>A deterministic offline fallback so a demo never fails</a:t>
            </a:r>
            <a:endParaRPr lang="en-US" sz="1350" dirty="0"/>
          </a:p>
        </p:txBody>
      </p:sp>
      <p:sp>
        <p:nvSpPr>
          <p:cNvPr id="6" name="Shape 4"/>
          <p:cNvSpPr/>
          <p:nvPr/>
        </p:nvSpPr>
        <p:spPr>
          <a:xfrm>
            <a:off x="6217920" y="1554480"/>
            <a:ext cx="5394960" cy="4480560"/>
          </a:xfrm>
          <a:prstGeom prst="roundRect">
            <a:avLst>
              <a:gd name="adj" fmla="val 1633"/>
            </a:avLst>
          </a:prstGeom>
          <a:solidFill>
            <a:srgbClr val="1457B8"/>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7" name="Text 5"/>
          <p:cNvSpPr/>
          <p:nvPr/>
        </p:nvSpPr>
        <p:spPr>
          <a:xfrm>
            <a:off x="6492240" y="1737360"/>
            <a:ext cx="4846320" cy="365760"/>
          </a:xfrm>
          <a:prstGeom prst="rect">
            <a:avLst/>
          </a:prstGeom>
          <a:noFill/>
          <a:ln/>
        </p:spPr>
        <p:txBody>
          <a:bodyPr wrap="square" lIns="0" tIns="0" rIns="0" bIns="0" rtlCol="0" anchor="ctr"/>
          <a:lstStyle/>
          <a:p>
            <a:pPr indent="0" marL="0">
              <a:buNone/>
            </a:pPr>
            <a:r>
              <a:rPr lang="en-US" sz="1600" b="1" dirty="0">
                <a:solidFill>
                  <a:srgbClr val="FFFFFF"/>
                </a:solidFill>
              </a:rPr>
              <a:t>Final Semester</a:t>
            </a:r>
            <a:endParaRPr lang="en-US" sz="1600" dirty="0"/>
          </a:p>
        </p:txBody>
      </p:sp>
      <p:sp>
        <p:nvSpPr>
          <p:cNvPr id="8" name="Text 6"/>
          <p:cNvSpPr/>
          <p:nvPr/>
        </p:nvSpPr>
        <p:spPr>
          <a:xfrm>
            <a:off x="6446520" y="2148840"/>
            <a:ext cx="5074920" cy="356616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FFFFFF"/>
                </a:solidFill>
              </a:rPr>
              <a:t>Eleven pages, including Salary &amp; Tax, Goals, Budget and Insights</a:t>
            </a:r>
            <a:endParaRPr lang="en-US" sz="1250" dirty="0"/>
          </a:p>
          <a:p>
            <a:pPr marL="342900" indent="-342900">
              <a:spcAft>
                <a:spcPts val="800"/>
              </a:spcAft>
              <a:buSzPct val="100000"/>
              <a:buChar char="•"/>
            </a:pPr>
            <a:r>
              <a:rPr lang="en-US" sz="1250" dirty="0">
                <a:solidFill>
                  <a:srgbClr val="FFFFFF"/>
                </a:solidFill>
              </a:rPr>
              <a:t>Bank coverage widened to eleven banks; a trained fallback model (64.7% held-out accuracy) now backs the rule engine</a:t>
            </a:r>
            <a:endParaRPr lang="en-US" sz="1250" dirty="0"/>
          </a:p>
          <a:p>
            <a:pPr marL="342900" indent="-342900">
              <a:spcAft>
                <a:spcPts val="800"/>
              </a:spcAft>
              <a:buSzPct val="100000"/>
              <a:buChar char="•"/>
            </a:pPr>
            <a:r>
              <a:rPr lang="en-US" sz="1250" dirty="0">
                <a:solidFill>
                  <a:srgbClr val="FFFFFF"/>
                </a:solidFill>
              </a:rPr>
              <a:t>The Gemini-only advisory replaced by an on-device Qwen2.5-1.5B model with a full provider ladder and a real database as the last-resort fallback</a:t>
            </a:r>
            <a:endParaRPr lang="en-US" sz="1250" dirty="0"/>
          </a:p>
          <a:p>
            <a:pPr marL="342900" indent="-342900">
              <a:spcAft>
                <a:spcPts val="800"/>
              </a:spcAft>
              <a:buSzPct val="100000"/>
              <a:buChar char="•"/>
            </a:pPr>
            <a:r>
              <a:rPr lang="en-US" sz="1250" dirty="0">
                <a:solidFill>
                  <a:srgbClr val="FFFFFF"/>
                </a:solidFill>
              </a:rPr>
              <a:t>A full Salary &amp; Tax module: both regimes, HRA, PF, gratuity, marginal relief</a:t>
            </a:r>
            <a:endParaRPr lang="en-US" sz="1250" dirty="0"/>
          </a:p>
          <a:p>
            <a:pPr marL="342900" indent="-342900">
              <a:spcAft>
                <a:spcPts val="800"/>
              </a:spcAft>
              <a:buSzPct val="100000"/>
              <a:buChar char="•"/>
            </a:pPr>
            <a:r>
              <a:rPr lang="en-US" sz="1250" dirty="0">
                <a:solidFill>
                  <a:srgbClr val="FFFFFF"/>
                </a:solidFill>
              </a:rPr>
              <a:t>An Analytics Engine with recurring-commitment detection</a:t>
            </a:r>
            <a:endParaRPr lang="en-US" sz="1250" dirty="0"/>
          </a:p>
          <a:p>
            <a:pPr marL="342900" indent="-342900">
              <a:spcAft>
                <a:spcPts val="800"/>
              </a:spcAft>
              <a:buSzPct val="100000"/>
              <a:buChar char="•"/>
            </a:pPr>
            <a:r>
              <a:rPr lang="en-US" sz="1250" dirty="0">
                <a:solidFill>
                  <a:srgbClr val="FFFFFF"/>
                </a:solidFill>
              </a:rPr>
              <a:t>A guard that discards any chatbot reply containing an unexplained figure</a:t>
            </a:r>
            <a:endParaRPr lang="en-US" sz="1250" dirty="0"/>
          </a:p>
          <a:p>
            <a:pPr marL="342900" indent="-342900">
              <a:spcAft>
                <a:spcPts val="800"/>
              </a:spcAft>
              <a:buSzPct val="100000"/>
              <a:buChar char="•"/>
            </a:pPr>
            <a:r>
              <a:rPr lang="en-US" sz="1250" dirty="0">
                <a:solidFill>
                  <a:srgbClr val="FFFFFF"/>
                </a:solidFill>
              </a:rPr>
              <a:t>172 automated tests, all passing, plus a live run against real imported data</a:t>
            </a:r>
            <a:endParaRPr lang="en-US" sz="1250" dirty="0"/>
          </a:p>
        </p:txBody>
      </p:sp>
      <p:sp>
        <p:nvSpPr>
          <p:cNvPr id="9" name="Text 7"/>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B7787"/>
                </a:solidFill>
              </a:rPr>
              <a:t>SmartEdit AI  ·  Final Viva Presentation</a:t>
            </a:r>
            <a:endParaRPr lang="en-US" sz="900" dirty="0"/>
          </a:p>
        </p:txBody>
      </p:sp>
      <p:sp>
        <p:nvSpPr>
          <p:cNvPr id="10" name="Text 8"/>
          <p:cNvSpPr/>
          <p:nvPr/>
        </p:nvSpPr>
        <p:spPr>
          <a:xfrm>
            <a:off x="10972800" y="6446520"/>
            <a:ext cx="731520" cy="274320"/>
          </a:xfrm>
          <a:prstGeom prst="rect">
            <a:avLst/>
          </a:prstGeom>
          <a:noFill/>
          <a:ln/>
        </p:spPr>
        <p:txBody>
          <a:bodyPr wrap="square" rtlCol="0" anchor="ctr"/>
          <a:lstStyle/>
          <a:p>
            <a:pPr algn="r" indent="0" marL="0">
              <a:buNone/>
            </a:pPr>
            <a:r>
              <a:rPr lang="en-US" sz="900" dirty="0">
                <a:solidFill>
                  <a:srgbClr val="6B7787"/>
                </a:solidFill>
              </a:rPr>
              <a:t>5 / 29</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9FC"/>
        </a:solidFill>
      </p:bgPr>
    </p:bg>
    <p:spTree>
      <p:nvGrpSpPr>
        <p:cNvPr id="1" name=""/>
        <p:cNvGrpSpPr/>
        <p:nvPr/>
      </p:nvGrpSpPr>
      <p:grpSpPr>
        <a:xfrm>
          <a:off x="0" y="0"/>
          <a:ext cx="0" cy="0"/>
          <a:chOff x="0" y="0"/>
          <a:chExt cx="0" cy="0"/>
        </a:xfrm>
      </p:grpSpPr>
      <p:sp>
        <p:nvSpPr>
          <p:cNvPr id="2" name="Text 0"/>
          <p:cNvSpPr/>
          <p:nvPr/>
        </p:nvSpPr>
        <p:spPr>
          <a:xfrm>
            <a:off x="457200" y="365760"/>
            <a:ext cx="11247120" cy="548640"/>
          </a:xfrm>
          <a:prstGeom prst="rect">
            <a:avLst/>
          </a:prstGeom>
          <a:noFill/>
          <a:ln/>
        </p:spPr>
        <p:txBody>
          <a:bodyPr wrap="square" lIns="0" tIns="0" rIns="0" bIns="0" rtlCol="0" anchor="ctr"/>
          <a:lstStyle/>
          <a:p>
            <a:pPr indent="0" marL="0">
              <a:buNone/>
            </a:pPr>
            <a:r>
              <a:rPr lang="en-US" sz="3000" b="1" dirty="0">
                <a:solidFill>
                  <a:srgbClr val="1457B8"/>
                </a:solidFill>
                <a:latin typeface="Georgia" pitchFamily="34" charset="0"/>
                <a:ea typeface="Georgia" pitchFamily="34" charset="-122"/>
                <a:cs typeface="Georgia" pitchFamily="34" charset="-120"/>
              </a:rPr>
              <a:t>System Architecture</a:t>
            </a:r>
            <a:endParaRPr lang="en-US" sz="3000" dirty="0"/>
          </a:p>
        </p:txBody>
      </p:sp>
      <p:sp>
        <p:nvSpPr>
          <p:cNvPr id="3" name="Text 1"/>
          <p:cNvSpPr/>
          <p:nvPr/>
        </p:nvSpPr>
        <p:spPr>
          <a:xfrm>
            <a:off x="457200" y="960120"/>
            <a:ext cx="11247120" cy="365760"/>
          </a:xfrm>
          <a:prstGeom prst="rect">
            <a:avLst/>
          </a:prstGeom>
          <a:noFill/>
          <a:ln/>
        </p:spPr>
        <p:txBody>
          <a:bodyPr wrap="square" lIns="0" tIns="0" rIns="0" bIns="0" rtlCol="0" anchor="ctr"/>
          <a:lstStyle/>
          <a:p>
            <a:pPr indent="0" marL="0">
              <a:buNone/>
            </a:pPr>
            <a:r>
              <a:rPr lang="en-US" sz="1400" i="1" dirty="0">
                <a:solidFill>
                  <a:srgbClr val="6B7787"/>
                </a:solidFill>
              </a:rPr>
              <a:t>Four layers: browser front end, Flask application, on-device inference, SQLite</a:t>
            </a:r>
            <a:endParaRPr lang="en-US" sz="1400" dirty="0"/>
          </a:p>
        </p:txBody>
      </p:sp>
      <p:pic>
        <p:nvPicPr>
          <p:cNvPr id="4" name="Image 0" descr="C:\Users\Vicke\OneDrive\Desktop\Python\A_COH_10\shyam sundar\SmartEditAI\docs\diagrams\01_system_architecture.png">    </p:cNvPr>
          <p:cNvPicPr>
            <a:picLocks noChangeAspect="1"/>
          </p:cNvPicPr>
          <p:nvPr/>
        </p:nvPicPr>
        <p:blipFill>
          <a:blip r:embed="rId1"/>
          <a:srcRect l="-32692" r="-32692" t="0" b="0"/>
          <a:stretch/>
        </p:blipFill>
        <p:spPr>
          <a:xfrm>
            <a:off x="640080" y="1463040"/>
            <a:ext cx="7863840" cy="4754880"/>
          </a:xfrm>
          <a:prstGeom prst="rect">
            <a:avLst/>
          </a:prstGeom>
        </p:spPr>
      </p:pic>
      <p:sp>
        <p:nvSpPr>
          <p:cNvPr id="5" name="Shape 2"/>
          <p:cNvSpPr/>
          <p:nvPr/>
        </p:nvSpPr>
        <p:spPr>
          <a:xfrm>
            <a:off x="8686800" y="1554480"/>
            <a:ext cx="3017520" cy="914400"/>
          </a:xfrm>
          <a:prstGeom prst="roundRect">
            <a:avLst>
              <a:gd name="adj" fmla="val 8000"/>
            </a:avLst>
          </a:prstGeom>
          <a:solidFill>
            <a:srgbClr val="E8F0FE"/>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6" name="Text 3"/>
          <p:cNvSpPr/>
          <p:nvPr/>
        </p:nvSpPr>
        <p:spPr>
          <a:xfrm>
            <a:off x="8823960" y="1627632"/>
            <a:ext cx="2743200" cy="274320"/>
          </a:xfrm>
          <a:prstGeom prst="rect">
            <a:avLst/>
          </a:prstGeom>
          <a:noFill/>
          <a:ln/>
        </p:spPr>
        <p:txBody>
          <a:bodyPr wrap="square" lIns="0" tIns="0" rIns="0" bIns="0" rtlCol="0" anchor="ctr"/>
          <a:lstStyle/>
          <a:p>
            <a:pPr indent="0" marL="0">
              <a:buNone/>
            </a:pPr>
            <a:r>
              <a:rPr lang="en-US" sz="1300" b="1" dirty="0">
                <a:solidFill>
                  <a:srgbClr val="1457B8"/>
                </a:solidFill>
              </a:rPr>
              <a:t>Front end</a:t>
            </a:r>
            <a:endParaRPr lang="en-US" sz="1300" dirty="0"/>
          </a:p>
        </p:txBody>
      </p:sp>
      <p:sp>
        <p:nvSpPr>
          <p:cNvPr id="7" name="Text 4"/>
          <p:cNvSpPr/>
          <p:nvPr/>
        </p:nvSpPr>
        <p:spPr>
          <a:xfrm>
            <a:off x="8823960" y="1920240"/>
            <a:ext cx="2788920" cy="502920"/>
          </a:xfrm>
          <a:prstGeom prst="rect">
            <a:avLst/>
          </a:prstGeom>
          <a:noFill/>
          <a:ln/>
        </p:spPr>
        <p:txBody>
          <a:bodyPr wrap="square" lIns="0" tIns="0" rIns="0" bIns="0" rtlCol="0" anchor="ctr"/>
          <a:lstStyle/>
          <a:p>
            <a:pPr indent="0" marL="0">
              <a:buNone/>
            </a:pPr>
            <a:r>
              <a:rPr lang="en-US" sz="1050" dirty="0">
                <a:solidFill>
                  <a:srgbClr val="6B7787"/>
                </a:solidFill>
              </a:rPr>
              <a:t>Server-rendered HTML · vanilla JS · Chart.js, served from the app itself</a:t>
            </a:r>
            <a:endParaRPr lang="en-US" sz="1050" dirty="0"/>
          </a:p>
        </p:txBody>
      </p:sp>
      <p:sp>
        <p:nvSpPr>
          <p:cNvPr id="8" name="Shape 5"/>
          <p:cNvSpPr/>
          <p:nvPr/>
        </p:nvSpPr>
        <p:spPr>
          <a:xfrm>
            <a:off x="8686800" y="2606040"/>
            <a:ext cx="3017520" cy="914400"/>
          </a:xfrm>
          <a:prstGeom prst="roundRect">
            <a:avLst>
              <a:gd name="adj" fmla="val 8000"/>
            </a:avLst>
          </a:prstGeom>
          <a:solidFill>
            <a:srgbClr val="E8F0FE"/>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9" name="Text 6"/>
          <p:cNvSpPr/>
          <p:nvPr/>
        </p:nvSpPr>
        <p:spPr>
          <a:xfrm>
            <a:off x="8823960" y="2679192"/>
            <a:ext cx="2743200" cy="274320"/>
          </a:xfrm>
          <a:prstGeom prst="rect">
            <a:avLst/>
          </a:prstGeom>
          <a:noFill/>
          <a:ln/>
        </p:spPr>
        <p:txBody>
          <a:bodyPr wrap="square" lIns="0" tIns="0" rIns="0" bIns="0" rtlCol="0" anchor="ctr"/>
          <a:lstStyle/>
          <a:p>
            <a:pPr indent="0" marL="0">
              <a:buNone/>
            </a:pPr>
            <a:r>
              <a:rPr lang="en-US" sz="1300" b="1" dirty="0">
                <a:solidFill>
                  <a:srgbClr val="1457B8"/>
                </a:solidFill>
              </a:rPr>
              <a:t>Flask app</a:t>
            </a:r>
            <a:endParaRPr lang="en-US" sz="1300" dirty="0"/>
          </a:p>
        </p:txBody>
      </p:sp>
      <p:sp>
        <p:nvSpPr>
          <p:cNvPr id="10" name="Text 7"/>
          <p:cNvSpPr/>
          <p:nvPr/>
        </p:nvSpPr>
        <p:spPr>
          <a:xfrm>
            <a:off x="8823960" y="2971800"/>
            <a:ext cx="2788920" cy="502920"/>
          </a:xfrm>
          <a:prstGeom prst="rect">
            <a:avLst/>
          </a:prstGeom>
          <a:noFill/>
          <a:ln/>
        </p:spPr>
        <p:txBody>
          <a:bodyPr wrap="square" lIns="0" tIns="0" rIns="0" bIns="0" rtlCol="0" anchor="ctr"/>
          <a:lstStyle/>
          <a:p>
            <a:pPr indent="0" marL="0">
              <a:buNone/>
            </a:pPr>
            <a:r>
              <a:rPr lang="en-US" sz="1050" dirty="0">
                <a:solidFill>
                  <a:srgbClr val="6B7787"/>
                </a:solidFill>
              </a:rPr>
              <a:t>Eight modules over SQLAlchemy</a:t>
            </a:r>
            <a:endParaRPr lang="en-US" sz="1050" dirty="0"/>
          </a:p>
        </p:txBody>
      </p:sp>
      <p:sp>
        <p:nvSpPr>
          <p:cNvPr id="11" name="Shape 8"/>
          <p:cNvSpPr/>
          <p:nvPr/>
        </p:nvSpPr>
        <p:spPr>
          <a:xfrm>
            <a:off x="8686800" y="3657600"/>
            <a:ext cx="3017520" cy="914400"/>
          </a:xfrm>
          <a:prstGeom prst="roundRect">
            <a:avLst>
              <a:gd name="adj" fmla="val 8000"/>
            </a:avLst>
          </a:prstGeom>
          <a:solidFill>
            <a:srgbClr val="E8F0FE"/>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12" name="Text 9"/>
          <p:cNvSpPr/>
          <p:nvPr/>
        </p:nvSpPr>
        <p:spPr>
          <a:xfrm>
            <a:off x="8823960" y="3730752"/>
            <a:ext cx="2743200" cy="274320"/>
          </a:xfrm>
          <a:prstGeom prst="rect">
            <a:avLst/>
          </a:prstGeom>
          <a:noFill/>
          <a:ln/>
        </p:spPr>
        <p:txBody>
          <a:bodyPr wrap="square" lIns="0" tIns="0" rIns="0" bIns="0" rtlCol="0" anchor="ctr"/>
          <a:lstStyle/>
          <a:p>
            <a:pPr indent="0" marL="0">
              <a:buNone/>
            </a:pPr>
            <a:r>
              <a:rPr lang="en-US" sz="1300" b="1" dirty="0">
                <a:solidFill>
                  <a:srgbClr val="1457B8"/>
                </a:solidFill>
              </a:rPr>
              <a:t>Inference</a:t>
            </a:r>
            <a:endParaRPr lang="en-US" sz="1300" dirty="0"/>
          </a:p>
        </p:txBody>
      </p:sp>
      <p:sp>
        <p:nvSpPr>
          <p:cNvPr id="13" name="Text 10"/>
          <p:cNvSpPr/>
          <p:nvPr/>
        </p:nvSpPr>
        <p:spPr>
          <a:xfrm>
            <a:off x="8823960" y="4023360"/>
            <a:ext cx="2788920" cy="502920"/>
          </a:xfrm>
          <a:prstGeom prst="rect">
            <a:avLst/>
          </a:prstGeom>
          <a:noFill/>
          <a:ln/>
        </p:spPr>
        <p:txBody>
          <a:bodyPr wrap="square" lIns="0" tIns="0" rIns="0" bIns="0" rtlCol="0" anchor="ctr"/>
          <a:lstStyle/>
          <a:p>
            <a:pPr indent="0" marL="0">
              <a:buNone/>
            </a:pPr>
            <a:r>
              <a:rPr lang="en-US" sz="1050" dirty="0">
                <a:solidFill>
                  <a:srgbClr val="6B7787"/>
                </a:solidFill>
              </a:rPr>
              <a:t>llama.cpp · Qwen2.5-1.5B, Q4_K_M</a:t>
            </a:r>
            <a:endParaRPr lang="en-US" sz="1050" dirty="0"/>
          </a:p>
        </p:txBody>
      </p:sp>
      <p:sp>
        <p:nvSpPr>
          <p:cNvPr id="14" name="Shape 11"/>
          <p:cNvSpPr/>
          <p:nvPr/>
        </p:nvSpPr>
        <p:spPr>
          <a:xfrm>
            <a:off x="8686800" y="4709160"/>
            <a:ext cx="3017520" cy="914400"/>
          </a:xfrm>
          <a:prstGeom prst="roundRect">
            <a:avLst>
              <a:gd name="adj" fmla="val 8000"/>
            </a:avLst>
          </a:prstGeom>
          <a:solidFill>
            <a:srgbClr val="E8F0FE"/>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15" name="Text 12"/>
          <p:cNvSpPr/>
          <p:nvPr/>
        </p:nvSpPr>
        <p:spPr>
          <a:xfrm>
            <a:off x="8823960" y="4782312"/>
            <a:ext cx="2743200" cy="274320"/>
          </a:xfrm>
          <a:prstGeom prst="rect">
            <a:avLst/>
          </a:prstGeom>
          <a:noFill/>
          <a:ln/>
        </p:spPr>
        <p:txBody>
          <a:bodyPr wrap="square" lIns="0" tIns="0" rIns="0" bIns="0" rtlCol="0" anchor="ctr"/>
          <a:lstStyle/>
          <a:p>
            <a:pPr indent="0" marL="0">
              <a:buNone/>
            </a:pPr>
            <a:r>
              <a:rPr lang="en-US" sz="1300" b="1" dirty="0">
                <a:solidFill>
                  <a:srgbClr val="1457B8"/>
                </a:solidFill>
              </a:rPr>
              <a:t>Database</a:t>
            </a:r>
            <a:endParaRPr lang="en-US" sz="1300" dirty="0"/>
          </a:p>
        </p:txBody>
      </p:sp>
      <p:sp>
        <p:nvSpPr>
          <p:cNvPr id="16" name="Text 13"/>
          <p:cNvSpPr/>
          <p:nvPr/>
        </p:nvSpPr>
        <p:spPr>
          <a:xfrm>
            <a:off x="8823960" y="5074920"/>
            <a:ext cx="2788920" cy="502920"/>
          </a:xfrm>
          <a:prstGeom prst="rect">
            <a:avLst/>
          </a:prstGeom>
          <a:noFill/>
          <a:ln/>
        </p:spPr>
        <p:txBody>
          <a:bodyPr wrap="square" lIns="0" tIns="0" rIns="0" bIns="0" rtlCol="0" anchor="ctr"/>
          <a:lstStyle/>
          <a:p>
            <a:pPr indent="0" marL="0">
              <a:buNone/>
            </a:pPr>
            <a:r>
              <a:rPr lang="en-US" sz="1050" dirty="0">
                <a:solidFill>
                  <a:srgbClr val="6B7787"/>
                </a:solidFill>
              </a:rPr>
              <a:t>SQLite · 7 tables</a:t>
            </a:r>
            <a:endParaRPr lang="en-US" sz="1050" dirty="0"/>
          </a:p>
        </p:txBody>
      </p:sp>
      <p:sp>
        <p:nvSpPr>
          <p:cNvPr id="17" name="Text 14"/>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B7787"/>
                </a:solidFill>
              </a:rPr>
              <a:t>SmartEdit AI  ·  Final Viva Presentation</a:t>
            </a:r>
            <a:endParaRPr lang="en-US" sz="900" dirty="0"/>
          </a:p>
        </p:txBody>
      </p:sp>
      <p:sp>
        <p:nvSpPr>
          <p:cNvPr id="18" name="Text 15"/>
          <p:cNvSpPr/>
          <p:nvPr/>
        </p:nvSpPr>
        <p:spPr>
          <a:xfrm>
            <a:off x="10972800" y="6446520"/>
            <a:ext cx="731520" cy="274320"/>
          </a:xfrm>
          <a:prstGeom prst="rect">
            <a:avLst/>
          </a:prstGeom>
          <a:noFill/>
          <a:ln/>
        </p:spPr>
        <p:txBody>
          <a:bodyPr wrap="square" rtlCol="0" anchor="ctr"/>
          <a:lstStyle/>
          <a:p>
            <a:pPr algn="r" indent="0" marL="0">
              <a:buNone/>
            </a:pPr>
            <a:r>
              <a:rPr lang="en-US" sz="900" dirty="0">
                <a:solidFill>
                  <a:srgbClr val="6B7787"/>
                </a:solidFill>
              </a:rPr>
              <a:t>6 / 29</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9FC"/>
        </a:solidFill>
      </p:bgPr>
    </p:bg>
    <p:spTree>
      <p:nvGrpSpPr>
        <p:cNvPr id="1" name=""/>
        <p:cNvGrpSpPr/>
        <p:nvPr/>
      </p:nvGrpSpPr>
      <p:grpSpPr>
        <a:xfrm>
          <a:off x="0" y="0"/>
          <a:ext cx="0" cy="0"/>
          <a:chOff x="0" y="0"/>
          <a:chExt cx="0" cy="0"/>
        </a:xfrm>
      </p:grpSpPr>
      <p:sp>
        <p:nvSpPr>
          <p:cNvPr id="2" name="Text 0"/>
          <p:cNvSpPr/>
          <p:nvPr/>
        </p:nvSpPr>
        <p:spPr>
          <a:xfrm>
            <a:off x="457200" y="365760"/>
            <a:ext cx="11247120" cy="548640"/>
          </a:xfrm>
          <a:prstGeom prst="rect">
            <a:avLst/>
          </a:prstGeom>
          <a:noFill/>
          <a:ln/>
        </p:spPr>
        <p:txBody>
          <a:bodyPr wrap="square" lIns="0" tIns="0" rIns="0" bIns="0" rtlCol="0" anchor="ctr"/>
          <a:lstStyle/>
          <a:p>
            <a:pPr indent="0" marL="0">
              <a:buNone/>
            </a:pPr>
            <a:r>
              <a:rPr lang="en-US" sz="3000" b="1" dirty="0">
                <a:solidFill>
                  <a:srgbClr val="1457B8"/>
                </a:solidFill>
                <a:latin typeface="Georgia" pitchFamily="34" charset="0"/>
                <a:ea typeface="Georgia" pitchFamily="34" charset="-122"/>
                <a:cs typeface="Georgia" pitchFamily="34" charset="-120"/>
              </a:rPr>
              <a:t>The Eight Modules</a:t>
            </a:r>
            <a:endParaRPr lang="en-US" sz="3000" dirty="0"/>
          </a:p>
        </p:txBody>
      </p:sp>
      <p:sp>
        <p:nvSpPr>
          <p:cNvPr id="3" name="Shape 1"/>
          <p:cNvSpPr/>
          <p:nvPr/>
        </p:nvSpPr>
        <p:spPr>
          <a:xfrm>
            <a:off x="548640" y="1508760"/>
            <a:ext cx="5486400" cy="1042416"/>
          </a:xfrm>
          <a:prstGeom prst="roundRect">
            <a:avLst>
              <a:gd name="adj" fmla="val 7018"/>
            </a:avLst>
          </a:prstGeom>
          <a:solidFill>
            <a:srgbClr val="FFFFFF"/>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4" name="Text 2"/>
          <p:cNvSpPr/>
          <p:nvPr/>
        </p:nvSpPr>
        <p:spPr>
          <a:xfrm>
            <a:off x="777240" y="1600200"/>
            <a:ext cx="5029200" cy="365760"/>
          </a:xfrm>
          <a:prstGeom prst="rect">
            <a:avLst/>
          </a:prstGeom>
          <a:noFill/>
          <a:ln/>
        </p:spPr>
        <p:txBody>
          <a:bodyPr wrap="square" lIns="0" tIns="0" rIns="0" bIns="0" rtlCol="0" anchor="ctr"/>
          <a:lstStyle/>
          <a:p>
            <a:pPr indent="0" marL="0">
              <a:buNone/>
            </a:pPr>
            <a:r>
              <a:rPr lang="en-US" sz="1350" b="1" dirty="0">
                <a:solidFill>
                  <a:srgbClr val="1457B8"/>
                </a:solidFill>
              </a:rPr>
              <a:t>Authentication &amp; Session</a:t>
            </a:r>
            <a:endParaRPr lang="en-US" sz="1350" dirty="0"/>
          </a:p>
        </p:txBody>
      </p:sp>
      <p:sp>
        <p:nvSpPr>
          <p:cNvPr id="5" name="Text 3"/>
          <p:cNvSpPr/>
          <p:nvPr/>
        </p:nvSpPr>
        <p:spPr>
          <a:xfrm>
            <a:off x="777240" y="1965960"/>
            <a:ext cx="5029200" cy="502920"/>
          </a:xfrm>
          <a:prstGeom prst="rect">
            <a:avLst/>
          </a:prstGeom>
          <a:noFill/>
          <a:ln/>
        </p:spPr>
        <p:txBody>
          <a:bodyPr wrap="square" lIns="0" tIns="0" rIns="0" bIns="0" rtlCol="0" anchor="ctr"/>
          <a:lstStyle/>
          <a:p>
            <a:pPr indent="0" marL="0">
              <a:buNone/>
            </a:pPr>
            <a:r>
              <a:rPr lang="en-US" sz="1100" dirty="0">
                <a:solidFill>
                  <a:srgbClr val="6B7787"/>
                </a:solidFill>
              </a:rPr>
              <a:t>Login, registration, hashed passwords, a session guard on every route</a:t>
            </a:r>
            <a:endParaRPr lang="en-US" sz="1100" dirty="0"/>
          </a:p>
        </p:txBody>
      </p:sp>
      <p:sp>
        <p:nvSpPr>
          <p:cNvPr id="6" name="Shape 4"/>
          <p:cNvSpPr/>
          <p:nvPr/>
        </p:nvSpPr>
        <p:spPr>
          <a:xfrm>
            <a:off x="6309360" y="1508760"/>
            <a:ext cx="5486400" cy="1042416"/>
          </a:xfrm>
          <a:prstGeom prst="roundRect">
            <a:avLst>
              <a:gd name="adj" fmla="val 7018"/>
            </a:avLst>
          </a:prstGeom>
          <a:solidFill>
            <a:srgbClr val="FFFFFF"/>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7" name="Text 5"/>
          <p:cNvSpPr/>
          <p:nvPr/>
        </p:nvSpPr>
        <p:spPr>
          <a:xfrm>
            <a:off x="6537960" y="1600200"/>
            <a:ext cx="5029200" cy="365760"/>
          </a:xfrm>
          <a:prstGeom prst="rect">
            <a:avLst/>
          </a:prstGeom>
          <a:noFill/>
          <a:ln/>
        </p:spPr>
        <p:txBody>
          <a:bodyPr wrap="square" lIns="0" tIns="0" rIns="0" bIns="0" rtlCol="0" anchor="ctr"/>
          <a:lstStyle/>
          <a:p>
            <a:pPr indent="0" marL="0">
              <a:buNone/>
            </a:pPr>
            <a:r>
              <a:rPr lang="en-US" sz="1350" b="1" dirty="0">
                <a:solidFill>
                  <a:srgbClr val="1457B8"/>
                </a:solidFill>
              </a:rPr>
              <a:t>Statement Parser</a:t>
            </a:r>
            <a:endParaRPr lang="en-US" sz="1350" dirty="0"/>
          </a:p>
        </p:txBody>
      </p:sp>
      <p:sp>
        <p:nvSpPr>
          <p:cNvPr id="8" name="Text 6"/>
          <p:cNvSpPr/>
          <p:nvPr/>
        </p:nvSpPr>
        <p:spPr>
          <a:xfrm>
            <a:off x="6537960" y="1965960"/>
            <a:ext cx="5029200" cy="502920"/>
          </a:xfrm>
          <a:prstGeom prst="rect">
            <a:avLst/>
          </a:prstGeom>
          <a:noFill/>
          <a:ln/>
        </p:spPr>
        <p:txBody>
          <a:bodyPr wrap="square" lIns="0" tIns="0" rIns="0" bIns="0" rtlCol="0" anchor="ctr"/>
          <a:lstStyle/>
          <a:p>
            <a:pPr indent="0" marL="0">
              <a:buNone/>
            </a:pPr>
            <a:r>
              <a:rPr lang="en-US" sz="1100" dirty="0">
                <a:solidFill>
                  <a:srgbClr val="6B7787"/>
                </a:solidFill>
              </a:rPr>
              <a:t>parser.py — reads CSV, XLSX and PDF across eleven banks</a:t>
            </a:r>
            <a:endParaRPr lang="en-US" sz="1100" dirty="0"/>
          </a:p>
        </p:txBody>
      </p:sp>
      <p:sp>
        <p:nvSpPr>
          <p:cNvPr id="9" name="Shape 7"/>
          <p:cNvSpPr/>
          <p:nvPr/>
        </p:nvSpPr>
        <p:spPr>
          <a:xfrm>
            <a:off x="548640" y="2715768"/>
            <a:ext cx="5486400" cy="1042416"/>
          </a:xfrm>
          <a:prstGeom prst="roundRect">
            <a:avLst>
              <a:gd name="adj" fmla="val 7018"/>
            </a:avLst>
          </a:prstGeom>
          <a:solidFill>
            <a:srgbClr val="FFFFFF"/>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10" name="Text 8"/>
          <p:cNvSpPr/>
          <p:nvPr/>
        </p:nvSpPr>
        <p:spPr>
          <a:xfrm>
            <a:off x="777240" y="2807208"/>
            <a:ext cx="5029200" cy="365760"/>
          </a:xfrm>
          <a:prstGeom prst="rect">
            <a:avLst/>
          </a:prstGeom>
          <a:noFill/>
          <a:ln/>
        </p:spPr>
        <p:txBody>
          <a:bodyPr wrap="square" lIns="0" tIns="0" rIns="0" bIns="0" rtlCol="0" anchor="ctr"/>
          <a:lstStyle/>
          <a:p>
            <a:pPr indent="0" marL="0">
              <a:buNone/>
            </a:pPr>
            <a:r>
              <a:rPr lang="en-US" sz="1350" b="1" dirty="0">
                <a:solidFill>
                  <a:srgbClr val="1457B8"/>
                </a:solidFill>
              </a:rPr>
              <a:t>Transaction Classifier</a:t>
            </a:r>
            <a:endParaRPr lang="en-US" sz="1350" dirty="0"/>
          </a:p>
        </p:txBody>
      </p:sp>
      <p:sp>
        <p:nvSpPr>
          <p:cNvPr id="11" name="Text 9"/>
          <p:cNvSpPr/>
          <p:nvPr/>
        </p:nvSpPr>
        <p:spPr>
          <a:xfrm>
            <a:off x="777240" y="3172968"/>
            <a:ext cx="5029200" cy="502920"/>
          </a:xfrm>
          <a:prstGeom prst="rect">
            <a:avLst/>
          </a:prstGeom>
          <a:noFill/>
          <a:ln/>
        </p:spPr>
        <p:txBody>
          <a:bodyPr wrap="square" lIns="0" tIns="0" rIns="0" bIns="0" rtlCol="0" anchor="ctr"/>
          <a:lstStyle/>
          <a:p>
            <a:pPr indent="0" marL="0">
              <a:buNone/>
            </a:pPr>
            <a:r>
              <a:rPr lang="en-US" sz="1100" dirty="0">
                <a:solidFill>
                  <a:srgbClr val="6B7787"/>
                </a:solidFill>
              </a:rPr>
              <a:t>classifier.py — 17 categories, rules first, rails last</a:t>
            </a:r>
            <a:endParaRPr lang="en-US" sz="1100" dirty="0"/>
          </a:p>
        </p:txBody>
      </p:sp>
      <p:sp>
        <p:nvSpPr>
          <p:cNvPr id="12" name="Shape 10"/>
          <p:cNvSpPr/>
          <p:nvPr/>
        </p:nvSpPr>
        <p:spPr>
          <a:xfrm>
            <a:off x="6309360" y="2715768"/>
            <a:ext cx="5486400" cy="1042416"/>
          </a:xfrm>
          <a:prstGeom prst="roundRect">
            <a:avLst>
              <a:gd name="adj" fmla="val 7018"/>
            </a:avLst>
          </a:prstGeom>
          <a:solidFill>
            <a:srgbClr val="FFFFFF"/>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13" name="Text 11"/>
          <p:cNvSpPr/>
          <p:nvPr/>
        </p:nvSpPr>
        <p:spPr>
          <a:xfrm>
            <a:off x="6537960" y="2807208"/>
            <a:ext cx="5029200" cy="365760"/>
          </a:xfrm>
          <a:prstGeom prst="rect">
            <a:avLst/>
          </a:prstGeom>
          <a:noFill/>
          <a:ln/>
        </p:spPr>
        <p:txBody>
          <a:bodyPr wrap="square" lIns="0" tIns="0" rIns="0" bIns="0" rtlCol="0" anchor="ctr"/>
          <a:lstStyle/>
          <a:p>
            <a:pPr indent="0" marL="0">
              <a:buNone/>
            </a:pPr>
            <a:r>
              <a:rPr lang="en-US" sz="1350" b="1" dirty="0">
                <a:solidFill>
                  <a:srgbClr val="1457B8"/>
                </a:solidFill>
              </a:rPr>
              <a:t>Analytics Engine</a:t>
            </a:r>
            <a:endParaRPr lang="en-US" sz="1350" dirty="0"/>
          </a:p>
        </p:txBody>
      </p:sp>
      <p:sp>
        <p:nvSpPr>
          <p:cNvPr id="14" name="Text 12"/>
          <p:cNvSpPr/>
          <p:nvPr/>
        </p:nvSpPr>
        <p:spPr>
          <a:xfrm>
            <a:off x="6537960" y="3172968"/>
            <a:ext cx="5029200" cy="502920"/>
          </a:xfrm>
          <a:prstGeom prst="rect">
            <a:avLst/>
          </a:prstGeom>
          <a:noFill/>
          <a:ln/>
        </p:spPr>
        <p:txBody>
          <a:bodyPr wrap="square" lIns="0" tIns="0" rIns="0" bIns="0" rtlCol="0" anchor="ctr"/>
          <a:lstStyle/>
          <a:p>
            <a:pPr indent="0" marL="0">
              <a:buNone/>
            </a:pPr>
            <a:r>
              <a:rPr lang="en-US" sz="1100" dirty="0">
                <a:solidFill>
                  <a:srgbClr val="6B7787"/>
                </a:solidFill>
              </a:rPr>
              <a:t>analytics.py — summaries, trends, recurring commitments, insights</a:t>
            </a:r>
            <a:endParaRPr lang="en-US" sz="1100" dirty="0"/>
          </a:p>
        </p:txBody>
      </p:sp>
      <p:sp>
        <p:nvSpPr>
          <p:cNvPr id="15" name="Shape 13"/>
          <p:cNvSpPr/>
          <p:nvPr/>
        </p:nvSpPr>
        <p:spPr>
          <a:xfrm>
            <a:off x="548640" y="3922776"/>
            <a:ext cx="5486400" cy="1042416"/>
          </a:xfrm>
          <a:prstGeom prst="roundRect">
            <a:avLst>
              <a:gd name="adj" fmla="val 7018"/>
            </a:avLst>
          </a:prstGeom>
          <a:solidFill>
            <a:srgbClr val="FFFFFF"/>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16" name="Text 14"/>
          <p:cNvSpPr/>
          <p:nvPr/>
        </p:nvSpPr>
        <p:spPr>
          <a:xfrm>
            <a:off x="777240" y="4014216"/>
            <a:ext cx="5029200" cy="365760"/>
          </a:xfrm>
          <a:prstGeom prst="rect">
            <a:avLst/>
          </a:prstGeom>
          <a:noFill/>
          <a:ln/>
        </p:spPr>
        <p:txBody>
          <a:bodyPr wrap="square" lIns="0" tIns="0" rIns="0" bIns="0" rtlCol="0" anchor="ctr"/>
          <a:lstStyle/>
          <a:p>
            <a:pPr indent="0" marL="0">
              <a:buNone/>
            </a:pPr>
            <a:r>
              <a:rPr lang="en-US" sz="1350" b="1" dirty="0">
                <a:solidFill>
                  <a:srgbClr val="1457B8"/>
                </a:solidFill>
              </a:rPr>
              <a:t>Salary &amp; Tax</a:t>
            </a:r>
            <a:endParaRPr lang="en-US" sz="1350" dirty="0"/>
          </a:p>
        </p:txBody>
      </p:sp>
      <p:sp>
        <p:nvSpPr>
          <p:cNvPr id="17" name="Text 15"/>
          <p:cNvSpPr/>
          <p:nvPr/>
        </p:nvSpPr>
        <p:spPr>
          <a:xfrm>
            <a:off x="777240" y="4379976"/>
            <a:ext cx="5029200" cy="502920"/>
          </a:xfrm>
          <a:prstGeom prst="rect">
            <a:avLst/>
          </a:prstGeom>
          <a:noFill/>
          <a:ln/>
        </p:spPr>
        <p:txBody>
          <a:bodyPr wrap="square" lIns="0" tIns="0" rIns="0" bIns="0" rtlCol="0" anchor="ctr"/>
          <a:lstStyle/>
          <a:p>
            <a:pPr indent="0" marL="0">
              <a:buNone/>
            </a:pPr>
            <a:r>
              <a:rPr lang="en-US" sz="1100" dirty="0">
                <a:solidFill>
                  <a:srgbClr val="6B7787"/>
                </a:solidFill>
              </a:rPr>
              <a:t>salary.py — CTC breakdown, both regimes, marginal relief</a:t>
            </a:r>
            <a:endParaRPr lang="en-US" sz="1100" dirty="0"/>
          </a:p>
        </p:txBody>
      </p:sp>
      <p:sp>
        <p:nvSpPr>
          <p:cNvPr id="18" name="Shape 16"/>
          <p:cNvSpPr/>
          <p:nvPr/>
        </p:nvSpPr>
        <p:spPr>
          <a:xfrm>
            <a:off x="6309360" y="3922776"/>
            <a:ext cx="5486400" cy="1042416"/>
          </a:xfrm>
          <a:prstGeom prst="roundRect">
            <a:avLst>
              <a:gd name="adj" fmla="val 7018"/>
            </a:avLst>
          </a:prstGeom>
          <a:solidFill>
            <a:srgbClr val="FFFFFF"/>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19" name="Text 17"/>
          <p:cNvSpPr/>
          <p:nvPr/>
        </p:nvSpPr>
        <p:spPr>
          <a:xfrm>
            <a:off x="6537960" y="4014216"/>
            <a:ext cx="5029200" cy="365760"/>
          </a:xfrm>
          <a:prstGeom prst="rect">
            <a:avLst/>
          </a:prstGeom>
          <a:noFill/>
          <a:ln/>
        </p:spPr>
        <p:txBody>
          <a:bodyPr wrap="square" lIns="0" tIns="0" rIns="0" bIns="0" rtlCol="0" anchor="ctr"/>
          <a:lstStyle/>
          <a:p>
            <a:pPr indent="0" marL="0">
              <a:buNone/>
            </a:pPr>
            <a:r>
              <a:rPr lang="en-US" sz="1350" b="1" dirty="0">
                <a:solidFill>
                  <a:srgbClr val="1457B8"/>
                </a:solidFill>
              </a:rPr>
              <a:t>Natural-Language Query Engine</a:t>
            </a:r>
            <a:endParaRPr lang="en-US" sz="1350" dirty="0"/>
          </a:p>
        </p:txBody>
      </p:sp>
      <p:sp>
        <p:nvSpPr>
          <p:cNvPr id="20" name="Text 18"/>
          <p:cNvSpPr/>
          <p:nvPr/>
        </p:nvSpPr>
        <p:spPr>
          <a:xfrm>
            <a:off x="6537960" y="4379976"/>
            <a:ext cx="5029200" cy="502920"/>
          </a:xfrm>
          <a:prstGeom prst="rect">
            <a:avLst/>
          </a:prstGeom>
          <a:noFill/>
          <a:ln/>
        </p:spPr>
        <p:txBody>
          <a:bodyPr wrap="square" lIns="0" tIns="0" rIns="0" bIns="0" rtlCol="0" anchor="ctr"/>
          <a:lstStyle/>
          <a:p>
            <a:pPr indent="0" marL="0">
              <a:buNone/>
            </a:pPr>
            <a:r>
              <a:rPr lang="en-US" sz="1100" dirty="0">
                <a:solidFill>
                  <a:srgbClr val="6B7787"/>
                </a:solidFill>
              </a:rPr>
              <a:t>nlq.py — turns a question into a real SQL aggregate</a:t>
            </a:r>
            <a:endParaRPr lang="en-US" sz="1100" dirty="0"/>
          </a:p>
        </p:txBody>
      </p:sp>
      <p:sp>
        <p:nvSpPr>
          <p:cNvPr id="21" name="Shape 19"/>
          <p:cNvSpPr/>
          <p:nvPr/>
        </p:nvSpPr>
        <p:spPr>
          <a:xfrm>
            <a:off x="548640" y="5129784"/>
            <a:ext cx="5486400" cy="1042416"/>
          </a:xfrm>
          <a:prstGeom prst="roundRect">
            <a:avLst>
              <a:gd name="adj" fmla="val 7018"/>
            </a:avLst>
          </a:prstGeom>
          <a:solidFill>
            <a:srgbClr val="FFFFFF"/>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22" name="Text 20"/>
          <p:cNvSpPr/>
          <p:nvPr/>
        </p:nvSpPr>
        <p:spPr>
          <a:xfrm>
            <a:off x="777240" y="5221224"/>
            <a:ext cx="5029200" cy="365760"/>
          </a:xfrm>
          <a:prstGeom prst="rect">
            <a:avLst/>
          </a:prstGeom>
          <a:noFill/>
          <a:ln/>
        </p:spPr>
        <p:txBody>
          <a:bodyPr wrap="square" lIns="0" tIns="0" rIns="0" bIns="0" rtlCol="0" anchor="ctr"/>
          <a:lstStyle/>
          <a:p>
            <a:pPr indent="0" marL="0">
              <a:buNone/>
            </a:pPr>
            <a:r>
              <a:rPr lang="en-US" sz="1350" b="1" dirty="0">
                <a:solidFill>
                  <a:srgbClr val="1457B8"/>
                </a:solidFill>
              </a:rPr>
              <a:t>AI Advisory</a:t>
            </a:r>
            <a:endParaRPr lang="en-US" sz="1350" dirty="0"/>
          </a:p>
        </p:txBody>
      </p:sp>
      <p:sp>
        <p:nvSpPr>
          <p:cNvPr id="23" name="Text 21"/>
          <p:cNvSpPr/>
          <p:nvPr/>
        </p:nvSpPr>
        <p:spPr>
          <a:xfrm>
            <a:off x="777240" y="5586984"/>
            <a:ext cx="5029200" cy="502920"/>
          </a:xfrm>
          <a:prstGeom prst="rect">
            <a:avLst/>
          </a:prstGeom>
          <a:noFill/>
          <a:ln/>
        </p:spPr>
        <p:txBody>
          <a:bodyPr wrap="square" lIns="0" tIns="0" rIns="0" bIns="0" rtlCol="0" anchor="ctr"/>
          <a:lstStyle/>
          <a:p>
            <a:pPr indent="0" marL="0">
              <a:buNone/>
            </a:pPr>
            <a:r>
              <a:rPr lang="en-US" sz="1100" dirty="0">
                <a:solidFill>
                  <a:srgbClr val="6B7787"/>
                </a:solidFill>
              </a:rPr>
              <a:t>advisor.py — savings guidance from computed figures</a:t>
            </a:r>
            <a:endParaRPr lang="en-US" sz="1100" dirty="0"/>
          </a:p>
        </p:txBody>
      </p:sp>
      <p:sp>
        <p:nvSpPr>
          <p:cNvPr id="24" name="Shape 22"/>
          <p:cNvSpPr/>
          <p:nvPr/>
        </p:nvSpPr>
        <p:spPr>
          <a:xfrm>
            <a:off x="6309360" y="5129784"/>
            <a:ext cx="5486400" cy="1042416"/>
          </a:xfrm>
          <a:prstGeom prst="roundRect">
            <a:avLst>
              <a:gd name="adj" fmla="val 7018"/>
            </a:avLst>
          </a:prstGeom>
          <a:solidFill>
            <a:srgbClr val="FFFFFF"/>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25" name="Text 23"/>
          <p:cNvSpPr/>
          <p:nvPr/>
        </p:nvSpPr>
        <p:spPr>
          <a:xfrm>
            <a:off x="6537960" y="5221224"/>
            <a:ext cx="5029200" cy="365760"/>
          </a:xfrm>
          <a:prstGeom prst="rect">
            <a:avLst/>
          </a:prstGeom>
          <a:noFill/>
          <a:ln/>
        </p:spPr>
        <p:txBody>
          <a:bodyPr wrap="square" lIns="0" tIns="0" rIns="0" bIns="0" rtlCol="0" anchor="ctr"/>
          <a:lstStyle/>
          <a:p>
            <a:pPr indent="0" marL="0">
              <a:buNone/>
            </a:pPr>
            <a:r>
              <a:rPr lang="en-US" sz="1350" b="1" dirty="0">
                <a:solidFill>
                  <a:srgbClr val="1457B8"/>
                </a:solidFill>
              </a:rPr>
              <a:t>RAG Chatbot</a:t>
            </a:r>
            <a:endParaRPr lang="en-US" sz="1350" dirty="0"/>
          </a:p>
        </p:txBody>
      </p:sp>
      <p:sp>
        <p:nvSpPr>
          <p:cNvPr id="26" name="Text 24"/>
          <p:cNvSpPr/>
          <p:nvPr/>
        </p:nvSpPr>
        <p:spPr>
          <a:xfrm>
            <a:off x="6537960" y="5586984"/>
            <a:ext cx="5029200" cy="502920"/>
          </a:xfrm>
          <a:prstGeom prst="rect">
            <a:avLst/>
          </a:prstGeom>
          <a:noFill/>
          <a:ln/>
        </p:spPr>
        <p:txBody>
          <a:bodyPr wrap="square" lIns="0" tIns="0" rIns="0" bIns="0" rtlCol="0" anchor="ctr"/>
          <a:lstStyle/>
          <a:p>
            <a:pPr indent="0" marL="0">
              <a:buNone/>
            </a:pPr>
            <a:r>
              <a:rPr lang="en-US" sz="1100" dirty="0">
                <a:solidFill>
                  <a:srgbClr val="6B7787"/>
                </a:solidFill>
              </a:rPr>
              <a:t>rag.py — retrieval for context, guarded generation for wording</a:t>
            </a:r>
            <a:endParaRPr lang="en-US" sz="1100" dirty="0"/>
          </a:p>
        </p:txBody>
      </p:sp>
      <p:sp>
        <p:nvSpPr>
          <p:cNvPr id="27" name="Text 25"/>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B7787"/>
                </a:solidFill>
              </a:rPr>
              <a:t>SmartEdit AI  ·  Final Viva Presentation</a:t>
            </a:r>
            <a:endParaRPr lang="en-US" sz="900" dirty="0"/>
          </a:p>
        </p:txBody>
      </p:sp>
      <p:sp>
        <p:nvSpPr>
          <p:cNvPr id="28" name="Text 26"/>
          <p:cNvSpPr/>
          <p:nvPr/>
        </p:nvSpPr>
        <p:spPr>
          <a:xfrm>
            <a:off x="10972800" y="6446520"/>
            <a:ext cx="731520" cy="274320"/>
          </a:xfrm>
          <a:prstGeom prst="rect">
            <a:avLst/>
          </a:prstGeom>
          <a:noFill/>
          <a:ln/>
        </p:spPr>
        <p:txBody>
          <a:bodyPr wrap="square" rtlCol="0" anchor="ctr"/>
          <a:lstStyle/>
          <a:p>
            <a:pPr algn="r" indent="0" marL="0">
              <a:buNone/>
            </a:pPr>
            <a:r>
              <a:rPr lang="en-US" sz="900" dirty="0">
                <a:solidFill>
                  <a:srgbClr val="6B7787"/>
                </a:solidFill>
              </a:rPr>
              <a:t>7 / 29</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9FC"/>
        </a:solidFill>
      </p:bgPr>
    </p:bg>
    <p:spTree>
      <p:nvGrpSpPr>
        <p:cNvPr id="1" name=""/>
        <p:cNvGrpSpPr/>
        <p:nvPr/>
      </p:nvGrpSpPr>
      <p:grpSpPr>
        <a:xfrm>
          <a:off x="0" y="0"/>
          <a:ext cx="0" cy="0"/>
          <a:chOff x="0" y="0"/>
          <a:chExt cx="0" cy="0"/>
        </a:xfrm>
      </p:grpSpPr>
      <p:sp>
        <p:nvSpPr>
          <p:cNvPr id="2" name="Text 0"/>
          <p:cNvSpPr/>
          <p:nvPr/>
        </p:nvSpPr>
        <p:spPr>
          <a:xfrm>
            <a:off x="457200" y="365760"/>
            <a:ext cx="11247120" cy="548640"/>
          </a:xfrm>
          <a:prstGeom prst="rect">
            <a:avLst/>
          </a:prstGeom>
          <a:noFill/>
          <a:ln/>
        </p:spPr>
        <p:txBody>
          <a:bodyPr wrap="square" lIns="0" tIns="0" rIns="0" bIns="0" rtlCol="0" anchor="ctr"/>
          <a:lstStyle/>
          <a:p>
            <a:pPr indent="0" marL="0">
              <a:buNone/>
            </a:pPr>
            <a:r>
              <a:rPr lang="en-US" sz="3000" b="1" dirty="0">
                <a:solidFill>
                  <a:srgbClr val="1457B8"/>
                </a:solidFill>
                <a:latin typeface="Georgia" pitchFamily="34" charset="0"/>
                <a:ea typeface="Georgia" pitchFamily="34" charset="-122"/>
                <a:cs typeface="Georgia" pitchFamily="34" charset="-120"/>
              </a:rPr>
              <a:t>Database</a:t>
            </a:r>
            <a:endParaRPr lang="en-US" sz="3000" dirty="0"/>
          </a:p>
        </p:txBody>
      </p:sp>
      <p:sp>
        <p:nvSpPr>
          <p:cNvPr id="3" name="Text 1"/>
          <p:cNvSpPr/>
          <p:nvPr/>
        </p:nvSpPr>
        <p:spPr>
          <a:xfrm>
            <a:off x="457200" y="960120"/>
            <a:ext cx="11247120" cy="365760"/>
          </a:xfrm>
          <a:prstGeom prst="rect">
            <a:avLst/>
          </a:prstGeom>
          <a:noFill/>
          <a:ln/>
        </p:spPr>
        <p:txBody>
          <a:bodyPr wrap="square" lIns="0" tIns="0" rIns="0" bIns="0" rtlCol="0" anchor="ctr"/>
          <a:lstStyle/>
          <a:p>
            <a:pPr indent="0" marL="0">
              <a:buNone/>
            </a:pPr>
            <a:r>
              <a:rPr lang="en-US" sz="1400" i="1" dirty="0">
                <a:solidFill>
                  <a:srgbClr val="6B7787"/>
                </a:solidFill>
              </a:rPr>
              <a:t>Seven tables, reached through SQLAlchemy, with a stored transaction fingerprint</a:t>
            </a:r>
            <a:endParaRPr lang="en-US" sz="1400" dirty="0"/>
          </a:p>
        </p:txBody>
      </p:sp>
      <p:pic>
        <p:nvPicPr>
          <p:cNvPr id="4" name="Image 0" descr="C:\Users\Vicke\OneDrive\Desktop\Python\A_COH_10\shyam sundar\SmartEditAI\docs\diagrams\04_er_diagram.png">    </p:cNvPr>
          <p:cNvPicPr>
            <a:picLocks noChangeAspect="1"/>
          </p:cNvPicPr>
          <p:nvPr/>
        </p:nvPicPr>
        <p:blipFill>
          <a:blip r:embed="rId1"/>
          <a:srcRect l="-23077" r="-23077" t="0" b="0"/>
          <a:stretch/>
        </p:blipFill>
        <p:spPr>
          <a:xfrm>
            <a:off x="640080" y="1463040"/>
            <a:ext cx="6949440" cy="4754880"/>
          </a:xfrm>
          <a:prstGeom prst="rect">
            <a:avLst/>
          </a:prstGeom>
        </p:spPr>
      </p:pic>
      <p:sp>
        <p:nvSpPr>
          <p:cNvPr id="5" name="Shape 2"/>
          <p:cNvSpPr/>
          <p:nvPr/>
        </p:nvSpPr>
        <p:spPr>
          <a:xfrm>
            <a:off x="7863840" y="1508760"/>
            <a:ext cx="3840480" cy="4709160"/>
          </a:xfrm>
          <a:prstGeom prst="roundRect">
            <a:avLst>
              <a:gd name="adj" fmla="val 1905"/>
            </a:avLst>
          </a:prstGeom>
          <a:solidFill>
            <a:srgbClr val="FFFFFF"/>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6" name="Text 3"/>
          <p:cNvSpPr/>
          <p:nvPr/>
        </p:nvSpPr>
        <p:spPr>
          <a:xfrm>
            <a:off x="8092440" y="1691640"/>
            <a:ext cx="3383280" cy="320040"/>
          </a:xfrm>
          <a:prstGeom prst="rect">
            <a:avLst/>
          </a:prstGeom>
          <a:noFill/>
          <a:ln/>
        </p:spPr>
        <p:txBody>
          <a:bodyPr wrap="square" lIns="0" tIns="0" rIns="0" bIns="0" rtlCol="0" anchor="ctr"/>
          <a:lstStyle/>
          <a:p>
            <a:pPr indent="0" marL="0">
              <a:buNone/>
            </a:pPr>
            <a:r>
              <a:rPr lang="en-US" sz="1400" b="1" dirty="0">
                <a:solidFill>
                  <a:srgbClr val="1457B8"/>
                </a:solidFill>
              </a:rPr>
              <a:t>Seven tables</a:t>
            </a:r>
            <a:endParaRPr lang="en-US" sz="1400" dirty="0"/>
          </a:p>
        </p:txBody>
      </p:sp>
      <p:sp>
        <p:nvSpPr>
          <p:cNvPr id="7" name="Text 4"/>
          <p:cNvSpPr/>
          <p:nvPr/>
        </p:nvSpPr>
        <p:spPr>
          <a:xfrm>
            <a:off x="8138160" y="2057400"/>
            <a:ext cx="3383280" cy="173736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F2733"/>
                </a:solidFill>
              </a:rPr>
              <a:t>users</a:t>
            </a:r>
            <a:endParaRPr lang="en-US" sz="1250" dirty="0"/>
          </a:p>
          <a:p>
            <a:pPr marL="342900" indent="-342900">
              <a:spcAft>
                <a:spcPts val="500"/>
              </a:spcAft>
              <a:buSzPct val="100000"/>
              <a:buChar char="•"/>
            </a:pPr>
            <a:r>
              <a:rPr lang="en-US" sz="1250" dirty="0">
                <a:solidFill>
                  <a:srgbClr val="1F2733"/>
                </a:solidFill>
              </a:rPr>
              <a:t>transactions</a:t>
            </a:r>
            <a:endParaRPr lang="en-US" sz="1250" dirty="0"/>
          </a:p>
          <a:p>
            <a:pPr marL="342900" indent="-342900">
              <a:spcAft>
                <a:spcPts val="500"/>
              </a:spcAft>
              <a:buSzPct val="100000"/>
              <a:buChar char="•"/>
            </a:pPr>
            <a:r>
              <a:rPr lang="en-US" sz="1250" dirty="0">
                <a:solidFill>
                  <a:srgbClr val="1F2733"/>
                </a:solidFill>
              </a:rPr>
              <a:t>embeddings</a:t>
            </a:r>
            <a:endParaRPr lang="en-US" sz="1250" dirty="0"/>
          </a:p>
          <a:p>
            <a:pPr marL="342900" indent="-342900">
              <a:spcAft>
                <a:spcPts val="500"/>
              </a:spcAft>
              <a:buSzPct val="100000"/>
              <a:buChar char="•"/>
            </a:pPr>
            <a:r>
              <a:rPr lang="en-US" sz="1250" dirty="0">
                <a:solidFill>
                  <a:srgbClr val="1F2733"/>
                </a:solidFill>
              </a:rPr>
              <a:t>chat_history</a:t>
            </a:r>
            <a:endParaRPr lang="en-US" sz="1250" dirty="0"/>
          </a:p>
          <a:p>
            <a:pPr marL="342900" indent="-342900">
              <a:spcAft>
                <a:spcPts val="500"/>
              </a:spcAft>
              <a:buSzPct val="100000"/>
              <a:buChar char="•"/>
            </a:pPr>
            <a:r>
              <a:rPr lang="en-US" sz="1250" dirty="0">
                <a:solidFill>
                  <a:srgbClr val="1F2733"/>
                </a:solidFill>
              </a:rPr>
              <a:t>salary_profiles</a:t>
            </a:r>
            <a:endParaRPr lang="en-US" sz="1250" dirty="0"/>
          </a:p>
          <a:p>
            <a:pPr marL="342900" indent="-342900">
              <a:spcAft>
                <a:spcPts val="500"/>
              </a:spcAft>
              <a:buSzPct val="100000"/>
              <a:buChar char="•"/>
            </a:pPr>
            <a:r>
              <a:rPr lang="en-US" sz="1250" dirty="0">
                <a:solidFill>
                  <a:srgbClr val="1F2733"/>
                </a:solidFill>
              </a:rPr>
              <a:t>savings_goals</a:t>
            </a:r>
            <a:endParaRPr lang="en-US" sz="1250" dirty="0"/>
          </a:p>
          <a:p>
            <a:pPr marL="342900" indent="-342900">
              <a:spcAft>
                <a:spcPts val="500"/>
              </a:spcAft>
              <a:buSzPct val="100000"/>
              <a:buChar char="•"/>
            </a:pPr>
            <a:r>
              <a:rPr lang="en-US" sz="1250" dirty="0">
                <a:solidFill>
                  <a:srgbClr val="1F2733"/>
                </a:solidFill>
              </a:rPr>
              <a:t>budgets</a:t>
            </a:r>
            <a:endParaRPr lang="en-US" sz="1250" dirty="0"/>
          </a:p>
        </p:txBody>
      </p:sp>
      <p:sp>
        <p:nvSpPr>
          <p:cNvPr id="8" name="Text 5"/>
          <p:cNvSpPr/>
          <p:nvPr/>
        </p:nvSpPr>
        <p:spPr>
          <a:xfrm>
            <a:off x="8092440" y="3886200"/>
            <a:ext cx="3383280" cy="320040"/>
          </a:xfrm>
          <a:prstGeom prst="rect">
            <a:avLst/>
          </a:prstGeom>
          <a:noFill/>
          <a:ln/>
        </p:spPr>
        <p:txBody>
          <a:bodyPr wrap="square" lIns="0" tIns="0" rIns="0" bIns="0" rtlCol="0" anchor="ctr"/>
          <a:lstStyle/>
          <a:p>
            <a:pPr indent="0" marL="0">
              <a:buNone/>
            </a:pPr>
            <a:r>
              <a:rPr lang="en-US" sz="1400" b="1" dirty="0">
                <a:solidFill>
                  <a:srgbClr val="1AA260"/>
                </a:solidFill>
              </a:rPr>
              <a:t>Fingerprint</a:t>
            </a:r>
            <a:endParaRPr lang="en-US" sz="1400" dirty="0"/>
          </a:p>
        </p:txBody>
      </p:sp>
      <p:sp>
        <p:nvSpPr>
          <p:cNvPr id="9" name="Text 6"/>
          <p:cNvSpPr/>
          <p:nvPr/>
        </p:nvSpPr>
        <p:spPr>
          <a:xfrm>
            <a:off x="8138160" y="4224528"/>
            <a:ext cx="3383280" cy="914400"/>
          </a:xfrm>
          <a:prstGeom prst="rect">
            <a:avLst/>
          </a:prstGeom>
          <a:noFill/>
          <a:ln/>
        </p:spPr>
        <p:txBody>
          <a:bodyPr wrap="square" lIns="0" tIns="0" rIns="0" bIns="0" rtlCol="0" anchor="t"/>
          <a:lstStyle/>
          <a:p>
            <a:pPr indent="0" marL="0">
              <a:buNone/>
            </a:pPr>
            <a:r>
              <a:rPr lang="en-US" sz="1150" dirty="0">
                <a:solidFill>
                  <a:srgbClr val="1F2733"/>
                </a:solidFill>
              </a:rPr>
              <a:t>A SHA-1 hash over user, date, amount, type and narration. Stops a re-uploaded statement being imported twice.</a:t>
            </a:r>
            <a:endParaRPr lang="en-US" sz="1150" dirty="0"/>
          </a:p>
        </p:txBody>
      </p:sp>
      <p:sp>
        <p:nvSpPr>
          <p:cNvPr id="10" name="Text 7"/>
          <p:cNvSpPr/>
          <p:nvPr/>
        </p:nvSpPr>
        <p:spPr>
          <a:xfrm>
            <a:off x="8092440" y="5212080"/>
            <a:ext cx="3383280" cy="274320"/>
          </a:xfrm>
          <a:prstGeom prst="rect">
            <a:avLst/>
          </a:prstGeom>
          <a:noFill/>
          <a:ln/>
        </p:spPr>
        <p:txBody>
          <a:bodyPr wrap="square" lIns="0" tIns="0" rIns="0" bIns="0" rtlCol="0" anchor="ctr"/>
          <a:lstStyle/>
          <a:p>
            <a:pPr indent="0" marL="0">
              <a:buNone/>
            </a:pPr>
            <a:r>
              <a:rPr lang="en-US" sz="1250" b="1" dirty="0">
                <a:solidFill>
                  <a:srgbClr val="1457B8"/>
                </a:solidFill>
              </a:rPr>
              <a:t>ensure_schema()</a:t>
            </a:r>
            <a:endParaRPr lang="en-US" sz="1250" dirty="0"/>
          </a:p>
        </p:txBody>
      </p:sp>
      <p:sp>
        <p:nvSpPr>
          <p:cNvPr id="11" name="Text 8"/>
          <p:cNvSpPr/>
          <p:nvPr/>
        </p:nvSpPr>
        <p:spPr>
          <a:xfrm>
            <a:off x="8138160" y="5486400"/>
            <a:ext cx="3383280" cy="640080"/>
          </a:xfrm>
          <a:prstGeom prst="rect">
            <a:avLst/>
          </a:prstGeom>
          <a:noFill/>
          <a:ln/>
        </p:spPr>
        <p:txBody>
          <a:bodyPr wrap="square" lIns="0" tIns="0" rIns="0" bIns="0" rtlCol="0" anchor="ctr"/>
          <a:lstStyle/>
          <a:p>
            <a:pPr indent="0" marL="0">
              <a:buNone/>
            </a:pPr>
            <a:r>
              <a:rPr lang="en-US" sz="1100" dirty="0">
                <a:solidFill>
                  <a:srgbClr val="6B7787"/>
                </a:solidFill>
              </a:rPr>
              <a:t>Adds any missing table or column to an existing database in place, so upgrades never lose data.</a:t>
            </a:r>
            <a:endParaRPr lang="en-US" sz="1100" dirty="0"/>
          </a:p>
        </p:txBody>
      </p:sp>
      <p:sp>
        <p:nvSpPr>
          <p:cNvPr id="12" name="Text 9"/>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B7787"/>
                </a:solidFill>
              </a:rPr>
              <a:t>SmartEdit AI  ·  Final Viva Presentation</a:t>
            </a:r>
            <a:endParaRPr lang="en-US" sz="900" dirty="0"/>
          </a:p>
        </p:txBody>
      </p:sp>
      <p:sp>
        <p:nvSpPr>
          <p:cNvPr id="13" name="Text 10"/>
          <p:cNvSpPr/>
          <p:nvPr/>
        </p:nvSpPr>
        <p:spPr>
          <a:xfrm>
            <a:off x="10972800" y="6446520"/>
            <a:ext cx="731520" cy="274320"/>
          </a:xfrm>
          <a:prstGeom prst="rect">
            <a:avLst/>
          </a:prstGeom>
          <a:noFill/>
          <a:ln/>
        </p:spPr>
        <p:txBody>
          <a:bodyPr wrap="square" rtlCol="0" anchor="ctr"/>
          <a:lstStyle/>
          <a:p>
            <a:pPr algn="r" indent="0" marL="0">
              <a:buNone/>
            </a:pPr>
            <a:r>
              <a:rPr lang="en-US" sz="900" dirty="0">
                <a:solidFill>
                  <a:srgbClr val="6B7787"/>
                </a:solidFill>
              </a:rPr>
              <a:t>8 / 29</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9FC"/>
        </a:solidFill>
      </p:bgPr>
    </p:bg>
    <p:spTree>
      <p:nvGrpSpPr>
        <p:cNvPr id="1" name=""/>
        <p:cNvGrpSpPr/>
        <p:nvPr/>
      </p:nvGrpSpPr>
      <p:grpSpPr>
        <a:xfrm>
          <a:off x="0" y="0"/>
          <a:ext cx="0" cy="0"/>
          <a:chOff x="0" y="0"/>
          <a:chExt cx="0" cy="0"/>
        </a:xfrm>
      </p:grpSpPr>
      <p:sp>
        <p:nvSpPr>
          <p:cNvPr id="2" name="Text 0"/>
          <p:cNvSpPr/>
          <p:nvPr/>
        </p:nvSpPr>
        <p:spPr>
          <a:xfrm>
            <a:off x="457200" y="365760"/>
            <a:ext cx="11247120" cy="548640"/>
          </a:xfrm>
          <a:prstGeom prst="rect">
            <a:avLst/>
          </a:prstGeom>
          <a:noFill/>
          <a:ln/>
        </p:spPr>
        <p:txBody>
          <a:bodyPr wrap="square" lIns="0" tIns="0" rIns="0" bIns="0" rtlCol="0" anchor="ctr"/>
          <a:lstStyle/>
          <a:p>
            <a:pPr indent="0" marL="0">
              <a:buNone/>
            </a:pPr>
            <a:r>
              <a:rPr lang="en-US" sz="3000" b="1" dirty="0">
                <a:solidFill>
                  <a:srgbClr val="1457B8"/>
                </a:solidFill>
                <a:latin typeface="Georgia" pitchFamily="34" charset="0"/>
                <a:ea typeface="Georgia" pitchFamily="34" charset="-122"/>
                <a:cs typeface="Georgia" pitchFamily="34" charset="-120"/>
              </a:rPr>
              <a:t>Statement Parsing</a:t>
            </a:r>
            <a:endParaRPr lang="en-US" sz="3000" dirty="0"/>
          </a:p>
        </p:txBody>
      </p:sp>
      <p:sp>
        <p:nvSpPr>
          <p:cNvPr id="3" name="Text 1"/>
          <p:cNvSpPr/>
          <p:nvPr/>
        </p:nvSpPr>
        <p:spPr>
          <a:xfrm>
            <a:off x="457200" y="960120"/>
            <a:ext cx="11247120" cy="365760"/>
          </a:xfrm>
          <a:prstGeom prst="rect">
            <a:avLst/>
          </a:prstGeom>
          <a:noFill/>
          <a:ln/>
        </p:spPr>
        <p:txBody>
          <a:bodyPr wrap="square" lIns="0" tIns="0" rIns="0" bIns="0" rtlCol="0" anchor="ctr"/>
          <a:lstStyle/>
          <a:p>
            <a:pPr indent="0" marL="0">
              <a:buNone/>
            </a:pPr>
            <a:r>
              <a:rPr lang="en-US" sz="1400" i="1" dirty="0">
                <a:solidFill>
                  <a:srgbClr val="6B7787"/>
                </a:solidFill>
              </a:rPr>
              <a:t>Measured on the bundled sample statements</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2377440"/>
        </p:xfrm>
        <a:graphic>
          <a:graphicData uri="http://schemas.openxmlformats.org/drawingml/2006/table">
            <a:tbl>
              <a:tblPr/>
              <a:tblGrid>
                <a:gridCol w="3291840"/>
                <a:gridCol w="2560320"/>
                <a:gridCol w="1463040"/>
                <a:gridCol w="3749040"/>
              </a:tblGrid>
              <a:tr h="396240">
                <a:tc>
                  <a:txBody>
                    <a:bodyPr/>
                    <a:lstStyle/>
                    <a:p>
                      <a:pPr indent="0" marL="0">
                        <a:buNone/>
                      </a:pPr>
                      <a:r>
                        <a:rPr lang="en-US" sz="1300" b="1" dirty="0">
                          <a:solidFill>
                            <a:srgbClr val="FFFFFF"/>
                          </a:solidFill>
                        </a:rPr>
                        <a:t>File</a:t>
                      </a:r>
                      <a:endParaRPr lang="en-US" sz="130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1457B8"/>
                    </a:solidFill>
                  </a:tcPr>
                </a:tc>
                <a:tc>
                  <a:txBody>
                    <a:bodyPr/>
                    <a:lstStyle/>
                    <a:p>
                      <a:pPr indent="0" marL="0">
                        <a:buNone/>
                      </a:pPr>
                      <a:r>
                        <a:rPr lang="en-US" sz="1300" b="1" dirty="0">
                          <a:solidFill>
                            <a:srgbClr val="FFFFFF"/>
                          </a:solidFill>
                        </a:rPr>
                        <a:t>Bank detected</a:t>
                      </a:r>
                      <a:endParaRPr lang="en-US" sz="130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1457B8"/>
                    </a:solidFill>
                  </a:tcPr>
                </a:tc>
                <a:tc>
                  <a:txBody>
                    <a:bodyPr/>
                    <a:lstStyle/>
                    <a:p>
                      <a:pPr indent="0" marL="0">
                        <a:buNone/>
                      </a:pPr>
                      <a:r>
                        <a:rPr lang="en-US" sz="1300" b="1" dirty="0">
                          <a:solidFill>
                            <a:srgbClr val="FFFFFF"/>
                          </a:solidFill>
                        </a:rPr>
                        <a:t>Rows</a:t>
                      </a:r>
                      <a:endParaRPr lang="en-US" sz="130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1457B8"/>
                    </a:solidFill>
                  </a:tcPr>
                </a:tc>
                <a:tc>
                  <a:txBody>
                    <a:bodyPr/>
                    <a:lstStyle/>
                    <a:p>
                      <a:pPr indent="0" marL="0">
                        <a:buNone/>
                      </a:pPr>
                      <a:r>
                        <a:rPr lang="en-US" sz="1300" b="1" dirty="0">
                          <a:solidFill>
                            <a:srgbClr val="FFFFFF"/>
                          </a:solidFill>
                        </a:rPr>
                        <a:t>Skipped</a:t>
                      </a:r>
                      <a:endParaRPr lang="en-US" sz="130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1457B8"/>
                    </a:solidFill>
                  </a:tcPr>
                </a:tc>
              </a:tr>
              <a:tr h="396240">
                <a:tc>
                  <a:txBody>
                    <a:bodyPr/>
                    <a:lstStyle/>
                    <a:p>
                      <a:pPr indent="0" marL="0">
                        <a:buNone/>
                      </a:pPr>
                      <a:r>
                        <a:rPr lang="en-US" sz="1300" dirty="0">
                          <a:solidFill>
                            <a:srgbClr val="1F2733"/>
                          </a:solidFill>
                        </a:rPr>
                        <a:t>sample_statement.csv</a:t>
                      </a:r>
                      <a:endParaRPr lang="en-US" sz="130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FFFFFF"/>
                    </a:solidFill>
                  </a:tcPr>
                </a:tc>
                <a:tc>
                  <a:txBody>
                    <a:bodyPr/>
                    <a:lstStyle/>
                    <a:p>
                      <a:pPr indent="0" marL="0">
                        <a:buNone/>
                      </a:pPr>
                      <a:r>
                        <a:rPr lang="en-US" sz="1300" dirty="0">
                          <a:solidFill>
                            <a:srgbClr val="1F2733"/>
                          </a:solidFill>
                        </a:rPr>
                        <a:t>Unknown</a:t>
                      </a:r>
                      <a:endParaRPr lang="en-US" sz="130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FFFFFF"/>
                    </a:solidFill>
                  </a:tcPr>
                </a:tc>
                <a:tc>
                  <a:txBody>
                    <a:bodyPr/>
                    <a:lstStyle/>
                    <a:p>
                      <a:pPr indent="0" marL="0">
                        <a:buNone/>
                      </a:pPr>
                      <a:r>
                        <a:rPr lang="en-US" sz="1300" dirty="0">
                          <a:solidFill>
                            <a:srgbClr val="1F2733"/>
                          </a:solidFill>
                        </a:rPr>
                        <a:t>30</a:t>
                      </a:r>
                      <a:endParaRPr lang="en-US" sz="130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FFFFFF"/>
                    </a:solidFill>
                  </a:tcPr>
                </a:tc>
                <a:tc>
                  <a:txBody>
                    <a:bodyPr/>
                    <a:lstStyle/>
                    <a:p>
                      <a:pPr indent="0" marL="0">
                        <a:buNone/>
                      </a:pPr>
                      <a:r>
                        <a:rPr lang="en-US" sz="1300" dirty="0">
                          <a:solidFill>
                            <a:srgbClr val="1F2733"/>
                          </a:solidFill>
                        </a:rPr>
                        <a:t>0</a:t>
                      </a:r>
                      <a:endParaRPr lang="en-US" sz="130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FFFFFF"/>
                    </a:solidFill>
                  </a:tcPr>
                </a:tc>
              </a:tr>
              <a:tr h="396240">
                <a:tc>
                  <a:txBody>
                    <a:bodyPr/>
                    <a:lstStyle/>
                    <a:p>
                      <a:pPr indent="0" marL="0">
                        <a:buNone/>
                      </a:pPr>
                      <a:r>
                        <a:rPr lang="en-US" sz="1300" dirty="0">
                          <a:solidFill>
                            <a:srgbClr val="1F2733"/>
                          </a:solidFill>
                        </a:rPr>
                        <a:t>hdfc_statement.csv</a:t>
                      </a:r>
                      <a:endParaRPr lang="en-US" sz="130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F2F6FC"/>
                    </a:solidFill>
                  </a:tcPr>
                </a:tc>
                <a:tc>
                  <a:txBody>
                    <a:bodyPr/>
                    <a:lstStyle/>
                    <a:p>
                      <a:pPr indent="0" marL="0">
                        <a:buNone/>
                      </a:pPr>
                      <a:r>
                        <a:rPr lang="en-US" sz="1300" dirty="0">
                          <a:solidFill>
                            <a:srgbClr val="1F2733"/>
                          </a:solidFill>
                        </a:rPr>
                        <a:t>HDFC</a:t>
                      </a:r>
                      <a:endParaRPr lang="en-US" sz="130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F2F6FC"/>
                    </a:solidFill>
                  </a:tcPr>
                </a:tc>
                <a:tc>
                  <a:txBody>
                    <a:bodyPr/>
                    <a:lstStyle/>
                    <a:p>
                      <a:pPr indent="0" marL="0">
                        <a:buNone/>
                      </a:pPr>
                      <a:r>
                        <a:rPr lang="en-US" sz="1300" dirty="0">
                          <a:solidFill>
                            <a:srgbClr val="1F2733"/>
                          </a:solidFill>
                        </a:rPr>
                        <a:t>40</a:t>
                      </a:r>
                      <a:endParaRPr lang="en-US" sz="130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F2F6FC"/>
                    </a:solidFill>
                  </a:tcPr>
                </a:tc>
                <a:tc>
                  <a:txBody>
                    <a:bodyPr/>
                    <a:lstStyle/>
                    <a:p>
                      <a:pPr indent="0" marL="0">
                        <a:buNone/>
                      </a:pPr>
                      <a:r>
                        <a:rPr lang="en-US" sz="1300" dirty="0">
                          <a:solidFill>
                            <a:srgbClr val="1F2733"/>
                          </a:solidFill>
                        </a:rPr>
                        <a:t>0 (6 preamble rows)</a:t>
                      </a:r>
                      <a:endParaRPr lang="en-US" sz="130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F2F6FC"/>
                    </a:solidFill>
                  </a:tcPr>
                </a:tc>
              </a:tr>
              <a:tr h="396240">
                <a:tc>
                  <a:txBody>
                    <a:bodyPr/>
                    <a:lstStyle/>
                    <a:p>
                      <a:pPr indent="0" marL="0">
                        <a:buNone/>
                      </a:pPr>
                      <a:r>
                        <a:rPr lang="en-US" sz="1300" dirty="0">
                          <a:solidFill>
                            <a:srgbClr val="1F2733"/>
                          </a:solidFill>
                        </a:rPr>
                        <a:t>icici_statement.csv</a:t>
                      </a:r>
                      <a:endParaRPr lang="en-US" sz="130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FFFFFF"/>
                    </a:solidFill>
                  </a:tcPr>
                </a:tc>
                <a:tc>
                  <a:txBody>
                    <a:bodyPr/>
                    <a:lstStyle/>
                    <a:p>
                      <a:pPr indent="0" marL="0">
                        <a:buNone/>
                      </a:pPr>
                      <a:r>
                        <a:rPr lang="en-US" sz="1300" dirty="0">
                          <a:solidFill>
                            <a:srgbClr val="1F2733"/>
                          </a:solidFill>
                        </a:rPr>
                        <a:t>ICICI</a:t>
                      </a:r>
                      <a:endParaRPr lang="en-US" sz="130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FFFFFF"/>
                    </a:solidFill>
                  </a:tcPr>
                </a:tc>
                <a:tc>
                  <a:txBody>
                    <a:bodyPr/>
                    <a:lstStyle/>
                    <a:p>
                      <a:pPr indent="0" marL="0">
                        <a:buNone/>
                      </a:pPr>
                      <a:r>
                        <a:rPr lang="en-US" sz="1300" dirty="0">
                          <a:solidFill>
                            <a:srgbClr val="1F2733"/>
                          </a:solidFill>
                        </a:rPr>
                        <a:t>35</a:t>
                      </a:r>
                      <a:endParaRPr lang="en-US" sz="130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FFFFFF"/>
                    </a:solidFill>
                  </a:tcPr>
                </a:tc>
                <a:tc>
                  <a:txBody>
                    <a:bodyPr/>
                    <a:lstStyle/>
                    <a:p>
                      <a:pPr indent="0" marL="0">
                        <a:buNone/>
                      </a:pPr>
                      <a:r>
                        <a:rPr lang="en-US" sz="1300" dirty="0">
                          <a:solidFill>
                            <a:srgbClr val="1F2733"/>
                          </a:solidFill>
                        </a:rPr>
                        <a:t>0 (Amount + Dr/Cr column)</a:t>
                      </a:r>
                      <a:endParaRPr lang="en-US" sz="130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FFFFFF"/>
                    </a:solidFill>
                  </a:tcPr>
                </a:tc>
              </a:tr>
              <a:tr h="396240">
                <a:tc>
                  <a:txBody>
                    <a:bodyPr/>
                    <a:lstStyle/>
                    <a:p>
                      <a:pPr indent="0" marL="0">
                        <a:buNone/>
                      </a:pPr>
                      <a:r>
                        <a:rPr lang="en-US" sz="1300" dirty="0">
                          <a:solidFill>
                            <a:srgbClr val="1F2733"/>
                          </a:solidFill>
                        </a:rPr>
                        <a:t>axis_statement.csv</a:t>
                      </a:r>
                      <a:endParaRPr lang="en-US" sz="130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F2F6FC"/>
                    </a:solidFill>
                  </a:tcPr>
                </a:tc>
                <a:tc>
                  <a:txBody>
                    <a:bodyPr/>
                    <a:lstStyle/>
                    <a:p>
                      <a:pPr indent="0" marL="0">
                        <a:buNone/>
                      </a:pPr>
                      <a:r>
                        <a:rPr lang="en-US" sz="1300" dirty="0">
                          <a:solidFill>
                            <a:srgbClr val="1F2733"/>
                          </a:solidFill>
                        </a:rPr>
                        <a:t>Axis</a:t>
                      </a:r>
                      <a:endParaRPr lang="en-US" sz="130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F2F6FC"/>
                    </a:solidFill>
                  </a:tcPr>
                </a:tc>
                <a:tc>
                  <a:txBody>
                    <a:bodyPr/>
                    <a:lstStyle/>
                    <a:p>
                      <a:pPr indent="0" marL="0">
                        <a:buNone/>
                      </a:pPr>
                      <a:r>
                        <a:rPr lang="en-US" sz="1300" dirty="0">
                          <a:solidFill>
                            <a:srgbClr val="1F2733"/>
                          </a:solidFill>
                        </a:rPr>
                        <a:t>30</a:t>
                      </a:r>
                      <a:endParaRPr lang="en-US" sz="130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F2F6FC"/>
                    </a:solidFill>
                  </a:tcPr>
                </a:tc>
                <a:tc>
                  <a:txBody>
                    <a:bodyPr/>
                    <a:lstStyle/>
                    <a:p>
                      <a:pPr indent="0" marL="0">
                        <a:buNone/>
                      </a:pPr>
                      <a:r>
                        <a:rPr lang="en-US" sz="1300" dirty="0">
                          <a:solidFill>
                            <a:srgbClr val="1F2733"/>
                          </a:solidFill>
                        </a:rPr>
                        <a:t>1 (opening balance)</a:t>
                      </a:r>
                      <a:endParaRPr lang="en-US" sz="130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F2F6FC"/>
                    </a:solidFill>
                  </a:tcPr>
                </a:tc>
              </a:tr>
              <a:tr h="396240">
                <a:tc>
                  <a:txBody>
                    <a:bodyPr/>
                    <a:lstStyle/>
                    <a:p>
                      <a:pPr indent="0" marL="0">
                        <a:buNone/>
                      </a:pPr>
                      <a:r>
                        <a:rPr lang="en-US" sz="1300" dirty="0">
                          <a:solidFill>
                            <a:srgbClr val="1F2733"/>
                          </a:solidFill>
                        </a:rPr>
                        <a:t>sample_statement.pdf</a:t>
                      </a:r>
                      <a:endParaRPr lang="en-US" sz="130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FFFFFF"/>
                    </a:solidFill>
                  </a:tcPr>
                </a:tc>
                <a:tc>
                  <a:txBody>
                    <a:bodyPr/>
                    <a:lstStyle/>
                    <a:p>
                      <a:pPr indent="0" marL="0">
                        <a:buNone/>
                      </a:pPr>
                      <a:r>
                        <a:rPr lang="en-US" sz="1300" dirty="0">
                          <a:solidFill>
                            <a:srgbClr val="1F2733"/>
                          </a:solidFill>
                        </a:rPr>
                        <a:t>Unknown</a:t>
                      </a:r>
                      <a:endParaRPr lang="en-US" sz="130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FFFFFF"/>
                    </a:solidFill>
                  </a:tcPr>
                </a:tc>
                <a:tc>
                  <a:txBody>
                    <a:bodyPr/>
                    <a:lstStyle/>
                    <a:p>
                      <a:pPr indent="0" marL="0">
                        <a:buNone/>
                      </a:pPr>
                      <a:r>
                        <a:rPr lang="en-US" sz="1300" dirty="0">
                          <a:solidFill>
                            <a:srgbClr val="1F2733"/>
                          </a:solidFill>
                        </a:rPr>
                        <a:t>30</a:t>
                      </a:r>
                      <a:endParaRPr lang="en-US" sz="130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FFFFFF"/>
                    </a:solidFill>
                  </a:tcPr>
                </a:tc>
                <a:tc>
                  <a:txBody>
                    <a:bodyPr/>
                    <a:lstStyle/>
                    <a:p>
                      <a:pPr indent="0" marL="0">
                        <a:buNone/>
                      </a:pPr>
                      <a:r>
                        <a:rPr lang="en-US" sz="1300" dirty="0">
                          <a:solidFill>
                            <a:srgbClr val="1F2733"/>
                          </a:solidFill>
                        </a:rPr>
                        <a:t>1 (no ruled table)</a:t>
                      </a:r>
                      <a:endParaRPr lang="en-US" sz="130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4206240"/>
            <a:ext cx="11064240" cy="1874520"/>
          </a:xfrm>
          <a:prstGeom prst="roundRect">
            <a:avLst>
              <a:gd name="adj" fmla="val 3902"/>
            </a:avLst>
          </a:prstGeom>
          <a:solidFill>
            <a:srgbClr val="FFFFFF"/>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6" name="Text 3"/>
          <p:cNvSpPr/>
          <p:nvPr/>
        </p:nvSpPr>
        <p:spPr>
          <a:xfrm>
            <a:off x="822960" y="4370832"/>
            <a:ext cx="10515600" cy="320040"/>
          </a:xfrm>
          <a:prstGeom prst="rect">
            <a:avLst/>
          </a:prstGeom>
          <a:noFill/>
          <a:ln/>
        </p:spPr>
        <p:txBody>
          <a:bodyPr wrap="square" lIns="0" tIns="0" rIns="0" bIns="0" rtlCol="0" anchor="ctr"/>
          <a:lstStyle/>
          <a:p>
            <a:pPr indent="0" marL="0">
              <a:buNone/>
            </a:pPr>
            <a:r>
              <a:rPr lang="en-US" sz="1350" b="1" dirty="0">
                <a:solidFill>
                  <a:srgbClr val="1457B8"/>
                </a:solidFill>
              </a:rPr>
              <a:t>Direction is resolved in a fixed order:</a:t>
            </a:r>
            <a:endParaRPr lang="en-US" sz="1350" dirty="0"/>
          </a:p>
        </p:txBody>
      </p:sp>
      <p:sp>
        <p:nvSpPr>
          <p:cNvPr id="7" name="Text 4"/>
          <p:cNvSpPr/>
          <p:nvPr/>
        </p:nvSpPr>
        <p:spPr>
          <a:xfrm>
            <a:off x="822960" y="4709160"/>
            <a:ext cx="10515600" cy="457200"/>
          </a:xfrm>
          <a:prstGeom prst="rect">
            <a:avLst/>
          </a:prstGeom>
          <a:noFill/>
          <a:ln/>
        </p:spPr>
        <p:txBody>
          <a:bodyPr wrap="square" lIns="0" tIns="0" rIns="0" bIns="0" rtlCol="0" anchor="ctr"/>
          <a:lstStyle/>
          <a:p>
            <a:pPr indent="0" marL="0">
              <a:buNone/>
            </a:pPr>
            <a:r>
              <a:rPr lang="en-US" sz="1300" dirty="0">
                <a:solidFill>
                  <a:srgbClr val="1F2733"/>
                </a:solidFill>
              </a:rPr>
              <a:t>Explicit Dr/Cr column  →  Dr/Cr suffix on the value  →  sign of the number  →  movement of the running balance</a:t>
            </a:r>
            <a:endParaRPr lang="en-US" sz="1300" dirty="0"/>
          </a:p>
        </p:txBody>
      </p:sp>
      <p:sp>
        <p:nvSpPr>
          <p:cNvPr id="8" name="Text 5"/>
          <p:cNvSpPr/>
          <p:nvPr/>
        </p:nvSpPr>
        <p:spPr>
          <a:xfrm>
            <a:off x="822960" y="5212080"/>
            <a:ext cx="10515600" cy="640080"/>
          </a:xfrm>
          <a:prstGeom prst="rect">
            <a:avLst/>
          </a:prstGeom>
          <a:noFill/>
          <a:ln/>
        </p:spPr>
        <p:txBody>
          <a:bodyPr wrap="square" lIns="0" tIns="0" rIns="0" bIns="0" rtlCol="0" anchor="ctr"/>
          <a:lstStyle/>
          <a:p>
            <a:pPr indent="0" marL="0">
              <a:buNone/>
            </a:pPr>
            <a:r>
              <a:rPr lang="en-US" sz="1200" i="1" dirty="0">
                <a:solidFill>
                  <a:srgbClr val="6B7787"/>
                </a:solidFill>
              </a:rPr>
              <a:t>The Axis sample above carries no explicit marker at all — its direction is resolved entirely from the fourth rule.</a:t>
            </a:r>
            <a:endParaRPr lang="en-US" sz="1200" dirty="0"/>
          </a:p>
        </p:txBody>
      </p:sp>
      <p:sp>
        <p:nvSpPr>
          <p:cNvPr id="9" name="Text 6"/>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B7787"/>
                </a:solidFill>
              </a:rPr>
              <a:t>SmartEdit AI  ·  Final Viva Presentation</a:t>
            </a:r>
            <a:endParaRPr lang="en-US" sz="900" dirty="0"/>
          </a:p>
        </p:txBody>
      </p:sp>
      <p:sp>
        <p:nvSpPr>
          <p:cNvPr id="10" name="Text 7"/>
          <p:cNvSpPr/>
          <p:nvPr/>
        </p:nvSpPr>
        <p:spPr>
          <a:xfrm>
            <a:off x="10972800" y="6446520"/>
            <a:ext cx="731520" cy="274320"/>
          </a:xfrm>
          <a:prstGeom prst="rect">
            <a:avLst/>
          </a:prstGeom>
          <a:noFill/>
          <a:ln/>
        </p:spPr>
        <p:txBody>
          <a:bodyPr wrap="square" rtlCol="0" anchor="ctr"/>
          <a:lstStyle/>
          <a:p>
            <a:pPr algn="r" indent="0" marL="0">
              <a:buNone/>
            </a:pPr>
            <a:r>
              <a:rPr lang="en-US" sz="900" dirty="0">
                <a:solidFill>
                  <a:srgbClr val="6B7787"/>
                </a:solidFill>
              </a:rPr>
              <a:t>9 / 29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9FC"/>
        </a:solidFill>
      </p:bgPr>
    </p:bg>
    <p:spTree>
      <p:nvGrpSpPr>
        <p:cNvPr id="1" name=""/>
        <p:cNvGrpSpPr/>
        <p:nvPr/>
      </p:nvGrpSpPr>
      <p:grpSpPr>
        <a:xfrm>
          <a:off x="0" y="0"/>
          <a:ext cx="0" cy="0"/>
          <a:chOff x="0" y="0"/>
          <a:chExt cx="0" cy="0"/>
        </a:xfrm>
      </p:grpSpPr>
      <p:sp>
        <p:nvSpPr>
          <p:cNvPr id="2" name="Text 0"/>
          <p:cNvSpPr/>
          <p:nvPr/>
        </p:nvSpPr>
        <p:spPr>
          <a:xfrm>
            <a:off x="457200" y="365760"/>
            <a:ext cx="11247120" cy="548640"/>
          </a:xfrm>
          <a:prstGeom prst="rect">
            <a:avLst/>
          </a:prstGeom>
          <a:noFill/>
          <a:ln/>
        </p:spPr>
        <p:txBody>
          <a:bodyPr wrap="square" lIns="0" tIns="0" rIns="0" bIns="0" rtlCol="0" anchor="ctr"/>
          <a:lstStyle/>
          <a:p>
            <a:pPr indent="0" marL="0">
              <a:buNone/>
            </a:pPr>
            <a:r>
              <a:rPr lang="en-US" sz="3000" b="1" dirty="0">
                <a:solidFill>
                  <a:srgbClr val="1457B8"/>
                </a:solidFill>
                <a:latin typeface="Georgia" pitchFamily="34" charset="0"/>
                <a:ea typeface="Georgia" pitchFamily="34" charset="-122"/>
                <a:cs typeface="Georgia" pitchFamily="34" charset="-120"/>
              </a:rPr>
              <a:t>Parsing Edge Cases That Mattered</a:t>
            </a:r>
            <a:endParaRPr lang="en-US" sz="3000" dirty="0"/>
          </a:p>
        </p:txBody>
      </p:sp>
      <p:sp>
        <p:nvSpPr>
          <p:cNvPr id="3" name="Shape 1"/>
          <p:cNvSpPr/>
          <p:nvPr/>
        </p:nvSpPr>
        <p:spPr>
          <a:xfrm>
            <a:off x="548640" y="1508760"/>
            <a:ext cx="5486400" cy="1371600"/>
          </a:xfrm>
          <a:prstGeom prst="roundRect">
            <a:avLst>
              <a:gd name="adj" fmla="val 5333"/>
            </a:avLst>
          </a:prstGeom>
          <a:solidFill>
            <a:srgbClr val="FFFFFF"/>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4" name="Text 2"/>
          <p:cNvSpPr/>
          <p:nvPr/>
        </p:nvSpPr>
        <p:spPr>
          <a:xfrm>
            <a:off x="777240" y="1618488"/>
            <a:ext cx="5029200" cy="365760"/>
          </a:xfrm>
          <a:prstGeom prst="rect">
            <a:avLst/>
          </a:prstGeom>
          <a:noFill/>
          <a:ln/>
        </p:spPr>
        <p:txBody>
          <a:bodyPr wrap="square" lIns="0" tIns="0" rIns="0" bIns="0" rtlCol="0" anchor="ctr"/>
          <a:lstStyle/>
          <a:p>
            <a:pPr indent="0" marL="0">
              <a:buNone/>
            </a:pPr>
            <a:r>
              <a:rPr lang="en-US" sz="1350" b="1" dirty="0">
                <a:solidFill>
                  <a:srgbClr val="1457B8"/>
                </a:solidFill>
              </a:rPr>
              <a:t>Preamble above the header</a:t>
            </a:r>
            <a:endParaRPr lang="en-US" sz="1350" dirty="0"/>
          </a:p>
        </p:txBody>
      </p:sp>
      <p:sp>
        <p:nvSpPr>
          <p:cNvPr id="5" name="Text 3"/>
          <p:cNvSpPr/>
          <p:nvPr/>
        </p:nvSpPr>
        <p:spPr>
          <a:xfrm>
            <a:off x="777240" y="1984248"/>
            <a:ext cx="5029200" cy="822960"/>
          </a:xfrm>
          <a:prstGeom prst="rect">
            <a:avLst/>
          </a:prstGeom>
          <a:noFill/>
          <a:ln/>
        </p:spPr>
        <p:txBody>
          <a:bodyPr wrap="square" lIns="0" tIns="0" rIns="0" bIns="0" rtlCol="0" anchor="ctr"/>
          <a:lstStyle/>
          <a:p>
            <a:pPr indent="0" marL="0">
              <a:buNone/>
            </a:pPr>
            <a:r>
              <a:rPr lang="en-US" sz="1100" dirty="0">
                <a:solidFill>
                  <a:srgbClr val="6B7787"/>
                </a:solidFill>
              </a:rPr>
              <a:t>Real SBI and ICICI exports carry account details and blank rows before the transaction table. The parser scores each of the first 25 rows as a header candidate rather than assuming row one.</a:t>
            </a:r>
            <a:endParaRPr lang="en-US" sz="1100" dirty="0"/>
          </a:p>
        </p:txBody>
      </p:sp>
      <p:sp>
        <p:nvSpPr>
          <p:cNvPr id="6" name="Shape 4"/>
          <p:cNvSpPr/>
          <p:nvPr/>
        </p:nvSpPr>
        <p:spPr>
          <a:xfrm>
            <a:off x="6309360" y="1508760"/>
            <a:ext cx="5486400" cy="1371600"/>
          </a:xfrm>
          <a:prstGeom prst="roundRect">
            <a:avLst>
              <a:gd name="adj" fmla="val 5333"/>
            </a:avLst>
          </a:prstGeom>
          <a:solidFill>
            <a:srgbClr val="FFFFFF"/>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7" name="Text 5"/>
          <p:cNvSpPr/>
          <p:nvPr/>
        </p:nvSpPr>
        <p:spPr>
          <a:xfrm>
            <a:off x="6537960" y="1618488"/>
            <a:ext cx="5029200" cy="365760"/>
          </a:xfrm>
          <a:prstGeom prst="rect">
            <a:avLst/>
          </a:prstGeom>
          <a:noFill/>
          <a:ln/>
        </p:spPr>
        <p:txBody>
          <a:bodyPr wrap="square" lIns="0" tIns="0" rIns="0" bIns="0" rtlCol="0" anchor="ctr"/>
          <a:lstStyle/>
          <a:p>
            <a:pPr indent="0" marL="0">
              <a:buNone/>
            </a:pPr>
            <a:r>
              <a:rPr lang="en-US" sz="1350" b="1" dirty="0">
                <a:solidFill>
                  <a:srgbClr val="1457B8"/>
                </a:solidFill>
              </a:rPr>
              <a:t>No explicit Dr/Cr marker</a:t>
            </a:r>
            <a:endParaRPr lang="en-US" sz="1350" dirty="0"/>
          </a:p>
        </p:txBody>
      </p:sp>
      <p:sp>
        <p:nvSpPr>
          <p:cNvPr id="8" name="Text 6"/>
          <p:cNvSpPr/>
          <p:nvPr/>
        </p:nvSpPr>
        <p:spPr>
          <a:xfrm>
            <a:off x="6537960" y="1984248"/>
            <a:ext cx="5029200" cy="822960"/>
          </a:xfrm>
          <a:prstGeom prst="rect">
            <a:avLst/>
          </a:prstGeom>
          <a:noFill/>
          <a:ln/>
        </p:spPr>
        <p:txBody>
          <a:bodyPr wrap="square" lIns="0" tIns="0" rIns="0" bIns="0" rtlCol="0" anchor="ctr"/>
          <a:lstStyle/>
          <a:p>
            <a:pPr indent="0" marL="0">
              <a:buNone/>
            </a:pPr>
            <a:r>
              <a:rPr lang="en-US" sz="1100" dirty="0">
                <a:solidFill>
                  <a:srgbClr val="6B7787"/>
                </a:solidFill>
              </a:rPr>
              <a:t>Axis-style statements are read by falling through to the movement of the running balance, the last resort in the direction-resolution order.</a:t>
            </a:r>
            <a:endParaRPr lang="en-US" sz="1100" dirty="0"/>
          </a:p>
        </p:txBody>
      </p:sp>
      <p:sp>
        <p:nvSpPr>
          <p:cNvPr id="9" name="Shape 7"/>
          <p:cNvSpPr/>
          <p:nvPr/>
        </p:nvSpPr>
        <p:spPr>
          <a:xfrm>
            <a:off x="548640" y="3063240"/>
            <a:ext cx="5486400" cy="1371600"/>
          </a:xfrm>
          <a:prstGeom prst="roundRect">
            <a:avLst>
              <a:gd name="adj" fmla="val 5333"/>
            </a:avLst>
          </a:prstGeom>
          <a:solidFill>
            <a:srgbClr val="FFFFFF"/>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10" name="Text 8"/>
          <p:cNvSpPr/>
          <p:nvPr/>
        </p:nvSpPr>
        <p:spPr>
          <a:xfrm>
            <a:off x="777240" y="3172968"/>
            <a:ext cx="5029200" cy="365760"/>
          </a:xfrm>
          <a:prstGeom prst="rect">
            <a:avLst/>
          </a:prstGeom>
          <a:noFill/>
          <a:ln/>
        </p:spPr>
        <p:txBody>
          <a:bodyPr wrap="square" lIns="0" tIns="0" rIns="0" bIns="0" rtlCol="0" anchor="ctr"/>
          <a:lstStyle/>
          <a:p>
            <a:pPr indent="0" marL="0">
              <a:buNone/>
            </a:pPr>
            <a:r>
              <a:rPr lang="en-US" sz="1350" b="1" dirty="0">
                <a:solidFill>
                  <a:srgbClr val="1457B8"/>
                </a:solidFill>
              </a:rPr>
              <a:t>Indian amount formats</a:t>
            </a:r>
            <a:endParaRPr lang="en-US" sz="1350" dirty="0"/>
          </a:p>
        </p:txBody>
      </p:sp>
      <p:sp>
        <p:nvSpPr>
          <p:cNvPr id="11" name="Text 9"/>
          <p:cNvSpPr/>
          <p:nvPr/>
        </p:nvSpPr>
        <p:spPr>
          <a:xfrm>
            <a:off x="777240" y="3538728"/>
            <a:ext cx="5029200" cy="822960"/>
          </a:xfrm>
          <a:prstGeom prst="rect">
            <a:avLst/>
          </a:prstGeom>
          <a:noFill/>
          <a:ln/>
        </p:spPr>
        <p:txBody>
          <a:bodyPr wrap="square" lIns="0" tIns="0" rIns="0" bIns="0" rtlCol="0" anchor="ctr"/>
          <a:lstStyle/>
          <a:p>
            <a:pPr indent="0" marL="0">
              <a:buNone/>
            </a:pPr>
            <a:r>
              <a:rPr lang="en-US" sz="1100" dirty="0">
                <a:solidFill>
                  <a:srgbClr val="6B7787"/>
                </a:solidFill>
              </a:rPr>
              <a:t>1,23,456.00 · Rs. 4,500 · (2,000.50) for a withdrawal · a trailing Dr or Cr — all handled explicitly.</a:t>
            </a:r>
            <a:endParaRPr lang="en-US" sz="1100" dirty="0"/>
          </a:p>
        </p:txBody>
      </p:sp>
      <p:sp>
        <p:nvSpPr>
          <p:cNvPr id="12" name="Shape 10"/>
          <p:cNvSpPr/>
          <p:nvPr/>
        </p:nvSpPr>
        <p:spPr>
          <a:xfrm>
            <a:off x="6309360" y="3063240"/>
            <a:ext cx="5486400" cy="1371600"/>
          </a:xfrm>
          <a:prstGeom prst="roundRect">
            <a:avLst>
              <a:gd name="adj" fmla="val 5333"/>
            </a:avLst>
          </a:prstGeom>
          <a:solidFill>
            <a:srgbClr val="FFFFFF"/>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13" name="Text 11"/>
          <p:cNvSpPr/>
          <p:nvPr/>
        </p:nvSpPr>
        <p:spPr>
          <a:xfrm>
            <a:off x="6537960" y="3172968"/>
            <a:ext cx="5029200" cy="365760"/>
          </a:xfrm>
          <a:prstGeom prst="rect">
            <a:avLst/>
          </a:prstGeom>
          <a:noFill/>
          <a:ln/>
        </p:spPr>
        <p:txBody>
          <a:bodyPr wrap="square" lIns="0" tIns="0" rIns="0" bIns="0" rtlCol="0" anchor="ctr"/>
          <a:lstStyle/>
          <a:p>
            <a:pPr indent="0" marL="0">
              <a:buNone/>
            </a:pPr>
            <a:r>
              <a:rPr lang="en-US" sz="1350" b="1" dirty="0">
                <a:solidFill>
                  <a:srgbClr val="1457B8"/>
                </a:solidFill>
              </a:rPr>
              <a:t>PDFs with no ruled table</a:t>
            </a:r>
            <a:endParaRPr lang="en-US" sz="1350" dirty="0"/>
          </a:p>
        </p:txBody>
      </p:sp>
      <p:sp>
        <p:nvSpPr>
          <p:cNvPr id="14" name="Text 12"/>
          <p:cNvSpPr/>
          <p:nvPr/>
        </p:nvSpPr>
        <p:spPr>
          <a:xfrm>
            <a:off x="6537960" y="3538728"/>
            <a:ext cx="5029200" cy="822960"/>
          </a:xfrm>
          <a:prstGeom prst="rect">
            <a:avLst/>
          </a:prstGeom>
          <a:noFill/>
          <a:ln/>
        </p:spPr>
        <p:txBody>
          <a:bodyPr wrap="square" lIns="0" tIns="0" rIns="0" bIns="0" rtlCol="0" anchor="ctr"/>
          <a:lstStyle/>
          <a:p>
            <a:pPr indent="0" marL="0">
              <a:buNone/>
            </a:pPr>
            <a:r>
              <a:rPr lang="en-US" sz="1100" dirty="0">
                <a:solidFill>
                  <a:srgbClr val="6B7787"/>
                </a:solidFill>
              </a:rPr>
              <a:t>Falls back to line-by-line regular-expression parsing of the extracted text.</a:t>
            </a:r>
            <a:endParaRPr lang="en-US" sz="1100" dirty="0"/>
          </a:p>
        </p:txBody>
      </p:sp>
      <p:sp>
        <p:nvSpPr>
          <p:cNvPr id="15" name="Shape 13"/>
          <p:cNvSpPr/>
          <p:nvPr/>
        </p:nvSpPr>
        <p:spPr>
          <a:xfrm>
            <a:off x="548640" y="4617720"/>
            <a:ext cx="5486400" cy="1371600"/>
          </a:xfrm>
          <a:prstGeom prst="roundRect">
            <a:avLst>
              <a:gd name="adj" fmla="val 5333"/>
            </a:avLst>
          </a:prstGeom>
          <a:solidFill>
            <a:srgbClr val="FFFFFF"/>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16" name="Text 14"/>
          <p:cNvSpPr/>
          <p:nvPr/>
        </p:nvSpPr>
        <p:spPr>
          <a:xfrm>
            <a:off x="777240" y="4727448"/>
            <a:ext cx="5029200" cy="365760"/>
          </a:xfrm>
          <a:prstGeom prst="rect">
            <a:avLst/>
          </a:prstGeom>
          <a:noFill/>
          <a:ln/>
        </p:spPr>
        <p:txBody>
          <a:bodyPr wrap="square" lIns="0" tIns="0" rIns="0" bIns="0" rtlCol="0" anchor="ctr"/>
          <a:lstStyle/>
          <a:p>
            <a:pPr indent="0" marL="0">
              <a:buNone/>
            </a:pPr>
            <a:r>
              <a:rPr lang="en-US" sz="1350" b="1" dirty="0">
                <a:solidFill>
                  <a:srgbClr val="1457B8"/>
                </a:solidFill>
              </a:rPr>
              <a:t>Password-protected PDFs</a:t>
            </a:r>
            <a:endParaRPr lang="en-US" sz="1350" dirty="0"/>
          </a:p>
        </p:txBody>
      </p:sp>
      <p:sp>
        <p:nvSpPr>
          <p:cNvPr id="17" name="Text 15"/>
          <p:cNvSpPr/>
          <p:nvPr/>
        </p:nvSpPr>
        <p:spPr>
          <a:xfrm>
            <a:off x="777240" y="5093208"/>
            <a:ext cx="5029200" cy="822960"/>
          </a:xfrm>
          <a:prstGeom prst="rect">
            <a:avLst/>
          </a:prstGeom>
          <a:noFill/>
          <a:ln/>
        </p:spPr>
        <p:txBody>
          <a:bodyPr wrap="square" lIns="0" tIns="0" rIns="0" bIns="0" rtlCol="0" anchor="ctr"/>
          <a:lstStyle/>
          <a:p>
            <a:pPr indent="0" marL="0">
              <a:buNone/>
            </a:pPr>
            <a:r>
              <a:rPr lang="en-US" sz="1100" dirty="0">
                <a:solidFill>
                  <a:srgbClr val="6B7787"/>
                </a:solidFill>
              </a:rPr>
              <a:t>Raises a plain-English message rather than a stack trace.</a:t>
            </a:r>
            <a:endParaRPr lang="en-US" sz="1100" dirty="0"/>
          </a:p>
        </p:txBody>
      </p:sp>
      <p:sp>
        <p:nvSpPr>
          <p:cNvPr id="18" name="Shape 16"/>
          <p:cNvSpPr/>
          <p:nvPr/>
        </p:nvSpPr>
        <p:spPr>
          <a:xfrm>
            <a:off x="6309360" y="4617720"/>
            <a:ext cx="5486400" cy="1371600"/>
          </a:xfrm>
          <a:prstGeom prst="roundRect">
            <a:avLst>
              <a:gd name="adj" fmla="val 5333"/>
            </a:avLst>
          </a:prstGeom>
          <a:solidFill>
            <a:srgbClr val="FFFFFF"/>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19" name="Text 17"/>
          <p:cNvSpPr/>
          <p:nvPr/>
        </p:nvSpPr>
        <p:spPr>
          <a:xfrm>
            <a:off x="6537960" y="4727448"/>
            <a:ext cx="5029200" cy="365760"/>
          </a:xfrm>
          <a:prstGeom prst="rect">
            <a:avLst/>
          </a:prstGeom>
          <a:noFill/>
          <a:ln/>
        </p:spPr>
        <p:txBody>
          <a:bodyPr wrap="square" lIns="0" tIns="0" rIns="0" bIns="0" rtlCol="0" anchor="ctr"/>
          <a:lstStyle/>
          <a:p>
            <a:pPr indent="0" marL="0">
              <a:buNone/>
            </a:pPr>
            <a:r>
              <a:rPr lang="en-US" sz="1350" b="1" dirty="0">
                <a:solidFill>
                  <a:srgbClr val="1457B8"/>
                </a:solidFill>
              </a:rPr>
              <a:t>Balance and sub-total rows</a:t>
            </a:r>
            <a:endParaRPr lang="en-US" sz="1350" dirty="0"/>
          </a:p>
        </p:txBody>
      </p:sp>
      <p:sp>
        <p:nvSpPr>
          <p:cNvPr id="20" name="Text 18"/>
          <p:cNvSpPr/>
          <p:nvPr/>
        </p:nvSpPr>
        <p:spPr>
          <a:xfrm>
            <a:off x="6537960" y="5093208"/>
            <a:ext cx="5029200" cy="822960"/>
          </a:xfrm>
          <a:prstGeom prst="rect">
            <a:avLst/>
          </a:prstGeom>
          <a:noFill/>
          <a:ln/>
        </p:spPr>
        <p:txBody>
          <a:bodyPr wrap="square" lIns="0" tIns="0" rIns="0" bIns="0" rtlCol="0" anchor="ctr"/>
          <a:lstStyle/>
          <a:p>
            <a:pPr indent="0" marL="0">
              <a:buNone/>
            </a:pPr>
            <a:r>
              <a:rPr lang="en-US" sz="1100" dirty="0">
                <a:solidFill>
                  <a:srgbClr val="6B7787"/>
                </a:solidFill>
              </a:rPr>
              <a:t>Recognised and rejected, counted as skipped rather than imported, so totals stay honest.</a:t>
            </a:r>
            <a:endParaRPr lang="en-US" sz="1100" dirty="0"/>
          </a:p>
        </p:txBody>
      </p:sp>
      <p:sp>
        <p:nvSpPr>
          <p:cNvPr id="21" name="Text 19"/>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B7787"/>
                </a:solidFill>
              </a:rPr>
              <a:t>SmartEdit AI  ·  Final Viva Presentation</a:t>
            </a:r>
            <a:endParaRPr lang="en-US" sz="900" dirty="0"/>
          </a:p>
        </p:txBody>
      </p:sp>
      <p:sp>
        <p:nvSpPr>
          <p:cNvPr id="22" name="Text 20"/>
          <p:cNvSpPr/>
          <p:nvPr/>
        </p:nvSpPr>
        <p:spPr>
          <a:xfrm>
            <a:off x="10972800" y="6446520"/>
            <a:ext cx="731520" cy="274320"/>
          </a:xfrm>
          <a:prstGeom prst="rect">
            <a:avLst/>
          </a:prstGeom>
          <a:noFill/>
          <a:ln/>
        </p:spPr>
        <p:txBody>
          <a:bodyPr wrap="square" rtlCol="0" anchor="ctr"/>
          <a:lstStyle/>
          <a:p>
            <a:pPr algn="r" indent="0" marL="0">
              <a:buNone/>
            </a:pPr>
            <a:r>
              <a:rPr lang="en-US" sz="900" dirty="0">
                <a:solidFill>
                  <a:srgbClr val="6B7787"/>
                </a:solidFill>
              </a:rPr>
              <a:t>10 / 29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9FC"/>
        </a:solidFill>
      </p:bgPr>
    </p:bg>
    <p:spTree>
      <p:nvGrpSpPr>
        <p:cNvPr id="1" name=""/>
        <p:cNvGrpSpPr/>
        <p:nvPr/>
      </p:nvGrpSpPr>
      <p:grpSpPr>
        <a:xfrm>
          <a:off x="0" y="0"/>
          <a:ext cx="0" cy="0"/>
          <a:chOff x="0" y="0"/>
          <a:chExt cx="0" cy="0"/>
        </a:xfrm>
      </p:grpSpPr>
      <p:sp>
        <p:nvSpPr>
          <p:cNvPr id="2" name="Text 0"/>
          <p:cNvSpPr/>
          <p:nvPr/>
        </p:nvSpPr>
        <p:spPr>
          <a:xfrm>
            <a:off x="457200" y="365760"/>
            <a:ext cx="11247120" cy="548640"/>
          </a:xfrm>
          <a:prstGeom prst="rect">
            <a:avLst/>
          </a:prstGeom>
          <a:noFill/>
          <a:ln/>
        </p:spPr>
        <p:txBody>
          <a:bodyPr wrap="square" lIns="0" tIns="0" rIns="0" bIns="0" rtlCol="0" anchor="ctr"/>
          <a:lstStyle/>
          <a:p>
            <a:pPr indent="0" marL="0">
              <a:buNone/>
            </a:pPr>
            <a:r>
              <a:rPr lang="en-US" sz="3000" b="1" dirty="0">
                <a:solidFill>
                  <a:srgbClr val="1457B8"/>
                </a:solidFill>
                <a:latin typeface="Georgia" pitchFamily="34" charset="0"/>
                <a:ea typeface="Georgia" pitchFamily="34" charset="-122"/>
                <a:cs typeface="Georgia" pitchFamily="34" charset="-120"/>
              </a:rPr>
              <a:t>Classification — the Rails-Last Rule</a:t>
            </a:r>
            <a:endParaRPr lang="en-US" sz="3000" dirty="0"/>
          </a:p>
        </p:txBody>
      </p:sp>
      <p:pic>
        <p:nvPicPr>
          <p:cNvPr id="3" name="Image 0" descr="C:\Users\Vicke\OneDrive\Desktop\Python\A_COH_10\shyam sundar\SmartEditAI\docs\diagrams\11_classifier_flow.png">    </p:cNvPr>
          <p:cNvPicPr>
            <a:picLocks noChangeAspect="1"/>
          </p:cNvPicPr>
          <p:nvPr/>
        </p:nvPicPr>
        <p:blipFill>
          <a:blip r:embed="rId1"/>
          <a:srcRect l="-10577" r="-10577" t="0" b="0"/>
          <a:stretch/>
        </p:blipFill>
        <p:spPr>
          <a:xfrm>
            <a:off x="640080" y="1463040"/>
            <a:ext cx="5760720" cy="4754880"/>
          </a:xfrm>
          <a:prstGeom prst="rect">
            <a:avLst/>
          </a:prstGeom>
        </p:spPr>
      </p:pic>
      <p:sp>
        <p:nvSpPr>
          <p:cNvPr id="4" name="Shape 1"/>
          <p:cNvSpPr/>
          <p:nvPr/>
        </p:nvSpPr>
        <p:spPr>
          <a:xfrm>
            <a:off x="6583680" y="1508760"/>
            <a:ext cx="5029200" cy="4709160"/>
          </a:xfrm>
          <a:prstGeom prst="roundRect">
            <a:avLst>
              <a:gd name="adj" fmla="val 1553"/>
            </a:avLst>
          </a:prstGeom>
          <a:solidFill>
            <a:srgbClr val="1457B8"/>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5" name="Text 2"/>
          <p:cNvSpPr/>
          <p:nvPr/>
        </p:nvSpPr>
        <p:spPr>
          <a:xfrm>
            <a:off x="6812280" y="1691640"/>
            <a:ext cx="4572000" cy="548640"/>
          </a:xfrm>
          <a:prstGeom prst="rect">
            <a:avLst/>
          </a:prstGeom>
          <a:noFill/>
          <a:ln/>
        </p:spPr>
        <p:txBody>
          <a:bodyPr wrap="square" lIns="0" tIns="0" rIns="0" bIns="0" rtlCol="0" anchor="ctr"/>
          <a:lstStyle/>
          <a:p>
            <a:pPr indent="0" marL="0">
              <a:buNone/>
            </a:pPr>
            <a:r>
              <a:rPr lang="en-US" sz="1500" b="1" dirty="0">
                <a:solidFill>
                  <a:srgbClr val="FFFFFF"/>
                </a:solidFill>
              </a:rPr>
              <a:t>17 categories. Rules first, at confidence 1.0.</a:t>
            </a:r>
            <a:endParaRPr lang="en-US" sz="1500" dirty="0"/>
          </a:p>
        </p:txBody>
      </p:sp>
      <p:sp>
        <p:nvSpPr>
          <p:cNvPr id="6" name="Text 3"/>
          <p:cNvSpPr/>
          <p:nvPr/>
        </p:nvSpPr>
        <p:spPr>
          <a:xfrm>
            <a:off x="6812280" y="2331720"/>
            <a:ext cx="4663440" cy="356616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FFFFFF"/>
                </a:solidFill>
              </a:rPr>
              <a:t>Payment rails — UPI, NEFT, IMPS, RTGS, PhonePe, GPay, Paytm — are tested last, not first.</a:t>
            </a:r>
            <a:endParaRPr lang="en-US" sz="1250" dirty="0"/>
          </a:p>
          <a:p>
            <a:pPr marL="342900" indent="-342900">
              <a:spcAft>
                <a:spcPts val="1000"/>
              </a:spcAft>
              <a:buSzPct val="100000"/>
              <a:buChar char="•"/>
            </a:pPr>
            <a:r>
              <a:rPr lang="en-US" sz="1250" dirty="0">
                <a:solidFill>
                  <a:srgbClr val="FFFFFF"/>
                </a:solidFill>
              </a:rPr>
              <a:t>A UPI payment to Swiggy is filed as Food &amp; Dining; only a payment with no identifiable merchant becomes Transfers.</a:t>
            </a:r>
            <a:endParaRPr lang="en-US" sz="1250" dirty="0"/>
          </a:p>
          <a:p>
            <a:pPr marL="342900" indent="-342900">
              <a:spcAft>
                <a:spcPts val="1000"/>
              </a:spcAft>
              <a:buSzPct val="100000"/>
              <a:buChar char="•"/>
            </a:pPr>
            <a:r>
              <a:rPr lang="en-US" sz="1250" dirty="0">
                <a:solidFill>
                  <a:srgbClr val="FFFFFF"/>
                </a:solidFill>
              </a:rPr>
              <a:t>Whatever the rules cannot place goes to a trained fallback: TF-IDF character n-grams into logistic regression, 746 labelled narrations, held-out accuracy 64.7%.</a:t>
            </a:r>
            <a:endParaRPr lang="en-US" sz="1250" dirty="0"/>
          </a:p>
          <a:p>
            <a:pPr marL="342900" indent="-342900">
              <a:spcAft>
                <a:spcPts val="1000"/>
              </a:spcAft>
              <a:buSzPct val="100000"/>
              <a:buChar char="•"/>
            </a:pPr>
            <a:r>
              <a:rPr lang="en-US" sz="1250" dirty="0">
                <a:solidFill>
                  <a:srgbClr val="FFFFFF"/>
                </a:solidFill>
              </a:rPr>
              <a:t>Below 0.35 confidence, the fallback returns Others rather than guessing.</a:t>
            </a:r>
            <a:endParaRPr lang="en-US" sz="1250" dirty="0"/>
          </a:p>
          <a:p>
            <a:pPr marL="342900" indent="-342900">
              <a:spcAft>
                <a:spcPts val="1000"/>
              </a:spcAft>
              <a:buSzPct val="100000"/>
              <a:buChar char="•"/>
            </a:pPr>
            <a:r>
              <a:rPr lang="en-US" sz="1250" dirty="0">
                <a:solidFill>
                  <a:srgbClr val="FFFFFF"/>
                </a:solidFill>
              </a:rPr>
              <a:t>If scikit-learn is absent, the module still runs on rules alone.</a:t>
            </a:r>
            <a:endParaRPr lang="en-US" sz="1250" dirty="0"/>
          </a:p>
        </p:txBody>
      </p:sp>
      <p:sp>
        <p:nvSpPr>
          <p:cNvPr id="7" name="Text 4"/>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B7787"/>
                </a:solidFill>
              </a:rPr>
              <a:t>SmartEdit AI  ·  Final Viva Presentation</a:t>
            </a:r>
            <a:endParaRPr lang="en-US" sz="900" dirty="0"/>
          </a:p>
        </p:txBody>
      </p:sp>
      <p:sp>
        <p:nvSpPr>
          <p:cNvPr id="8" name="Text 5"/>
          <p:cNvSpPr/>
          <p:nvPr/>
        </p:nvSpPr>
        <p:spPr>
          <a:xfrm>
            <a:off x="10972800" y="6446520"/>
            <a:ext cx="731520" cy="274320"/>
          </a:xfrm>
          <a:prstGeom prst="rect">
            <a:avLst/>
          </a:prstGeom>
          <a:noFill/>
          <a:ln/>
        </p:spPr>
        <p:txBody>
          <a:bodyPr wrap="square" rtlCol="0" anchor="ctr"/>
          <a:lstStyle/>
          <a:p>
            <a:pPr algn="r" indent="0" marL="0">
              <a:buNone/>
            </a:pPr>
            <a:r>
              <a:rPr lang="en-US" sz="900" dirty="0">
                <a:solidFill>
                  <a:srgbClr val="6B7787"/>
                </a:solidFill>
              </a:rPr>
              <a:t>11 / 29</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9FC"/>
        </a:solidFill>
      </p:bgPr>
    </p:bg>
    <p:spTree>
      <p:nvGrpSpPr>
        <p:cNvPr id="1" name=""/>
        <p:cNvGrpSpPr/>
        <p:nvPr/>
      </p:nvGrpSpPr>
      <p:grpSpPr>
        <a:xfrm>
          <a:off x="0" y="0"/>
          <a:ext cx="0" cy="0"/>
          <a:chOff x="0" y="0"/>
          <a:chExt cx="0" cy="0"/>
        </a:xfrm>
      </p:grpSpPr>
      <p:sp>
        <p:nvSpPr>
          <p:cNvPr id="2" name="Text 0"/>
          <p:cNvSpPr/>
          <p:nvPr/>
        </p:nvSpPr>
        <p:spPr>
          <a:xfrm>
            <a:off x="457200" y="365760"/>
            <a:ext cx="11247120" cy="548640"/>
          </a:xfrm>
          <a:prstGeom prst="rect">
            <a:avLst/>
          </a:prstGeom>
          <a:noFill/>
          <a:ln/>
        </p:spPr>
        <p:txBody>
          <a:bodyPr wrap="square" lIns="0" tIns="0" rIns="0" bIns="0" rtlCol="0" anchor="ctr"/>
          <a:lstStyle/>
          <a:p>
            <a:pPr indent="0" marL="0">
              <a:buNone/>
            </a:pPr>
            <a:r>
              <a:rPr lang="en-US" sz="3000" b="1" dirty="0">
                <a:solidFill>
                  <a:srgbClr val="1457B8"/>
                </a:solidFill>
                <a:latin typeface="Georgia" pitchFamily="34" charset="0"/>
                <a:ea typeface="Georgia" pitchFamily="34" charset="-122"/>
                <a:cs typeface="Georgia" pitchFamily="34" charset="-120"/>
              </a:rPr>
              <a:t>The PREMIUM / EMI Trap</a:t>
            </a:r>
            <a:endParaRPr lang="en-US" sz="3000" dirty="0"/>
          </a:p>
        </p:txBody>
      </p:sp>
      <p:sp>
        <p:nvSpPr>
          <p:cNvPr id="3" name="Text 1"/>
          <p:cNvSpPr/>
          <p:nvPr/>
        </p:nvSpPr>
        <p:spPr>
          <a:xfrm>
            <a:off x="457200" y="960120"/>
            <a:ext cx="11247120" cy="365760"/>
          </a:xfrm>
          <a:prstGeom prst="rect">
            <a:avLst/>
          </a:prstGeom>
          <a:noFill/>
          <a:ln/>
        </p:spPr>
        <p:txBody>
          <a:bodyPr wrap="square" lIns="0" tIns="0" rIns="0" bIns="0" rtlCol="0" anchor="ctr"/>
          <a:lstStyle/>
          <a:p>
            <a:pPr indent="0" marL="0">
              <a:buNone/>
            </a:pPr>
            <a:r>
              <a:rPr lang="en-US" sz="1400" i="1" dirty="0">
                <a:solidFill>
                  <a:srgbClr val="6B7787"/>
                </a:solidFill>
              </a:rPr>
              <a:t>A concrete classifier bug, and its fix</a:t>
            </a:r>
            <a:endParaRPr lang="en-US" sz="1400" dirty="0"/>
          </a:p>
        </p:txBody>
      </p:sp>
      <p:sp>
        <p:nvSpPr>
          <p:cNvPr id="4" name="Shape 2"/>
          <p:cNvSpPr/>
          <p:nvPr/>
        </p:nvSpPr>
        <p:spPr>
          <a:xfrm>
            <a:off x="548640" y="1600200"/>
            <a:ext cx="5394960" cy="4297680"/>
          </a:xfrm>
          <a:prstGeom prst="roundRect">
            <a:avLst>
              <a:gd name="adj" fmla="val 1702"/>
            </a:avLst>
          </a:prstGeom>
          <a:solidFill>
            <a:srgbClr val="C0392B"/>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5" name="Text 3"/>
          <p:cNvSpPr/>
          <p:nvPr/>
        </p:nvSpPr>
        <p:spPr>
          <a:xfrm>
            <a:off x="822960" y="1783080"/>
            <a:ext cx="4846320" cy="365760"/>
          </a:xfrm>
          <a:prstGeom prst="rect">
            <a:avLst/>
          </a:prstGeom>
          <a:noFill/>
          <a:ln/>
        </p:spPr>
        <p:txBody>
          <a:bodyPr wrap="square" lIns="0" tIns="0" rIns="0" bIns="0" rtlCol="0" anchor="ctr"/>
          <a:lstStyle/>
          <a:p>
            <a:pPr indent="0" marL="0">
              <a:buNone/>
            </a:pPr>
            <a:r>
              <a:rPr lang="en-US" sz="1600" b="1" dirty="0">
                <a:solidFill>
                  <a:srgbClr val="FFFFFF"/>
                </a:solidFill>
              </a:rPr>
              <a:t>The bug</a:t>
            </a:r>
            <a:endParaRPr lang="en-US" sz="1600" dirty="0"/>
          </a:p>
        </p:txBody>
      </p:sp>
      <p:sp>
        <p:nvSpPr>
          <p:cNvPr id="6" name="Text 4"/>
          <p:cNvSpPr/>
          <p:nvPr/>
        </p:nvSpPr>
        <p:spPr>
          <a:xfrm>
            <a:off x="822960" y="2240280"/>
            <a:ext cx="4937760" cy="3383280"/>
          </a:xfrm>
          <a:prstGeom prst="rect">
            <a:avLst/>
          </a:prstGeom>
          <a:noFill/>
          <a:ln/>
        </p:spPr>
        <p:txBody>
          <a:bodyPr wrap="square" lIns="0" tIns="0" rIns="0" bIns="0" rtlCol="0" anchor="t"/>
          <a:lstStyle/>
          <a:p>
            <a:pPr indent="0" marL="0">
              <a:buNone/>
            </a:pPr>
            <a:r>
              <a:rPr lang="en-US" sz="1500" dirty="0">
                <a:solidFill>
                  <a:srgbClr val="FFFFFF"/>
                </a:solidFill>
                <a:latin typeface="Consolas" pitchFamily="34" charset="0"/>
                <a:ea typeface="Consolas" pitchFamily="34" charset="-122"/>
                <a:cs typeface="Consolas" pitchFamily="34" charset="-120"/>
              </a:rPr>
              <a:t>NACH-LIC PREMIUM-AUTODEBIT
</a:t>
            </a:r>
            <a:endParaRPr lang="en-US" sz="1500" dirty="0"/>
          </a:p>
          <a:p>
            <a:pPr indent="0" marL="0">
              <a:buNone/>
            </a:pPr>
            <a:r>
              <a:rPr lang="en-US" sz="1500" dirty="0">
                <a:solidFill>
                  <a:srgbClr val="000000"/>
                </a:solidFill>
              </a:rPr>
              <a:t>
</a:t>
            </a:r>
            <a:endParaRPr lang="en-US" sz="1500" dirty="0"/>
          </a:p>
          <a:p>
            <a:pPr indent="0" marL="0">
              <a:buNone/>
            </a:pPr>
            <a:r>
              <a:rPr lang="en-US" sz="1300" dirty="0">
                <a:solidFill>
                  <a:srgbClr val="FCE4E4"/>
                </a:solidFill>
              </a:rPr>
              <a:t>A plain substring search for the keyword </a:t>
            </a:r>
            <a:pPr indent="0" marL="0">
              <a:buNone/>
            </a:pPr>
            <a:r>
              <a:rPr lang="en-US" sz="1300" b="1" dirty="0">
                <a:solidFill>
                  <a:srgbClr val="FFFFFF"/>
                </a:solidFill>
              </a:rPr>
              <a:t>EMI </a:t>
            </a:r>
            <a:pPr indent="0" marL="0">
              <a:buNone/>
            </a:pPr>
            <a:r>
              <a:rPr lang="en-US" sz="1300" dirty="0">
                <a:solidFill>
                  <a:srgbClr val="FCE4E4"/>
                </a:solidFill>
              </a:rPr>
              <a:t>matched inside the word </a:t>
            </a:r>
            <a:pPr indent="0" marL="0">
              <a:buNone/>
            </a:pPr>
            <a:r>
              <a:rPr lang="en-US" sz="1300" b="1" dirty="0">
                <a:solidFill>
                  <a:srgbClr val="FFFFFF"/>
                </a:solidFill>
              </a:rPr>
              <a:t>PREMIUM</a:t>
            </a:r>
            <a:pPr indent="0" marL="0">
              <a:buNone/>
            </a:pPr>
            <a:r>
              <a:rPr lang="en-US" sz="1300" dirty="0">
                <a:solidFill>
                  <a:srgbClr val="FCE4E4"/>
                </a:solidFill>
              </a:rPr>
              <a:t>, filing a genuine LIC insurance premium under EMI / Loans instead of Insurance.</a:t>
            </a:r>
            <a:endParaRPr lang="en-US" sz="1500" dirty="0"/>
          </a:p>
        </p:txBody>
      </p:sp>
      <p:sp>
        <p:nvSpPr>
          <p:cNvPr id="7" name="Shape 5"/>
          <p:cNvSpPr/>
          <p:nvPr/>
        </p:nvSpPr>
        <p:spPr>
          <a:xfrm>
            <a:off x="6217920" y="1600200"/>
            <a:ext cx="5394960" cy="4297680"/>
          </a:xfrm>
          <a:prstGeom prst="roundRect">
            <a:avLst>
              <a:gd name="adj" fmla="val 1702"/>
            </a:avLst>
          </a:prstGeom>
          <a:solidFill>
            <a:srgbClr val="1AA260"/>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8" name="Text 6"/>
          <p:cNvSpPr/>
          <p:nvPr/>
        </p:nvSpPr>
        <p:spPr>
          <a:xfrm>
            <a:off x="6492240" y="1783080"/>
            <a:ext cx="4846320" cy="365760"/>
          </a:xfrm>
          <a:prstGeom prst="rect">
            <a:avLst/>
          </a:prstGeom>
          <a:noFill/>
          <a:ln/>
        </p:spPr>
        <p:txBody>
          <a:bodyPr wrap="square" lIns="0" tIns="0" rIns="0" bIns="0" rtlCol="0" anchor="ctr"/>
          <a:lstStyle/>
          <a:p>
            <a:pPr indent="0" marL="0">
              <a:buNone/>
            </a:pPr>
            <a:r>
              <a:rPr lang="en-US" sz="1600" b="1" dirty="0">
                <a:solidFill>
                  <a:srgbClr val="FFFFFF"/>
                </a:solidFill>
              </a:rPr>
              <a:t>The fix</a:t>
            </a:r>
            <a:endParaRPr lang="en-US" sz="1600" dirty="0"/>
          </a:p>
        </p:txBody>
      </p:sp>
      <p:sp>
        <p:nvSpPr>
          <p:cNvPr id="9" name="Text 7"/>
          <p:cNvSpPr/>
          <p:nvPr/>
        </p:nvSpPr>
        <p:spPr>
          <a:xfrm>
            <a:off x="6492240" y="2240280"/>
            <a:ext cx="4937760" cy="3383280"/>
          </a:xfrm>
          <a:prstGeom prst="rect">
            <a:avLst/>
          </a:prstGeom>
          <a:noFill/>
          <a:ln/>
        </p:spPr>
        <p:txBody>
          <a:bodyPr wrap="square" lIns="0" tIns="0" rIns="0" bIns="0" rtlCol="0" anchor="t"/>
          <a:lstStyle/>
          <a:p>
            <a:pPr indent="0" marL="0">
              <a:buNone/>
            </a:pPr>
            <a:r>
              <a:rPr lang="en-US" sz="1400" dirty="0">
                <a:solidFill>
                  <a:srgbClr val="FFFFFF"/>
                </a:solidFill>
              </a:rPr>
              <a:t>Keywords shorter than four characters are matched on a word boundary, not as a plain substring.
</a:t>
            </a:r>
            <a:endParaRPr lang="en-US" sz="1400" dirty="0"/>
          </a:p>
          <a:p>
            <a:pPr indent="0" marL="0">
              <a:buNone/>
            </a:pPr>
            <a:r>
              <a:rPr lang="en-US" sz="1350" dirty="0">
                <a:solidFill>
                  <a:srgbClr val="E2F6EC"/>
                </a:solidFill>
              </a:rPr>
              <a:t>EMI now matches only the standalone word EMI, and no longer matches as a fragment inside PREMIUM, SEMINAR, or any other longer word.</a:t>
            </a:r>
            <a:endParaRPr lang="en-US" sz="1400" dirty="0"/>
          </a:p>
        </p:txBody>
      </p:sp>
      <p:sp>
        <p:nvSpPr>
          <p:cNvPr id="10" name="Text 8"/>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B7787"/>
                </a:solidFill>
              </a:rPr>
              <a:t>SmartEdit AI  ·  Final Viva Presentation</a:t>
            </a:r>
            <a:endParaRPr lang="en-US" sz="900" dirty="0"/>
          </a:p>
        </p:txBody>
      </p:sp>
      <p:sp>
        <p:nvSpPr>
          <p:cNvPr id="11" name="Text 9"/>
          <p:cNvSpPr/>
          <p:nvPr/>
        </p:nvSpPr>
        <p:spPr>
          <a:xfrm>
            <a:off x="10972800" y="6446520"/>
            <a:ext cx="731520" cy="274320"/>
          </a:xfrm>
          <a:prstGeom prst="rect">
            <a:avLst/>
          </a:prstGeom>
          <a:noFill/>
          <a:ln/>
        </p:spPr>
        <p:txBody>
          <a:bodyPr wrap="square" rtlCol="0" anchor="ctr"/>
          <a:lstStyle/>
          <a:p>
            <a:pPr algn="r" indent="0" marL="0">
              <a:buNone/>
            </a:pPr>
            <a:r>
              <a:rPr lang="en-US" sz="900" dirty="0">
                <a:solidFill>
                  <a:srgbClr val="6B7787"/>
                </a:solidFill>
              </a:rPr>
              <a:t>12 / 29</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9FC"/>
        </a:solidFill>
      </p:bgPr>
    </p:bg>
    <p:spTree>
      <p:nvGrpSpPr>
        <p:cNvPr id="1" name=""/>
        <p:cNvGrpSpPr/>
        <p:nvPr/>
      </p:nvGrpSpPr>
      <p:grpSpPr>
        <a:xfrm>
          <a:off x="0" y="0"/>
          <a:ext cx="0" cy="0"/>
          <a:chOff x="0" y="0"/>
          <a:chExt cx="0" cy="0"/>
        </a:xfrm>
      </p:grpSpPr>
      <p:sp>
        <p:nvSpPr>
          <p:cNvPr id="2" name="Text 0"/>
          <p:cNvSpPr/>
          <p:nvPr/>
        </p:nvSpPr>
        <p:spPr>
          <a:xfrm>
            <a:off x="457200" y="365760"/>
            <a:ext cx="11247120" cy="548640"/>
          </a:xfrm>
          <a:prstGeom prst="rect">
            <a:avLst/>
          </a:prstGeom>
          <a:noFill/>
          <a:ln/>
        </p:spPr>
        <p:txBody>
          <a:bodyPr wrap="square" lIns="0" tIns="0" rIns="0" bIns="0" rtlCol="0" anchor="ctr"/>
          <a:lstStyle/>
          <a:p>
            <a:pPr indent="0" marL="0">
              <a:buNone/>
            </a:pPr>
            <a:r>
              <a:rPr lang="en-US" sz="3000" b="1" dirty="0">
                <a:solidFill>
                  <a:srgbClr val="1457B8"/>
                </a:solidFill>
                <a:latin typeface="Georgia" pitchFamily="34" charset="0"/>
                <a:ea typeface="Georgia" pitchFamily="34" charset="-122"/>
                <a:cs typeface="Georgia" pitchFamily="34" charset="-120"/>
              </a:rPr>
              <a:t>Analytics &amp; Insights</a:t>
            </a:r>
            <a:endParaRPr lang="en-US" sz="3000" dirty="0"/>
          </a:p>
        </p:txBody>
      </p:sp>
      <p:sp>
        <p:nvSpPr>
          <p:cNvPr id="3" name="Shape 1"/>
          <p:cNvSpPr/>
          <p:nvPr/>
        </p:nvSpPr>
        <p:spPr>
          <a:xfrm>
            <a:off x="548640" y="1554480"/>
            <a:ext cx="6126480" cy="4480560"/>
          </a:xfrm>
          <a:prstGeom prst="roundRect">
            <a:avLst>
              <a:gd name="adj" fmla="val 1633"/>
            </a:avLst>
          </a:prstGeom>
          <a:solidFill>
            <a:srgbClr val="FFFFFF"/>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4" name="Text 2"/>
          <p:cNvSpPr/>
          <p:nvPr/>
        </p:nvSpPr>
        <p:spPr>
          <a:xfrm>
            <a:off x="822960" y="1737360"/>
            <a:ext cx="5577840" cy="365760"/>
          </a:xfrm>
          <a:prstGeom prst="rect">
            <a:avLst/>
          </a:prstGeom>
          <a:noFill/>
          <a:ln/>
        </p:spPr>
        <p:txBody>
          <a:bodyPr wrap="square" lIns="0" tIns="0" rIns="0" bIns="0" rtlCol="0" anchor="ctr"/>
          <a:lstStyle/>
          <a:p>
            <a:pPr indent="0" marL="0">
              <a:buNone/>
            </a:pPr>
            <a:r>
              <a:rPr lang="en-US" sz="1450" b="1" dirty="0">
                <a:solidFill>
                  <a:srgbClr val="1457B8"/>
                </a:solidFill>
              </a:rPr>
              <a:t>Deterministic insights, always with a real figure</a:t>
            </a:r>
            <a:endParaRPr lang="en-US" sz="1450" dirty="0"/>
          </a:p>
        </p:txBody>
      </p:sp>
      <p:sp>
        <p:nvSpPr>
          <p:cNvPr id="5" name="Text 3"/>
          <p:cNvSpPr/>
          <p:nvPr/>
        </p:nvSpPr>
        <p:spPr>
          <a:xfrm>
            <a:off x="868680" y="2148840"/>
            <a:ext cx="5669280" cy="374904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F2733"/>
                </a:solidFill>
              </a:rPr>
              <a:t>Month-on-month change and the category that drove it</a:t>
            </a:r>
            <a:endParaRPr lang="en-US" sz="1250" dirty="0"/>
          </a:p>
          <a:p>
            <a:pPr marL="342900" indent="-342900">
              <a:spcAft>
                <a:spcPts val="800"/>
              </a:spcAft>
              <a:buSzPct val="100000"/>
              <a:buChar char="•"/>
            </a:pPr>
            <a:r>
              <a:rPr lang="en-US" sz="1250" dirty="0">
                <a:solidFill>
                  <a:srgbClr val="1F2733"/>
                </a:solidFill>
              </a:rPr>
              <a:t>A category taking more than 30% of spend</a:t>
            </a:r>
            <a:endParaRPr lang="en-US" sz="1250" dirty="0"/>
          </a:p>
          <a:p>
            <a:pPr marL="342900" indent="-342900">
              <a:spcAft>
                <a:spcPts val="800"/>
              </a:spcAft>
              <a:buSzPct val="100000"/>
              <a:buChar char="•"/>
            </a:pPr>
            <a:r>
              <a:rPr lang="en-US" sz="1250" dirty="0">
                <a:solidFill>
                  <a:srgbClr val="1F2733"/>
                </a:solidFill>
              </a:rPr>
              <a:t>Weekend versus weekday split</a:t>
            </a:r>
            <a:endParaRPr lang="en-US" sz="1250" dirty="0"/>
          </a:p>
          <a:p>
            <a:pPr marL="342900" indent="-342900">
              <a:spcAft>
                <a:spcPts val="800"/>
              </a:spcAft>
              <a:buSzPct val="100000"/>
              <a:buChar char="•"/>
            </a:pPr>
            <a:r>
              <a:rPr lang="en-US" sz="1250" dirty="0">
                <a:solidFill>
                  <a:srgbClr val="1F2733"/>
                </a:solidFill>
              </a:rPr>
              <a:t>Largest single transaction</a:t>
            </a:r>
            <a:endParaRPr lang="en-US" sz="1250" dirty="0"/>
          </a:p>
          <a:p>
            <a:pPr marL="342900" indent="-342900">
              <a:spcAft>
                <a:spcPts val="800"/>
              </a:spcAft>
              <a:buSzPct val="100000"/>
              <a:buChar char="•"/>
            </a:pPr>
            <a:r>
              <a:rPr lang="en-US" sz="1250" dirty="0">
                <a:solidFill>
                  <a:srgbClr val="1F2733"/>
                </a:solidFill>
              </a:rPr>
              <a:t>Days with no spend at all</a:t>
            </a:r>
            <a:endParaRPr lang="en-US" sz="1250" dirty="0"/>
          </a:p>
          <a:p>
            <a:pPr marL="342900" indent="-342900">
              <a:spcAft>
                <a:spcPts val="800"/>
              </a:spcAft>
              <a:buSzPct val="100000"/>
              <a:buChar char="•"/>
            </a:pPr>
            <a:r>
              <a:rPr lang="en-US" sz="1250" dirty="0">
                <a:solidFill>
                  <a:srgbClr val="1F2733"/>
                </a:solidFill>
              </a:rPr>
              <a:t>Food-delivery count and total</a:t>
            </a:r>
            <a:endParaRPr lang="en-US" sz="1250" dirty="0"/>
          </a:p>
          <a:p>
            <a:pPr marL="342900" indent="-342900">
              <a:spcAft>
                <a:spcPts val="800"/>
              </a:spcAft>
              <a:buSzPct val="100000"/>
              <a:buChar char="•"/>
            </a:pPr>
            <a:r>
              <a:rPr lang="en-US" sz="1250" dirty="0">
                <a:solidFill>
                  <a:srgbClr val="1F2733"/>
                </a:solidFill>
              </a:rPr>
              <a:t>Annualised cost of standing charges</a:t>
            </a:r>
            <a:endParaRPr lang="en-US" sz="1250" dirty="0"/>
          </a:p>
          <a:p>
            <a:pPr marL="342900" indent="-342900">
              <a:spcAft>
                <a:spcPts val="800"/>
              </a:spcAft>
              <a:buSzPct val="100000"/>
              <a:buChar char="•"/>
            </a:pPr>
            <a:r>
              <a:rPr lang="en-US" sz="1250" dirty="0">
                <a:solidFill>
                  <a:srgbClr val="1F2733"/>
                </a:solidFill>
              </a:rPr>
              <a:t>Savings rate against a 20% benchmark</a:t>
            </a:r>
            <a:endParaRPr lang="en-US" sz="1250" dirty="0"/>
          </a:p>
        </p:txBody>
      </p:sp>
      <p:sp>
        <p:nvSpPr>
          <p:cNvPr id="6" name="Shape 4"/>
          <p:cNvSpPr/>
          <p:nvPr/>
        </p:nvSpPr>
        <p:spPr>
          <a:xfrm>
            <a:off x="6949440" y="1554480"/>
            <a:ext cx="4663440" cy="4480560"/>
          </a:xfrm>
          <a:prstGeom prst="roundRect">
            <a:avLst>
              <a:gd name="adj" fmla="val 1633"/>
            </a:avLst>
          </a:prstGeom>
          <a:solidFill>
            <a:srgbClr val="FFFFFF"/>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7" name="Text 5"/>
          <p:cNvSpPr/>
          <p:nvPr/>
        </p:nvSpPr>
        <p:spPr>
          <a:xfrm>
            <a:off x="7178040" y="1737360"/>
            <a:ext cx="4206240" cy="365760"/>
          </a:xfrm>
          <a:prstGeom prst="rect">
            <a:avLst/>
          </a:prstGeom>
          <a:noFill/>
          <a:ln/>
        </p:spPr>
        <p:txBody>
          <a:bodyPr wrap="square" lIns="0" tIns="0" rIns="0" bIns="0" rtlCol="0" anchor="ctr"/>
          <a:lstStyle/>
          <a:p>
            <a:pPr indent="0" marL="0">
              <a:buNone/>
            </a:pPr>
            <a:r>
              <a:rPr lang="en-US" sz="1350" b="1" dirty="0">
                <a:solidFill>
                  <a:srgbClr val="1457B8"/>
                </a:solidFill>
              </a:rPr>
              <a:t>Category taxonomy — 17 categories</a:t>
            </a:r>
            <a:endParaRPr lang="en-US" sz="1350" dirty="0"/>
          </a:p>
        </p:txBody>
      </p:sp>
      <p:graphicFrame>
        <p:nvGraphicFramePr>
          <p:cNvPr id="8" name="Chart 0" descr=""/>
          <p:cNvGraphicFramePr/>
          <p:nvPr/>
        </p:nvGraphicFramePr>
        <p:xfrm>
          <a:off x="7040880" y="2148840"/>
          <a:ext cx="4297680" cy="3566160"/>
        </p:xfrm>
        <a:graphic xmlns:a="http://schemas.openxmlformats.org/drawingml/2006/main">
          <a:graphicData uri="http://schemas.openxmlformats.org/drawingml/2006/chart">
            <c:chart xmlns:c="http://schemas.openxmlformats.org/drawingml/2006/chart" r:id="rId1"/>
          </a:graphicData>
        </a:graphic>
      </p:graphicFrame>
      <p:sp>
        <p:nvSpPr>
          <p:cNvPr id="9" name="Text 6"/>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B7787"/>
                </a:solidFill>
              </a:rPr>
              <a:t>SmartEdit AI  ·  Final Viva Presentation</a:t>
            </a:r>
            <a:endParaRPr lang="en-US" sz="900" dirty="0"/>
          </a:p>
        </p:txBody>
      </p:sp>
      <p:sp>
        <p:nvSpPr>
          <p:cNvPr id="10" name="Text 7"/>
          <p:cNvSpPr/>
          <p:nvPr/>
        </p:nvSpPr>
        <p:spPr>
          <a:xfrm>
            <a:off x="10972800" y="6446520"/>
            <a:ext cx="731520" cy="274320"/>
          </a:xfrm>
          <a:prstGeom prst="rect">
            <a:avLst/>
          </a:prstGeom>
          <a:noFill/>
          <a:ln/>
        </p:spPr>
        <p:txBody>
          <a:bodyPr wrap="square" rtlCol="0" anchor="ctr"/>
          <a:lstStyle/>
          <a:p>
            <a:pPr algn="r" indent="0" marL="0">
              <a:buNone/>
            </a:pPr>
            <a:r>
              <a:rPr lang="en-US" sz="900" dirty="0">
                <a:solidFill>
                  <a:srgbClr val="6B7787"/>
                </a:solidFill>
              </a:rPr>
              <a:t>13 / 29</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9FC"/>
        </a:solidFill>
      </p:bgPr>
    </p:bg>
    <p:spTree>
      <p:nvGrpSpPr>
        <p:cNvPr id="1" name=""/>
        <p:cNvGrpSpPr/>
        <p:nvPr/>
      </p:nvGrpSpPr>
      <p:grpSpPr>
        <a:xfrm>
          <a:off x="0" y="0"/>
          <a:ext cx="0" cy="0"/>
          <a:chOff x="0" y="0"/>
          <a:chExt cx="0" cy="0"/>
        </a:xfrm>
      </p:grpSpPr>
      <p:sp>
        <p:nvSpPr>
          <p:cNvPr id="2" name="Text 0"/>
          <p:cNvSpPr/>
          <p:nvPr/>
        </p:nvSpPr>
        <p:spPr>
          <a:xfrm>
            <a:off x="457200" y="365760"/>
            <a:ext cx="11247120" cy="548640"/>
          </a:xfrm>
          <a:prstGeom prst="rect">
            <a:avLst/>
          </a:prstGeom>
          <a:noFill/>
          <a:ln/>
        </p:spPr>
        <p:txBody>
          <a:bodyPr wrap="square" lIns="0" tIns="0" rIns="0" bIns="0" rtlCol="0" anchor="ctr"/>
          <a:lstStyle/>
          <a:p>
            <a:pPr indent="0" marL="0">
              <a:buNone/>
            </a:pPr>
            <a:r>
              <a:rPr lang="en-US" sz="3000" b="1" dirty="0">
                <a:solidFill>
                  <a:srgbClr val="1457B8"/>
                </a:solidFill>
                <a:latin typeface="Georgia" pitchFamily="34" charset="0"/>
                <a:ea typeface="Georgia" pitchFamily="34" charset="-122"/>
                <a:cs typeface="Georgia" pitchFamily="34" charset="-120"/>
              </a:rPr>
              <a:t>Recurring Commitments — the Cadence Bug</a:t>
            </a:r>
            <a:endParaRPr lang="en-US" sz="3000" dirty="0"/>
          </a:p>
        </p:txBody>
      </p:sp>
      <p:sp>
        <p:nvSpPr>
          <p:cNvPr id="3" name="Shape 1"/>
          <p:cNvSpPr/>
          <p:nvPr/>
        </p:nvSpPr>
        <p:spPr>
          <a:xfrm>
            <a:off x="548640" y="1554480"/>
            <a:ext cx="5394960" cy="4480560"/>
          </a:xfrm>
          <a:prstGeom prst="roundRect">
            <a:avLst>
              <a:gd name="adj" fmla="val 1633"/>
            </a:avLst>
          </a:prstGeom>
          <a:solidFill>
            <a:srgbClr val="FFFFFF"/>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4" name="Text 2"/>
          <p:cNvSpPr/>
          <p:nvPr/>
        </p:nvSpPr>
        <p:spPr>
          <a:xfrm>
            <a:off x="822960" y="1737360"/>
            <a:ext cx="4846320" cy="320040"/>
          </a:xfrm>
          <a:prstGeom prst="rect">
            <a:avLst/>
          </a:prstGeom>
          <a:noFill/>
          <a:ln/>
        </p:spPr>
        <p:txBody>
          <a:bodyPr wrap="square" lIns="0" tIns="0" rIns="0" bIns="0" rtlCol="0" anchor="ctr"/>
          <a:lstStyle/>
          <a:p>
            <a:pPr indent="0" marL="0">
              <a:buNone/>
            </a:pPr>
            <a:r>
              <a:rPr lang="en-US" sz="1500" b="1" dirty="0">
                <a:solidFill>
                  <a:srgbClr val="1457B8"/>
                </a:solidFill>
              </a:rPr>
              <a:t>The rule</a:t>
            </a:r>
            <a:endParaRPr lang="en-US" sz="1500" dirty="0"/>
          </a:p>
        </p:txBody>
      </p:sp>
      <p:sp>
        <p:nvSpPr>
          <p:cNvPr id="5" name="Text 3"/>
          <p:cNvSpPr/>
          <p:nvPr/>
        </p:nvSpPr>
        <p:spPr>
          <a:xfrm>
            <a:off x="868680" y="2103120"/>
            <a:ext cx="5029200" cy="201168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rgbClr val="1F2733"/>
                </a:solidFill>
              </a:rPr>
              <a:t>Restricted to Subscriptions, Utilities, Insurance, EMI / Loans, Rent and Investments</a:t>
            </a:r>
            <a:endParaRPr lang="en-US" sz="1300" dirty="0"/>
          </a:p>
          <a:p>
            <a:pPr marL="342900" indent="-342900">
              <a:spcAft>
                <a:spcPts val="900"/>
              </a:spcAft>
              <a:buSzPct val="100000"/>
              <a:buChar char="•"/>
            </a:pPr>
            <a:r>
              <a:rPr lang="en-US" sz="1300" dirty="0">
                <a:solidFill>
                  <a:srgbClr val="1F2733"/>
                </a:solidFill>
              </a:rPr>
              <a:t>A supermarket visited weekly is a habit, not a standing charge</a:t>
            </a:r>
            <a:endParaRPr lang="en-US" sz="1300" dirty="0"/>
          </a:p>
          <a:p>
            <a:pPr marL="342900" indent="-342900">
              <a:spcAft>
                <a:spcPts val="900"/>
              </a:spcAft>
              <a:buSzPct val="100000"/>
              <a:buChar char="•"/>
            </a:pPr>
            <a:r>
              <a:rPr lang="en-US" sz="1300" dirty="0">
                <a:solidFill>
                  <a:srgbClr val="1F2733"/>
                </a:solidFill>
              </a:rPr>
              <a:t>A merchant qualifies once it appears in 2+ distinct months within 15% of its median amount</a:t>
            </a:r>
            <a:endParaRPr lang="en-US" sz="1300" dirty="0"/>
          </a:p>
        </p:txBody>
      </p:sp>
      <p:sp>
        <p:nvSpPr>
          <p:cNvPr id="6" name="Text 4"/>
          <p:cNvSpPr/>
          <p:nvPr/>
        </p:nvSpPr>
        <p:spPr>
          <a:xfrm>
            <a:off x="868680" y="4114800"/>
            <a:ext cx="5029200" cy="914400"/>
          </a:xfrm>
          <a:prstGeom prst="rect">
            <a:avLst/>
          </a:prstGeom>
          <a:noFill/>
          <a:ln/>
        </p:spPr>
        <p:txBody>
          <a:bodyPr wrap="square" lIns="0" tIns="0" rIns="0" bIns="0" rtlCol="0" anchor="t"/>
          <a:lstStyle/>
          <a:p>
            <a:pPr indent="0" marL="0">
              <a:buNone/>
            </a:pPr>
            <a:r>
              <a:rPr lang="en-US" sz="1250" i="1" dirty="0">
                <a:solidFill>
                  <a:srgbClr val="6B7787"/>
                </a:solidFill>
              </a:rPr>
              <a:t>Cadence is decided from the number of distinct months a charge appears in, not the raw day-gap between two charges.</a:t>
            </a:r>
            <a:endParaRPr lang="en-US" sz="1250" dirty="0"/>
          </a:p>
        </p:txBody>
      </p:sp>
      <p:sp>
        <p:nvSpPr>
          <p:cNvPr id="7" name="Shape 5"/>
          <p:cNvSpPr/>
          <p:nvPr/>
        </p:nvSpPr>
        <p:spPr>
          <a:xfrm>
            <a:off x="6217920" y="1554480"/>
            <a:ext cx="5394960" cy="4480560"/>
          </a:xfrm>
          <a:prstGeom prst="roundRect">
            <a:avLst>
              <a:gd name="adj" fmla="val 1633"/>
            </a:avLst>
          </a:prstGeom>
          <a:solidFill>
            <a:srgbClr val="1457B8"/>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8" name="Text 6"/>
          <p:cNvSpPr/>
          <p:nvPr/>
        </p:nvSpPr>
        <p:spPr>
          <a:xfrm>
            <a:off x="6492240" y="1737360"/>
            <a:ext cx="4846320" cy="320040"/>
          </a:xfrm>
          <a:prstGeom prst="rect">
            <a:avLst/>
          </a:prstGeom>
          <a:noFill/>
          <a:ln/>
        </p:spPr>
        <p:txBody>
          <a:bodyPr wrap="square" lIns="0" tIns="0" rIns="0" bIns="0" rtlCol="0" anchor="ctr"/>
          <a:lstStyle/>
          <a:p>
            <a:pPr indent="0" marL="0">
              <a:buNone/>
            </a:pPr>
            <a:r>
              <a:rPr lang="en-US" sz="1500" b="1" dirty="0">
                <a:solidFill>
                  <a:srgbClr val="FFFFFF"/>
                </a:solidFill>
              </a:rPr>
              <a:t>The bug it fixed</a:t>
            </a:r>
            <a:endParaRPr lang="en-US" sz="1500" dirty="0"/>
          </a:p>
        </p:txBody>
      </p:sp>
      <p:sp>
        <p:nvSpPr>
          <p:cNvPr id="9" name="Text 7"/>
          <p:cNvSpPr/>
          <p:nvPr/>
        </p:nvSpPr>
        <p:spPr>
          <a:xfrm>
            <a:off x="6492240" y="2103120"/>
            <a:ext cx="4937760" cy="3566160"/>
          </a:xfrm>
          <a:prstGeom prst="rect">
            <a:avLst/>
          </a:prstGeom>
          <a:noFill/>
          <a:ln/>
        </p:spPr>
        <p:txBody>
          <a:bodyPr wrap="square" lIns="0" tIns="0" rIns="0" bIns="0" rtlCol="0" anchor="t"/>
          <a:lstStyle/>
          <a:p>
            <a:pPr indent="0" marL="0">
              <a:buNone/>
            </a:pPr>
            <a:r>
              <a:rPr lang="en-US" sz="1350" dirty="0">
                <a:solidFill>
                  <a:srgbClr val="DCE7FF"/>
                </a:solidFill>
              </a:rPr>
              <a:t>Two statements happened to cover the same period, which read as a weekly rhythm.
</a:t>
            </a:r>
            <a:endParaRPr lang="en-US" sz="1350" dirty="0"/>
          </a:p>
          <a:p>
            <a:pPr indent="0" marL="0">
              <a:buNone/>
            </a:pPr>
            <a:r>
              <a:rPr lang="en-US" sz="1350" dirty="0">
                <a:solidFill>
                  <a:srgbClr val="FFFFFF"/>
                </a:solidFill>
              </a:rPr>
              <a:t>A genuine Rs.9,500 EMI was inflated to an annualised Rs.4.94 lakh — before the fix, deciding cadence from distinct months instead of raw day-gaps.</a:t>
            </a:r>
            <a:endParaRPr lang="en-US" sz="1350" dirty="0"/>
          </a:p>
        </p:txBody>
      </p:sp>
      <p:sp>
        <p:nvSpPr>
          <p:cNvPr id="10" name="Text 8"/>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B7787"/>
                </a:solidFill>
              </a:rPr>
              <a:t>SmartEdit AI  ·  Final Viva Presentation</a:t>
            </a:r>
            <a:endParaRPr lang="en-US" sz="900" dirty="0"/>
          </a:p>
        </p:txBody>
      </p:sp>
      <p:sp>
        <p:nvSpPr>
          <p:cNvPr id="11" name="Text 9"/>
          <p:cNvSpPr/>
          <p:nvPr/>
        </p:nvSpPr>
        <p:spPr>
          <a:xfrm>
            <a:off x="10972800" y="6446520"/>
            <a:ext cx="731520" cy="274320"/>
          </a:xfrm>
          <a:prstGeom prst="rect">
            <a:avLst/>
          </a:prstGeom>
          <a:noFill/>
          <a:ln/>
        </p:spPr>
        <p:txBody>
          <a:bodyPr wrap="square" rtlCol="0" anchor="ctr"/>
          <a:lstStyle/>
          <a:p>
            <a:pPr algn="r" indent="0" marL="0">
              <a:buNone/>
            </a:pPr>
            <a:r>
              <a:rPr lang="en-US" sz="900" dirty="0">
                <a:solidFill>
                  <a:srgbClr val="6B7787"/>
                </a:solidFill>
              </a:rPr>
              <a:t>14 / 29</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9FC"/>
        </a:solidFill>
      </p:bgPr>
    </p:bg>
    <p:spTree>
      <p:nvGrpSpPr>
        <p:cNvPr id="1" name=""/>
        <p:cNvGrpSpPr/>
        <p:nvPr/>
      </p:nvGrpSpPr>
      <p:grpSpPr>
        <a:xfrm>
          <a:off x="0" y="0"/>
          <a:ext cx="0" cy="0"/>
          <a:chOff x="0" y="0"/>
          <a:chExt cx="0" cy="0"/>
        </a:xfrm>
      </p:grpSpPr>
      <p:sp>
        <p:nvSpPr>
          <p:cNvPr id="2" name="Text 0"/>
          <p:cNvSpPr/>
          <p:nvPr/>
        </p:nvSpPr>
        <p:spPr>
          <a:xfrm>
            <a:off x="457200" y="365760"/>
            <a:ext cx="11247120" cy="548640"/>
          </a:xfrm>
          <a:prstGeom prst="rect">
            <a:avLst/>
          </a:prstGeom>
          <a:noFill/>
          <a:ln/>
        </p:spPr>
        <p:txBody>
          <a:bodyPr wrap="square" lIns="0" tIns="0" rIns="0" bIns="0" rtlCol="0" anchor="ctr"/>
          <a:lstStyle/>
          <a:p>
            <a:pPr indent="0" marL="0">
              <a:buNone/>
            </a:pPr>
            <a:r>
              <a:rPr lang="en-US" sz="3000" b="1" dirty="0">
                <a:solidFill>
                  <a:srgbClr val="1457B8"/>
                </a:solidFill>
                <a:latin typeface="Georgia" pitchFamily="34" charset="0"/>
                <a:ea typeface="Georgia" pitchFamily="34" charset="-122"/>
                <a:cs typeface="Georgia" pitchFamily="34" charset="-120"/>
              </a:rPr>
              <a:t>Salary &amp; Tax</a:t>
            </a:r>
            <a:endParaRPr lang="en-US" sz="3000" dirty="0"/>
          </a:p>
        </p:txBody>
      </p:sp>
      <p:sp>
        <p:nvSpPr>
          <p:cNvPr id="3" name="Text 1"/>
          <p:cNvSpPr/>
          <p:nvPr/>
        </p:nvSpPr>
        <p:spPr>
          <a:xfrm>
            <a:off x="457200" y="960120"/>
            <a:ext cx="11247120" cy="365760"/>
          </a:xfrm>
          <a:prstGeom prst="rect">
            <a:avLst/>
          </a:prstGeom>
          <a:noFill/>
          <a:ln/>
        </p:spPr>
        <p:txBody>
          <a:bodyPr wrap="square" lIns="0" tIns="0" rIns="0" bIns="0" rtlCol="0" anchor="ctr"/>
          <a:lstStyle/>
          <a:p>
            <a:pPr indent="0" marL="0">
              <a:buNone/>
            </a:pPr>
            <a:r>
              <a:rPr lang="en-US" sz="1400" i="1" dirty="0">
                <a:solidFill>
                  <a:srgbClr val="6B7787"/>
                </a:solidFill>
              </a:rPr>
              <a:t>FY 2025-26 — both regimes, computed from CTC</a:t>
            </a:r>
            <a:endParaRPr lang="en-US" sz="1400" dirty="0"/>
          </a:p>
        </p:txBody>
      </p:sp>
      <p:pic>
        <p:nvPicPr>
          <p:cNvPr id="4" name="Image 0" descr="C:\Users\Vicke\OneDrive\Desktop\Python\A_COH_10\shyam sundar\SmartEditAI\docs\diagrams\13_salary_flow.png">    </p:cNvPr>
          <p:cNvPicPr>
            <a:picLocks noChangeAspect="1"/>
          </p:cNvPicPr>
          <p:nvPr/>
        </p:nvPicPr>
        <p:blipFill>
          <a:blip r:embed="rId1"/>
          <a:srcRect l="0" r="0" t="-962" b="-962"/>
          <a:stretch/>
        </p:blipFill>
        <p:spPr>
          <a:xfrm>
            <a:off x="1188720" y="1417320"/>
            <a:ext cx="4754880" cy="4846320"/>
          </a:xfrm>
          <a:prstGeom prst="rect">
            <a:avLst/>
          </a:prstGeom>
        </p:spPr>
      </p:pic>
      <p:sp>
        <p:nvSpPr>
          <p:cNvPr id="5" name="Shape 2"/>
          <p:cNvSpPr/>
          <p:nvPr/>
        </p:nvSpPr>
        <p:spPr>
          <a:xfrm>
            <a:off x="6309360" y="1508760"/>
            <a:ext cx="5303520" cy="4754880"/>
          </a:xfrm>
          <a:prstGeom prst="roundRect">
            <a:avLst>
              <a:gd name="adj" fmla="val 1538"/>
            </a:avLst>
          </a:prstGeom>
          <a:solidFill>
            <a:srgbClr val="FFFFFF"/>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6" name="Text 3"/>
          <p:cNvSpPr/>
          <p:nvPr/>
        </p:nvSpPr>
        <p:spPr>
          <a:xfrm>
            <a:off x="6537960" y="1691640"/>
            <a:ext cx="4846320" cy="320040"/>
          </a:xfrm>
          <a:prstGeom prst="rect">
            <a:avLst/>
          </a:prstGeom>
          <a:noFill/>
          <a:ln/>
        </p:spPr>
        <p:txBody>
          <a:bodyPr wrap="square" lIns="0" tIns="0" rIns="0" bIns="0" rtlCol="0" anchor="ctr"/>
          <a:lstStyle/>
          <a:p>
            <a:pPr indent="0" marL="0">
              <a:buNone/>
            </a:pPr>
            <a:r>
              <a:rPr lang="en-US" sz="1450" b="1" dirty="0">
                <a:solidFill>
                  <a:srgbClr val="1457B8"/>
                </a:solidFill>
              </a:rPr>
              <a:t>Key statutory percentages</a:t>
            </a:r>
            <a:endParaRPr lang="en-US" sz="1450" dirty="0"/>
          </a:p>
        </p:txBody>
      </p:sp>
      <p:sp>
        <p:nvSpPr>
          <p:cNvPr id="7" name="Text 4"/>
          <p:cNvSpPr/>
          <p:nvPr/>
        </p:nvSpPr>
        <p:spPr>
          <a:xfrm>
            <a:off x="6583680" y="2103120"/>
            <a:ext cx="4937760" cy="4023360"/>
          </a:xfrm>
          <a:prstGeom prst="rect">
            <a:avLst/>
          </a:prstGeom>
          <a:noFill/>
          <a:ln/>
        </p:spPr>
        <p:txBody>
          <a:bodyPr wrap="square" lIns="0" tIns="0" rIns="0" bIns="0" rtlCol="0" anchor="t"/>
          <a:lstStyle/>
          <a:p>
            <a:pPr marL="342900" indent="-342900">
              <a:spcAft>
                <a:spcPts val="900"/>
              </a:spcAft>
              <a:buSzPct val="100000"/>
              <a:buChar char="•"/>
            </a:pPr>
            <a:r>
              <a:rPr lang="en-US" sz="1200" dirty="0">
                <a:solidFill>
                  <a:srgbClr val="1F2733"/>
                </a:solidFill>
              </a:rPr>
              <a:t>Basic: 40% of CTC  ·  HRA: 50% of basic</a:t>
            </a:r>
            <a:endParaRPr lang="en-US" sz="1200" dirty="0"/>
          </a:p>
          <a:p>
            <a:pPr marL="342900" indent="-342900">
              <a:spcAft>
                <a:spcPts val="900"/>
              </a:spcAft>
              <a:buSzPct val="100000"/>
              <a:buChar char="•"/>
            </a:pPr>
            <a:r>
              <a:rPr lang="en-US" sz="1200" dirty="0">
                <a:solidFill>
                  <a:srgbClr val="1F2733"/>
                </a:solidFill>
              </a:rPr>
              <a:t>PF: 12% of basic each side, capped at the Rs.15,000 wage ceiling when opted out</a:t>
            </a:r>
            <a:endParaRPr lang="en-US" sz="1200" dirty="0"/>
          </a:p>
          <a:p>
            <a:pPr marL="342900" indent="-342900">
              <a:spcAft>
                <a:spcPts val="900"/>
              </a:spcAft>
              <a:buSzPct val="100000"/>
              <a:buChar char="•"/>
            </a:pPr>
            <a:r>
              <a:rPr lang="en-US" sz="1200" dirty="0">
                <a:solidFill>
                  <a:srgbClr val="1F2733"/>
                </a:solidFill>
              </a:rPr>
              <a:t>Gratuity: 4.81% of basic  ·  Gross = CTC − employer PF − gratuity</a:t>
            </a:r>
            <a:endParaRPr lang="en-US" sz="1200" dirty="0"/>
          </a:p>
          <a:p>
            <a:pPr marL="342900" indent="-342900">
              <a:spcAft>
                <a:spcPts val="900"/>
              </a:spcAft>
              <a:buSzPct val="100000"/>
              <a:buChar char="•"/>
            </a:pPr>
            <a:r>
              <a:rPr lang="en-US" sz="1200" dirty="0">
                <a:solidFill>
                  <a:srgbClr val="1F2733"/>
                </a:solidFill>
              </a:rPr>
              <a:t>HRA exemption (old regime only): least of actual HRA, rent − 10% of basic, 50%/40% of basic</a:t>
            </a:r>
            <a:endParaRPr lang="en-US" sz="1200" dirty="0"/>
          </a:p>
          <a:p>
            <a:pPr marL="342900" indent="-342900">
              <a:spcAft>
                <a:spcPts val="900"/>
              </a:spcAft>
              <a:buSzPct val="100000"/>
              <a:buChar char="•"/>
            </a:pPr>
            <a:r>
              <a:rPr lang="en-US" sz="1200" dirty="0">
                <a:solidFill>
                  <a:srgbClr val="1F2733"/>
                </a:solidFill>
              </a:rPr>
              <a:t>Standard deduction: Rs.75,000 new  ·  Rs.50,000 old  ·  Cess: 4%</a:t>
            </a:r>
            <a:endParaRPr lang="en-US" sz="1200" dirty="0"/>
          </a:p>
          <a:p>
            <a:pPr marL="342900" indent="-342900">
              <a:spcAft>
                <a:spcPts val="900"/>
              </a:spcAft>
              <a:buSzPct val="100000"/>
              <a:buChar char="•"/>
            </a:pPr>
            <a:r>
              <a:rPr lang="en-US" sz="1200" dirty="0">
                <a:solidFill>
                  <a:srgbClr val="1F2733"/>
                </a:solidFill>
              </a:rPr>
              <a:t>Section 87A rebate to nil up to Rs.12,00,000 (new) / Rs.5,00,000 (old), with marginal relief just above the new-regime threshold</a:t>
            </a:r>
            <a:endParaRPr lang="en-US" sz="1200" dirty="0"/>
          </a:p>
          <a:p>
            <a:pPr marL="342900" indent="-342900">
              <a:spcAft>
                <a:spcPts val="900"/>
              </a:spcAft>
              <a:buSzPct val="100000"/>
              <a:buChar char="•"/>
            </a:pPr>
            <a:r>
              <a:rPr lang="en-US" sz="1200" dirty="0">
                <a:solidFill>
                  <a:srgbClr val="1F2733"/>
                </a:solidFill>
              </a:rPr>
              <a:t>Professional tax Rs.2,400/year in 8 states</a:t>
            </a:r>
            <a:endParaRPr lang="en-US" sz="1200" dirty="0"/>
          </a:p>
        </p:txBody>
      </p:sp>
      <p:sp>
        <p:nvSpPr>
          <p:cNvPr id="8" name="Text 5"/>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B7787"/>
                </a:solidFill>
              </a:rPr>
              <a:t>SmartEdit AI  ·  Final Viva Presentation</a:t>
            </a:r>
            <a:endParaRPr lang="en-US" sz="900" dirty="0"/>
          </a:p>
        </p:txBody>
      </p:sp>
      <p:sp>
        <p:nvSpPr>
          <p:cNvPr id="9" name="Text 6"/>
          <p:cNvSpPr/>
          <p:nvPr/>
        </p:nvSpPr>
        <p:spPr>
          <a:xfrm>
            <a:off x="10972800" y="6446520"/>
            <a:ext cx="731520" cy="274320"/>
          </a:xfrm>
          <a:prstGeom prst="rect">
            <a:avLst/>
          </a:prstGeom>
          <a:noFill/>
          <a:ln/>
        </p:spPr>
        <p:txBody>
          <a:bodyPr wrap="square" rtlCol="0" anchor="ctr"/>
          <a:lstStyle/>
          <a:p>
            <a:pPr algn="r" indent="0" marL="0">
              <a:buNone/>
            </a:pPr>
            <a:r>
              <a:rPr lang="en-US" sz="900" dirty="0">
                <a:solidFill>
                  <a:srgbClr val="6B7787"/>
                </a:solidFill>
              </a:rPr>
              <a:t>15 / 29</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9FC"/>
        </a:solidFill>
      </p:bgPr>
    </p:bg>
    <p:spTree>
      <p:nvGrpSpPr>
        <p:cNvPr id="1" name=""/>
        <p:cNvGrpSpPr/>
        <p:nvPr/>
      </p:nvGrpSpPr>
      <p:grpSpPr>
        <a:xfrm>
          <a:off x="0" y="0"/>
          <a:ext cx="0" cy="0"/>
          <a:chOff x="0" y="0"/>
          <a:chExt cx="0" cy="0"/>
        </a:xfrm>
      </p:grpSpPr>
      <p:sp>
        <p:nvSpPr>
          <p:cNvPr id="2" name="Text 0"/>
          <p:cNvSpPr/>
          <p:nvPr/>
        </p:nvSpPr>
        <p:spPr>
          <a:xfrm>
            <a:off x="457200" y="365760"/>
            <a:ext cx="11247120" cy="548640"/>
          </a:xfrm>
          <a:prstGeom prst="rect">
            <a:avLst/>
          </a:prstGeom>
          <a:noFill/>
          <a:ln/>
        </p:spPr>
        <p:txBody>
          <a:bodyPr wrap="square" lIns="0" tIns="0" rIns="0" bIns="0" rtlCol="0" anchor="ctr"/>
          <a:lstStyle/>
          <a:p>
            <a:pPr indent="0" marL="0">
              <a:buNone/>
            </a:pPr>
            <a:r>
              <a:rPr lang="en-US" sz="3000" b="1" dirty="0">
                <a:solidFill>
                  <a:srgbClr val="1457B8"/>
                </a:solidFill>
                <a:latin typeface="Georgia" pitchFamily="34" charset="0"/>
                <a:ea typeface="Georgia" pitchFamily="34" charset="-122"/>
                <a:cs typeface="Georgia" pitchFamily="34" charset="-120"/>
              </a:rPr>
              <a:t>Worked Example — CTC Rs.18,00,000</a:t>
            </a:r>
            <a:endParaRPr lang="en-US" sz="3000" dirty="0"/>
          </a:p>
        </p:txBody>
      </p:sp>
      <p:sp>
        <p:nvSpPr>
          <p:cNvPr id="3" name="Text 1"/>
          <p:cNvSpPr/>
          <p:nvPr/>
        </p:nvSpPr>
        <p:spPr>
          <a:xfrm>
            <a:off x="457200" y="960120"/>
            <a:ext cx="11247120" cy="365760"/>
          </a:xfrm>
          <a:prstGeom prst="rect">
            <a:avLst/>
          </a:prstGeom>
          <a:noFill/>
          <a:ln/>
        </p:spPr>
        <p:txBody>
          <a:bodyPr wrap="square" lIns="0" tIns="0" rIns="0" bIns="0" rtlCol="0" anchor="ctr"/>
          <a:lstStyle/>
          <a:p>
            <a:pPr indent="0" marL="0">
              <a:buNone/>
            </a:pPr>
            <a:r>
              <a:rPr lang="en-US" sz="1400" i="1" dirty="0">
                <a:solidFill>
                  <a:srgbClr val="6B7787"/>
                </a:solidFill>
              </a:rPr>
              <a:t>New regime, metro city, rent Rs.25,000/month</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5577840" cy="4846320"/>
        </p:xfrm>
        <a:graphic>
          <a:graphicData uri="http://schemas.openxmlformats.org/drawingml/2006/table">
            <a:tbl>
              <a:tblPr/>
              <a:tblGrid>
                <a:gridCol w="3383280"/>
                <a:gridCol w="2194560"/>
              </a:tblGrid>
              <a:tr h="346166">
                <a:tc>
                  <a:txBody>
                    <a:bodyPr/>
                    <a:lstStyle/>
                    <a:p>
                      <a:pPr indent="0" marL="0">
                        <a:buNone/>
                      </a:pPr>
                      <a:r>
                        <a:rPr lang="en-US" sz="1150" b="1" dirty="0">
                          <a:solidFill>
                            <a:srgbClr val="FFFFFF"/>
                          </a:solidFill>
                        </a:rPr>
                        <a:t>Component</a:t>
                      </a:r>
                      <a:endParaRPr lang="en-US" sz="115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1457B8"/>
                    </a:solidFill>
                  </a:tcPr>
                </a:tc>
                <a:tc>
                  <a:txBody>
                    <a:bodyPr/>
                    <a:lstStyle/>
                    <a:p>
                      <a:pPr indent="0" marL="0">
                        <a:buNone/>
                      </a:pPr>
                      <a:r>
                        <a:rPr lang="en-US" sz="1150" b="1" dirty="0">
                          <a:solidFill>
                            <a:srgbClr val="FFFFFF"/>
                          </a:solidFill>
                        </a:rPr>
                        <a:t>Amount (Rs.)</a:t>
                      </a:r>
                      <a:endParaRPr lang="en-US" sz="115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1457B8"/>
                    </a:solidFill>
                  </a:tcPr>
                </a:tc>
              </a:tr>
              <a:tr h="346166">
                <a:tc>
                  <a:txBody>
                    <a:bodyPr/>
                    <a:lstStyle/>
                    <a:p>
                      <a:pPr indent="0" marL="0">
                        <a:buNone/>
                      </a:pPr>
                      <a:r>
                        <a:rPr lang="en-US" sz="1150" dirty="0">
                          <a:solidFill>
                            <a:srgbClr val="1F2733"/>
                          </a:solidFill>
                        </a:rPr>
                        <a:t>Basic</a:t>
                      </a:r>
                      <a:endParaRPr lang="en-US" sz="115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FFFFFF"/>
                    </a:solidFill>
                  </a:tcPr>
                </a:tc>
                <a:tc>
                  <a:txBody>
                    <a:bodyPr/>
                    <a:lstStyle/>
                    <a:p>
                      <a:pPr indent="0" marL="0">
                        <a:buNone/>
                      </a:pPr>
                      <a:r>
                        <a:rPr lang="en-US" sz="1150" dirty="0">
                          <a:solidFill>
                            <a:srgbClr val="1F2733"/>
                          </a:solidFill>
                        </a:rPr>
                        <a:t>7,20,000</a:t>
                      </a:r>
                      <a:endParaRPr lang="en-US" sz="115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FFFFFF"/>
                    </a:solidFill>
                  </a:tcPr>
                </a:tc>
              </a:tr>
              <a:tr h="346166">
                <a:tc>
                  <a:txBody>
                    <a:bodyPr/>
                    <a:lstStyle/>
                    <a:p>
                      <a:pPr indent="0" marL="0">
                        <a:buNone/>
                      </a:pPr>
                      <a:r>
                        <a:rPr lang="en-US" sz="1150" dirty="0">
                          <a:solidFill>
                            <a:srgbClr val="1F2733"/>
                          </a:solidFill>
                        </a:rPr>
                        <a:t>HRA</a:t>
                      </a:r>
                      <a:endParaRPr lang="en-US" sz="115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F2F6FC"/>
                    </a:solidFill>
                  </a:tcPr>
                </a:tc>
                <a:tc>
                  <a:txBody>
                    <a:bodyPr/>
                    <a:lstStyle/>
                    <a:p>
                      <a:pPr indent="0" marL="0">
                        <a:buNone/>
                      </a:pPr>
                      <a:r>
                        <a:rPr lang="en-US" sz="1150" dirty="0">
                          <a:solidFill>
                            <a:srgbClr val="1F2733"/>
                          </a:solidFill>
                        </a:rPr>
                        <a:t>3,60,000</a:t>
                      </a:r>
                      <a:endParaRPr lang="en-US" sz="115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F2F6FC"/>
                    </a:solidFill>
                  </a:tcPr>
                </a:tc>
              </a:tr>
              <a:tr h="346166">
                <a:tc>
                  <a:txBody>
                    <a:bodyPr/>
                    <a:lstStyle/>
                    <a:p>
                      <a:pPr indent="0" marL="0">
                        <a:buNone/>
                      </a:pPr>
                      <a:r>
                        <a:rPr lang="en-US" sz="1150" dirty="0">
                          <a:solidFill>
                            <a:srgbClr val="1F2733"/>
                          </a:solidFill>
                        </a:rPr>
                        <a:t>Special allowance</a:t>
                      </a:r>
                      <a:endParaRPr lang="en-US" sz="115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FFFFFF"/>
                    </a:solidFill>
                  </a:tcPr>
                </a:tc>
                <a:tc>
                  <a:txBody>
                    <a:bodyPr/>
                    <a:lstStyle/>
                    <a:p>
                      <a:pPr indent="0" marL="0">
                        <a:buNone/>
                      </a:pPr>
                      <a:r>
                        <a:rPr lang="en-US" sz="1150" dirty="0">
                          <a:solidFill>
                            <a:srgbClr val="1F2733"/>
                          </a:solidFill>
                        </a:rPr>
                        <a:t>5,98,968</a:t>
                      </a:r>
                      <a:endParaRPr lang="en-US" sz="115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FFFFFF"/>
                    </a:solidFill>
                  </a:tcPr>
                </a:tc>
              </a:tr>
              <a:tr h="346166">
                <a:tc>
                  <a:txBody>
                    <a:bodyPr/>
                    <a:lstStyle/>
                    <a:p>
                      <a:pPr indent="0" marL="0">
                        <a:buNone/>
                      </a:pPr>
                      <a:r>
                        <a:rPr lang="en-US" sz="1150" dirty="0">
                          <a:solidFill>
                            <a:srgbClr val="1F2733"/>
                          </a:solidFill>
                        </a:rPr>
                        <a:t>Gross pay</a:t>
                      </a:r>
                      <a:endParaRPr lang="en-US" sz="115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F2F6FC"/>
                    </a:solidFill>
                  </a:tcPr>
                </a:tc>
                <a:tc>
                  <a:txBody>
                    <a:bodyPr/>
                    <a:lstStyle/>
                    <a:p>
                      <a:pPr indent="0" marL="0">
                        <a:buNone/>
                      </a:pPr>
                      <a:r>
                        <a:rPr lang="en-US" sz="1150" dirty="0">
                          <a:solidFill>
                            <a:srgbClr val="1F2733"/>
                          </a:solidFill>
                        </a:rPr>
                        <a:t>16,78,968</a:t>
                      </a:r>
                      <a:endParaRPr lang="en-US" sz="115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F2F6FC"/>
                    </a:solidFill>
                  </a:tcPr>
                </a:tc>
              </a:tr>
              <a:tr h="346166">
                <a:tc>
                  <a:txBody>
                    <a:bodyPr/>
                    <a:lstStyle/>
                    <a:p>
                      <a:pPr indent="0" marL="0">
                        <a:buNone/>
                      </a:pPr>
                      <a:r>
                        <a:rPr lang="en-US" sz="1150" dirty="0">
                          <a:solidFill>
                            <a:srgbClr val="1F2733"/>
                          </a:solidFill>
                        </a:rPr>
                        <a:t>Employee PF</a:t>
                      </a:r>
                      <a:endParaRPr lang="en-US" sz="115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FFFFFF"/>
                    </a:solidFill>
                  </a:tcPr>
                </a:tc>
                <a:tc>
                  <a:txBody>
                    <a:bodyPr/>
                    <a:lstStyle/>
                    <a:p>
                      <a:pPr indent="0" marL="0">
                        <a:buNone/>
                      </a:pPr>
                      <a:r>
                        <a:rPr lang="en-US" sz="1150" dirty="0">
                          <a:solidFill>
                            <a:srgbClr val="1F2733"/>
                          </a:solidFill>
                        </a:rPr>
                        <a:t>86,400</a:t>
                      </a:r>
                      <a:endParaRPr lang="en-US" sz="115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FFFFFF"/>
                    </a:solidFill>
                  </a:tcPr>
                </a:tc>
              </a:tr>
              <a:tr h="346166">
                <a:tc>
                  <a:txBody>
                    <a:bodyPr/>
                    <a:lstStyle/>
                    <a:p>
                      <a:pPr indent="0" marL="0">
                        <a:buNone/>
                      </a:pPr>
                      <a:r>
                        <a:rPr lang="en-US" sz="1150" dirty="0">
                          <a:solidFill>
                            <a:srgbClr val="1F2733"/>
                          </a:solidFill>
                        </a:rPr>
                        <a:t>Gratuity</a:t>
                      </a:r>
                      <a:endParaRPr lang="en-US" sz="115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F2F6FC"/>
                    </a:solidFill>
                  </a:tcPr>
                </a:tc>
                <a:tc>
                  <a:txBody>
                    <a:bodyPr/>
                    <a:lstStyle/>
                    <a:p>
                      <a:pPr indent="0" marL="0">
                        <a:buNone/>
                      </a:pPr>
                      <a:r>
                        <a:rPr lang="en-US" sz="1150" dirty="0">
                          <a:solidFill>
                            <a:srgbClr val="1F2733"/>
                          </a:solidFill>
                        </a:rPr>
                        <a:t>34,632</a:t>
                      </a:r>
                      <a:endParaRPr lang="en-US" sz="115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F2F6FC"/>
                    </a:solidFill>
                  </a:tcPr>
                </a:tc>
              </a:tr>
              <a:tr h="346166">
                <a:tc>
                  <a:txBody>
                    <a:bodyPr/>
                    <a:lstStyle/>
                    <a:p>
                      <a:pPr indent="0" marL="0">
                        <a:buNone/>
                      </a:pPr>
                      <a:r>
                        <a:rPr lang="en-US" sz="1150" dirty="0">
                          <a:solidFill>
                            <a:srgbClr val="1F2733"/>
                          </a:solidFill>
                        </a:rPr>
                        <a:t>Taxable income</a:t>
                      </a:r>
                      <a:endParaRPr lang="en-US" sz="115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FFFFFF"/>
                    </a:solidFill>
                  </a:tcPr>
                </a:tc>
                <a:tc>
                  <a:txBody>
                    <a:bodyPr/>
                    <a:lstStyle/>
                    <a:p>
                      <a:pPr indent="0" marL="0">
                        <a:buNone/>
                      </a:pPr>
                      <a:r>
                        <a:rPr lang="en-US" sz="1150" dirty="0">
                          <a:solidFill>
                            <a:srgbClr val="1F2733"/>
                          </a:solidFill>
                        </a:rPr>
                        <a:t>16,03,968</a:t>
                      </a:r>
                      <a:endParaRPr lang="en-US" sz="115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FFFFFF"/>
                    </a:solidFill>
                  </a:tcPr>
                </a:tc>
              </a:tr>
              <a:tr h="346166">
                <a:tc>
                  <a:txBody>
                    <a:bodyPr/>
                    <a:lstStyle/>
                    <a:p>
                      <a:pPr indent="0" marL="0">
                        <a:buNone/>
                      </a:pPr>
                      <a:r>
                        <a:rPr lang="en-US" sz="1150" dirty="0">
                          <a:solidFill>
                            <a:srgbClr val="1F2733"/>
                          </a:solidFill>
                        </a:rPr>
                        <a:t>Slab tax</a:t>
                      </a:r>
                      <a:endParaRPr lang="en-US" sz="115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F2F6FC"/>
                    </a:solidFill>
                  </a:tcPr>
                </a:tc>
                <a:tc>
                  <a:txBody>
                    <a:bodyPr/>
                    <a:lstStyle/>
                    <a:p>
                      <a:pPr indent="0" marL="0">
                        <a:buNone/>
                      </a:pPr>
                      <a:r>
                        <a:rPr lang="en-US" sz="1150" dirty="0">
                          <a:solidFill>
                            <a:srgbClr val="1F2733"/>
                          </a:solidFill>
                        </a:rPr>
                        <a:t>1,20,794</a:t>
                      </a:r>
                      <a:endParaRPr lang="en-US" sz="115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F2F6FC"/>
                    </a:solidFill>
                  </a:tcPr>
                </a:tc>
              </a:tr>
              <a:tr h="346166">
                <a:tc>
                  <a:txBody>
                    <a:bodyPr/>
                    <a:lstStyle/>
                    <a:p>
                      <a:pPr indent="0" marL="0">
                        <a:buNone/>
                      </a:pPr>
                      <a:r>
                        <a:rPr lang="en-US" sz="1150" dirty="0">
                          <a:solidFill>
                            <a:srgbClr val="1F2733"/>
                          </a:solidFill>
                        </a:rPr>
                        <a:t>Cess (4%)</a:t>
                      </a:r>
                      <a:endParaRPr lang="en-US" sz="115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FFFFFF"/>
                    </a:solidFill>
                  </a:tcPr>
                </a:tc>
                <a:tc>
                  <a:txBody>
                    <a:bodyPr/>
                    <a:lstStyle/>
                    <a:p>
                      <a:pPr indent="0" marL="0">
                        <a:buNone/>
                      </a:pPr>
                      <a:r>
                        <a:rPr lang="en-US" sz="1150" dirty="0">
                          <a:solidFill>
                            <a:srgbClr val="1F2733"/>
                          </a:solidFill>
                        </a:rPr>
                        <a:t>4,832</a:t>
                      </a:r>
                      <a:endParaRPr lang="en-US" sz="115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FFFFFF"/>
                    </a:solidFill>
                  </a:tcPr>
                </a:tc>
              </a:tr>
              <a:tr h="346166">
                <a:tc>
                  <a:txBody>
                    <a:bodyPr/>
                    <a:lstStyle/>
                    <a:p>
                      <a:pPr indent="0" marL="0">
                        <a:buNone/>
                      </a:pPr>
                      <a:r>
                        <a:rPr lang="en-US" sz="1150" dirty="0">
                          <a:solidFill>
                            <a:srgbClr val="1F2733"/>
                          </a:solidFill>
                        </a:rPr>
                        <a:t>Total tax</a:t>
                      </a:r>
                      <a:endParaRPr lang="en-US" sz="115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F2F6FC"/>
                    </a:solidFill>
                  </a:tcPr>
                </a:tc>
                <a:tc>
                  <a:txBody>
                    <a:bodyPr/>
                    <a:lstStyle/>
                    <a:p>
                      <a:pPr indent="0" marL="0">
                        <a:buNone/>
                      </a:pPr>
                      <a:r>
                        <a:rPr lang="en-US" sz="1150" dirty="0">
                          <a:solidFill>
                            <a:srgbClr val="1F2733"/>
                          </a:solidFill>
                        </a:rPr>
                        <a:t>1,25,625</a:t>
                      </a:r>
                      <a:endParaRPr lang="en-US" sz="115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F2F6FC"/>
                    </a:solidFill>
                  </a:tcPr>
                </a:tc>
              </a:tr>
              <a:tr h="346166">
                <a:tc>
                  <a:txBody>
                    <a:bodyPr/>
                    <a:lstStyle/>
                    <a:p>
                      <a:pPr indent="0" marL="0">
                        <a:buNone/>
                      </a:pPr>
                      <a:r>
                        <a:rPr lang="en-US" sz="1150" dirty="0">
                          <a:solidFill>
                            <a:srgbClr val="1F2733"/>
                          </a:solidFill>
                        </a:rPr>
                        <a:t>Professional tax</a:t>
                      </a:r>
                      <a:endParaRPr lang="en-US" sz="115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FFFFFF"/>
                    </a:solidFill>
                  </a:tcPr>
                </a:tc>
                <a:tc>
                  <a:txBody>
                    <a:bodyPr/>
                    <a:lstStyle/>
                    <a:p>
                      <a:pPr indent="0" marL="0">
                        <a:buNone/>
                      </a:pPr>
                      <a:r>
                        <a:rPr lang="en-US" sz="1150" dirty="0">
                          <a:solidFill>
                            <a:srgbClr val="1F2733"/>
                          </a:solidFill>
                        </a:rPr>
                        <a:t>2,400</a:t>
                      </a:r>
                      <a:endParaRPr lang="en-US" sz="115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FFFFFF"/>
                    </a:solidFill>
                  </a:tcPr>
                </a:tc>
              </a:tr>
              <a:tr h="346166">
                <a:tc>
                  <a:txBody>
                    <a:bodyPr/>
                    <a:lstStyle/>
                    <a:p>
                      <a:pPr indent="0" marL="0">
                        <a:buNone/>
                      </a:pPr>
                      <a:r>
                        <a:rPr lang="en-US" sz="1150" dirty="0">
                          <a:solidFill>
                            <a:srgbClr val="1F2733"/>
                          </a:solidFill>
                        </a:rPr>
                        <a:t>Net annual pay</a:t>
                      </a:r>
                      <a:endParaRPr lang="en-US" sz="115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F2F6FC"/>
                    </a:solidFill>
                  </a:tcPr>
                </a:tc>
                <a:tc>
                  <a:txBody>
                    <a:bodyPr/>
                    <a:lstStyle/>
                    <a:p>
                      <a:pPr indent="0" marL="0">
                        <a:buNone/>
                      </a:pPr>
                      <a:r>
                        <a:rPr lang="en-US" sz="1150" dirty="0">
                          <a:solidFill>
                            <a:srgbClr val="1F2733"/>
                          </a:solidFill>
                        </a:rPr>
                        <a:t>14,64,543</a:t>
                      </a:r>
                      <a:endParaRPr lang="en-US" sz="115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F2F6FC"/>
                    </a:solidFill>
                  </a:tcPr>
                </a:tc>
              </a:tr>
              <a:tr h="346166">
                <a:tc>
                  <a:txBody>
                    <a:bodyPr/>
                    <a:lstStyle/>
                    <a:p>
                      <a:pPr indent="0" marL="0">
                        <a:buNone/>
                      </a:pPr>
                      <a:r>
                        <a:rPr lang="en-US" sz="1150" dirty="0">
                          <a:solidFill>
                            <a:srgbClr val="1F2733"/>
                          </a:solidFill>
                        </a:rPr>
                        <a:t>Net monthly pay</a:t>
                      </a:r>
                      <a:endParaRPr lang="en-US" sz="115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FFFFFF"/>
                    </a:solidFill>
                  </a:tcPr>
                </a:tc>
                <a:tc>
                  <a:txBody>
                    <a:bodyPr/>
                    <a:lstStyle/>
                    <a:p>
                      <a:pPr indent="0" marL="0">
                        <a:buNone/>
                      </a:pPr>
                      <a:r>
                        <a:rPr lang="en-US" sz="1150" dirty="0">
                          <a:solidFill>
                            <a:srgbClr val="1F2733"/>
                          </a:solidFill>
                        </a:rPr>
                        <a:t>1,22,045</a:t>
                      </a:r>
                      <a:endParaRPr lang="en-US" sz="115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FFFFFF"/>
                    </a:solidFill>
                  </a:tcPr>
                </a:tc>
              </a:tr>
            </a:tbl>
          </a:graphicData>
        </a:graphic>
      </p:graphicFrame>
      <p:sp>
        <p:nvSpPr>
          <p:cNvPr id="5" name="Text 2"/>
          <p:cNvSpPr/>
          <p:nvPr/>
        </p:nvSpPr>
        <p:spPr>
          <a:xfrm>
            <a:off x="6400800" y="1463040"/>
            <a:ext cx="5212080" cy="320040"/>
          </a:xfrm>
          <a:prstGeom prst="rect">
            <a:avLst/>
          </a:prstGeom>
          <a:noFill/>
          <a:ln/>
        </p:spPr>
        <p:txBody>
          <a:bodyPr wrap="square" lIns="0" tIns="0" rIns="0" bIns="0" rtlCol="0" anchor="ctr"/>
          <a:lstStyle/>
          <a:p>
            <a:pPr indent="0" marL="0">
              <a:buNone/>
            </a:pPr>
            <a:r>
              <a:rPr lang="en-US" sz="1350" b="1" dirty="0">
                <a:solidFill>
                  <a:srgbClr val="1457B8"/>
                </a:solidFill>
              </a:rPr>
              <a:t>Total tax: new regime vs old regime</a:t>
            </a:r>
            <a:endParaRPr lang="en-US" sz="1350" dirty="0"/>
          </a:p>
        </p:txBody>
      </p:sp>
      <p:graphicFrame>
        <p:nvGraphicFramePr>
          <p:cNvPr id="6" name="Chart 0" descr=""/>
          <p:cNvGraphicFramePr/>
          <p:nvPr/>
        </p:nvGraphicFramePr>
        <p:xfrm>
          <a:off x="6400800" y="1828800"/>
          <a:ext cx="5212080" cy="329184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6400800" y="5257800"/>
            <a:ext cx="5212080" cy="868680"/>
          </a:xfrm>
          <a:prstGeom prst="roundRect">
            <a:avLst>
              <a:gd name="adj" fmla="val 8421"/>
            </a:avLst>
          </a:prstGeom>
          <a:solidFill>
            <a:srgbClr val="1457B8"/>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8" name="Text 4"/>
          <p:cNvSpPr/>
          <p:nvPr/>
        </p:nvSpPr>
        <p:spPr>
          <a:xfrm>
            <a:off x="6629400" y="5257800"/>
            <a:ext cx="4754880" cy="868680"/>
          </a:xfrm>
          <a:prstGeom prst="rect">
            <a:avLst/>
          </a:prstGeom>
          <a:noFill/>
          <a:ln/>
        </p:spPr>
        <p:txBody>
          <a:bodyPr wrap="square" lIns="0" tIns="0" rIns="0" bIns="0" rtlCol="0" anchor="ctr"/>
          <a:lstStyle/>
          <a:p>
            <a:pPr indent="0" marL="0">
              <a:buNone/>
            </a:pPr>
            <a:r>
              <a:rPr lang="en-US" sz="1350" b="1" dirty="0">
                <a:solidFill>
                  <a:srgbClr val="FFFFFF"/>
                </a:solidFill>
              </a:rPr>
              <a:t>The new regime is better by Rs.89,520 a year for this profile.</a:t>
            </a:r>
            <a:endParaRPr lang="en-US" sz="1350" dirty="0"/>
          </a:p>
        </p:txBody>
      </p:sp>
      <p:sp>
        <p:nvSpPr>
          <p:cNvPr id="9" name="Text 5"/>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B7787"/>
                </a:solidFill>
              </a:rPr>
              <a:t>SmartEdit AI  ·  Final Viva Presentation</a:t>
            </a:r>
            <a:endParaRPr lang="en-US" sz="900" dirty="0"/>
          </a:p>
        </p:txBody>
      </p:sp>
      <p:sp>
        <p:nvSpPr>
          <p:cNvPr id="10" name="Text 6"/>
          <p:cNvSpPr/>
          <p:nvPr/>
        </p:nvSpPr>
        <p:spPr>
          <a:xfrm>
            <a:off x="10972800" y="6446520"/>
            <a:ext cx="731520" cy="274320"/>
          </a:xfrm>
          <a:prstGeom prst="rect">
            <a:avLst/>
          </a:prstGeom>
          <a:noFill/>
          <a:ln/>
        </p:spPr>
        <p:txBody>
          <a:bodyPr wrap="square" rtlCol="0" anchor="ctr"/>
          <a:lstStyle/>
          <a:p>
            <a:pPr algn="r" indent="0" marL="0">
              <a:buNone/>
            </a:pPr>
            <a:r>
              <a:rPr lang="en-US" sz="900" dirty="0">
                <a:solidFill>
                  <a:srgbClr val="6B7787"/>
                </a:solidFill>
              </a:rPr>
              <a:t>16 / 29</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9FC"/>
        </a:solidFill>
      </p:bgPr>
    </p:bg>
    <p:spTree>
      <p:nvGrpSpPr>
        <p:cNvPr id="1" name=""/>
        <p:cNvGrpSpPr/>
        <p:nvPr/>
      </p:nvGrpSpPr>
      <p:grpSpPr>
        <a:xfrm>
          <a:off x="0" y="0"/>
          <a:ext cx="0" cy="0"/>
          <a:chOff x="0" y="0"/>
          <a:chExt cx="0" cy="0"/>
        </a:xfrm>
      </p:grpSpPr>
      <p:sp>
        <p:nvSpPr>
          <p:cNvPr id="2" name="Text 0"/>
          <p:cNvSpPr/>
          <p:nvPr/>
        </p:nvSpPr>
        <p:spPr>
          <a:xfrm>
            <a:off x="457200" y="365760"/>
            <a:ext cx="11247120" cy="548640"/>
          </a:xfrm>
          <a:prstGeom prst="rect">
            <a:avLst/>
          </a:prstGeom>
          <a:noFill/>
          <a:ln/>
        </p:spPr>
        <p:txBody>
          <a:bodyPr wrap="square" lIns="0" tIns="0" rIns="0" bIns="0" rtlCol="0" anchor="ctr"/>
          <a:lstStyle/>
          <a:p>
            <a:pPr indent="0" marL="0">
              <a:buNone/>
            </a:pPr>
            <a:r>
              <a:rPr lang="en-US" sz="3000" b="1" dirty="0">
                <a:solidFill>
                  <a:srgbClr val="1457B8"/>
                </a:solidFill>
                <a:latin typeface="Georgia" pitchFamily="34" charset="0"/>
                <a:ea typeface="Georgia" pitchFamily="34" charset="-122"/>
                <a:cs typeface="Georgia" pitchFamily="34" charset="-120"/>
              </a:rPr>
              <a:t>Marginal Relief Under Section 87A</a:t>
            </a:r>
            <a:endParaRPr lang="en-US" sz="3000" dirty="0"/>
          </a:p>
        </p:txBody>
      </p:sp>
      <p:sp>
        <p:nvSpPr>
          <p:cNvPr id="3" name="Shape 1"/>
          <p:cNvSpPr/>
          <p:nvPr/>
        </p:nvSpPr>
        <p:spPr>
          <a:xfrm>
            <a:off x="548640" y="1554480"/>
            <a:ext cx="11064240" cy="1463040"/>
          </a:xfrm>
          <a:prstGeom prst="roundRect">
            <a:avLst>
              <a:gd name="adj" fmla="val 5000"/>
            </a:avLst>
          </a:prstGeom>
          <a:solidFill>
            <a:srgbClr val="1457B8"/>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4" name="Text 2"/>
          <p:cNvSpPr/>
          <p:nvPr/>
        </p:nvSpPr>
        <p:spPr>
          <a:xfrm>
            <a:off x="822960" y="1691640"/>
            <a:ext cx="10515600" cy="1188720"/>
          </a:xfrm>
          <a:prstGeom prst="rect">
            <a:avLst/>
          </a:prstGeom>
          <a:noFill/>
          <a:ln/>
        </p:spPr>
        <p:txBody>
          <a:bodyPr wrap="square" lIns="0" tIns="0" rIns="0" bIns="0" rtlCol="0" anchor="t"/>
          <a:lstStyle/>
          <a:p>
            <a:pPr indent="0" marL="0">
              <a:buNone/>
            </a:pPr>
            <a:r>
              <a:rPr lang="en-US" sz="1400" dirty="0">
                <a:solidFill>
                  <a:srgbClr val="FFFFFF"/>
                </a:solidFill>
              </a:rPr>
              <a:t>Without marginal relief, earning one rupee over Rs.12,00,000 taxable income would create tax on the full amount — a cliff-edge that turns a small raise into a net loss. Marginal relief caps the tax at the amount of income actually over the threshold.</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3246120"/>
          <a:ext cx="11064240" cy="1828800"/>
        </p:xfrm>
        <a:graphic>
          <a:graphicData uri="http://schemas.openxmlformats.org/drawingml/2006/table">
            <a:tbl>
              <a:tblPr/>
              <a:tblGrid>
                <a:gridCol w="2103120"/>
                <a:gridCol w="2377440"/>
                <a:gridCol w="2468880"/>
                <a:gridCol w="2011680"/>
                <a:gridCol w="2103120"/>
              </a:tblGrid>
              <a:tr h="609600">
                <a:tc>
                  <a:txBody>
                    <a:bodyPr/>
                    <a:lstStyle/>
                    <a:p>
                      <a:pPr indent="0" marL="0">
                        <a:buNone/>
                      </a:pPr>
                      <a:r>
                        <a:rPr lang="en-US" sz="1300" b="1" dirty="0">
                          <a:solidFill>
                            <a:srgbClr val="FFFFFF"/>
                          </a:solidFill>
                        </a:rPr>
                        <a:t>CTC</a:t>
                      </a:r>
                      <a:endParaRPr lang="en-US" sz="130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1457B8"/>
                    </a:solidFill>
                  </a:tcPr>
                </a:tc>
                <a:tc>
                  <a:txBody>
                    <a:bodyPr/>
                    <a:lstStyle/>
                    <a:p>
                      <a:pPr indent="0" marL="0">
                        <a:buNone/>
                      </a:pPr>
                      <a:r>
                        <a:rPr lang="en-US" sz="1300" b="1" dirty="0">
                          <a:solidFill>
                            <a:srgbClr val="FFFFFF"/>
                          </a:solidFill>
                        </a:rPr>
                        <a:t>Taxable income</a:t>
                      </a:r>
                      <a:endParaRPr lang="en-US" sz="130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1457B8"/>
                    </a:solidFill>
                  </a:tcPr>
                </a:tc>
                <a:tc>
                  <a:txBody>
                    <a:bodyPr/>
                    <a:lstStyle/>
                    <a:p>
                      <a:pPr indent="0" marL="0">
                        <a:buNone/>
                      </a:pPr>
                      <a:r>
                        <a:rPr lang="en-US" sz="1300" b="1" dirty="0">
                          <a:solidFill>
                            <a:srgbClr val="FFFFFF"/>
                          </a:solidFill>
                        </a:rPr>
                        <a:t>Excess over Rs.12,00,000</a:t>
                      </a:r>
                      <a:endParaRPr lang="en-US" sz="130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1457B8"/>
                    </a:solidFill>
                  </a:tcPr>
                </a:tc>
                <a:tc>
                  <a:txBody>
                    <a:bodyPr/>
                    <a:lstStyle/>
                    <a:p>
                      <a:pPr indent="0" marL="0">
                        <a:buNone/>
                      </a:pPr>
                      <a:r>
                        <a:rPr lang="en-US" sz="1300" b="1" dirty="0">
                          <a:solidFill>
                            <a:srgbClr val="FFFFFF"/>
                          </a:solidFill>
                        </a:rPr>
                        <a:t>Tax charged</a:t>
                      </a:r>
                      <a:endParaRPr lang="en-US" sz="130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1457B8"/>
                    </a:solidFill>
                  </a:tcPr>
                </a:tc>
                <a:tc>
                  <a:txBody>
                    <a:bodyPr/>
                    <a:lstStyle/>
                    <a:p>
                      <a:pPr indent="0" marL="0">
                        <a:buNone/>
                      </a:pPr>
                      <a:r>
                        <a:rPr lang="en-US" sz="1300" b="1" dirty="0">
                          <a:solidFill>
                            <a:srgbClr val="FFFFFF"/>
                          </a:solidFill>
                        </a:rPr>
                        <a:t>What happened</a:t>
                      </a:r>
                      <a:endParaRPr lang="en-US" sz="130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solidFill>
                      <a:srgbClr val="1457B8"/>
                    </a:solidFill>
                  </a:tcPr>
                </a:tc>
              </a:tr>
              <a:tr h="609600">
                <a:tc>
                  <a:txBody>
                    <a:bodyPr/>
                    <a:lstStyle/>
                    <a:p>
                      <a:pPr indent="0" marL="0">
                        <a:buNone/>
                      </a:pPr>
                      <a:r>
                        <a:rPr lang="en-US" sz="1300" dirty="0">
                          <a:solidFill>
                            <a:srgbClr val="000000"/>
                          </a:solidFill>
                        </a:rPr>
                        <a:t>Rs.14,00,000</a:t>
                      </a:r>
                      <a:endParaRPr lang="en-US" sz="130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tcPr>
                </a:tc>
                <a:tc>
                  <a:txBody>
                    <a:bodyPr/>
                    <a:lstStyle/>
                    <a:p>
                      <a:pPr indent="0" marL="0">
                        <a:buNone/>
                      </a:pPr>
                      <a:r>
                        <a:rPr lang="en-US" sz="1300" dirty="0">
                          <a:solidFill>
                            <a:srgbClr val="000000"/>
                          </a:solidFill>
                        </a:rPr>
                        <a:t>Rs.12,30,864</a:t>
                      </a:r>
                      <a:endParaRPr lang="en-US" sz="130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tcPr>
                </a:tc>
                <a:tc>
                  <a:txBody>
                    <a:bodyPr/>
                    <a:lstStyle/>
                    <a:p>
                      <a:pPr indent="0" marL="0">
                        <a:buNone/>
                      </a:pPr>
                      <a:r>
                        <a:rPr lang="en-US" sz="1300" dirty="0">
                          <a:solidFill>
                            <a:srgbClr val="000000"/>
                          </a:solidFill>
                        </a:rPr>
                        <a:t>Rs.30,864</a:t>
                      </a:r>
                      <a:endParaRPr lang="en-US" sz="130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tcPr>
                </a:tc>
                <a:tc>
                  <a:txBody>
                    <a:bodyPr/>
                    <a:lstStyle/>
                    <a:p>
                      <a:pPr indent="0" marL="0">
                        <a:buNone/>
                      </a:pPr>
                      <a:r>
                        <a:rPr lang="en-US" sz="1300" dirty="0">
                          <a:solidFill>
                            <a:srgbClr val="000000"/>
                          </a:solidFill>
                        </a:rPr>
                        <a:t>Rs.30,864</a:t>
                      </a:r>
                      <a:endParaRPr lang="en-US" sz="130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tcPr>
                </a:tc>
                <a:tc>
                  <a:txBody>
                    <a:bodyPr/>
                    <a:lstStyle/>
                    <a:p>
                      <a:pPr indent="0" marL="0">
                        <a:buNone/>
                      </a:pPr>
                      <a:r>
                        <a:rPr lang="en-US" sz="1300" dirty="0">
                          <a:solidFill>
                            <a:srgbClr val="000000"/>
                          </a:solidFill>
                        </a:rPr>
                        <a:t>Capped exactly at the excess</a:t>
                      </a:r>
                      <a:endParaRPr lang="en-US" sz="130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tcPr>
                </a:tc>
              </a:tr>
              <a:tr h="609600">
                <a:tc>
                  <a:txBody>
                    <a:bodyPr/>
                    <a:lstStyle/>
                    <a:p>
                      <a:pPr indent="0" marL="0">
                        <a:buNone/>
                      </a:pPr>
                      <a:r>
                        <a:rPr lang="en-US" sz="1300" dirty="0">
                          <a:solidFill>
                            <a:srgbClr val="000000"/>
                          </a:solidFill>
                        </a:rPr>
                        <a:t>Rs.14,50,000</a:t>
                      </a:r>
                      <a:endParaRPr lang="en-US" sz="130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tcPr>
                </a:tc>
                <a:tc>
                  <a:txBody>
                    <a:bodyPr/>
                    <a:lstStyle/>
                    <a:p>
                      <a:pPr indent="0" marL="0">
                        <a:buNone/>
                      </a:pPr>
                      <a:r>
                        <a:rPr lang="en-US" sz="1300" dirty="0">
                          <a:solidFill>
                            <a:srgbClr val="000000"/>
                          </a:solidFill>
                        </a:rPr>
                        <a:t>—</a:t>
                      </a:r>
                      <a:endParaRPr lang="en-US" sz="130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tcPr>
                </a:tc>
                <a:tc>
                  <a:txBody>
                    <a:bodyPr/>
                    <a:lstStyle/>
                    <a:p>
                      <a:pPr indent="0" marL="0">
                        <a:buNone/>
                      </a:pPr>
                      <a:r>
                        <a:rPr lang="en-US" sz="1300" dirty="0">
                          <a:solidFill>
                            <a:srgbClr val="000000"/>
                          </a:solidFill>
                        </a:rPr>
                        <a:t>Rs.77,502</a:t>
                      </a:r>
                      <a:endParaRPr lang="en-US" sz="130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tcPr>
                </a:tc>
                <a:tc>
                  <a:txBody>
                    <a:bodyPr/>
                    <a:lstStyle/>
                    <a:p>
                      <a:pPr indent="0" marL="0">
                        <a:buNone/>
                      </a:pPr>
                      <a:r>
                        <a:rPr lang="en-US" sz="1300" dirty="0">
                          <a:solidFill>
                            <a:srgbClr val="000000"/>
                          </a:solidFill>
                        </a:rPr>
                        <a:t>Rs.71,625</a:t>
                      </a:r>
                      <a:endParaRPr lang="en-US" sz="130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tcPr>
                </a:tc>
                <a:tc>
                  <a:txBody>
                    <a:bodyPr/>
                    <a:lstStyle/>
                    <a:p>
                      <a:pPr indent="0" marL="0">
                        <a:buNone/>
                      </a:pPr>
                      <a:r>
                        <a:rPr lang="en-US" sz="1300" dirty="0">
                          <a:solidFill>
                            <a:srgbClr val="000000"/>
                          </a:solidFill>
                        </a:rPr>
                        <a:t>Ordinary slab tax applies — already below the cap</a:t>
                      </a:r>
                      <a:endParaRPr lang="en-US" sz="1300" dirty="0"/>
                    </a:p>
                  </a:txBody>
                  <a:tcPr marL="91440" marR="91440" marT="45720" marB="45720">
                    <a:lnL w="9525" cap="flat" cmpd="sng" algn="ctr">
                      <a:solidFill>
                        <a:srgbClr val="CCD6E6"/>
                      </a:solidFill>
                      <a:prstDash val="solid"/>
                      <a:round/>
                      <a:headEnd type="none" w="med" len="med"/>
                      <a:tailEnd type="none" w="med" len="med"/>
                    </a:lnL>
                    <a:lnR w="9525" cap="flat" cmpd="sng" algn="ctr">
                      <a:solidFill>
                        <a:srgbClr val="CCD6E6"/>
                      </a:solidFill>
                      <a:prstDash val="solid"/>
                      <a:round/>
                      <a:headEnd type="none" w="med" len="med"/>
                      <a:tailEnd type="none" w="med" len="med"/>
                    </a:lnR>
                    <a:lnT w="9525" cap="flat" cmpd="sng" algn="ctr">
                      <a:solidFill>
                        <a:srgbClr val="CCD6E6"/>
                      </a:solidFill>
                      <a:prstDash val="solid"/>
                      <a:round/>
                      <a:headEnd type="none" w="med" len="med"/>
                      <a:tailEnd type="none" w="med" len="med"/>
                    </a:lnT>
                    <a:lnB w="9525" cap="flat" cmpd="sng" algn="ctr">
                      <a:solidFill>
                        <a:srgbClr val="CCD6E6"/>
                      </a:solidFill>
                      <a:prstDash val="solid"/>
                      <a:round/>
                      <a:headEnd type="none" w="med" len="med"/>
                      <a:tailEnd type="none" w="med" len="med"/>
                    </a:lnB>
                  </a:tcPr>
                </a:tc>
              </a:tr>
            </a:tbl>
          </a:graphicData>
        </a:graphic>
      </p:graphicFrame>
      <p:sp>
        <p:nvSpPr>
          <p:cNvPr id="6" name="Shape 3"/>
          <p:cNvSpPr/>
          <p:nvPr/>
        </p:nvSpPr>
        <p:spPr>
          <a:xfrm>
            <a:off x="548640" y="5394960"/>
            <a:ext cx="11064240" cy="822960"/>
          </a:xfrm>
          <a:prstGeom prst="roundRect">
            <a:avLst>
              <a:gd name="adj" fmla="val 8889"/>
            </a:avLst>
          </a:prstGeom>
          <a:solidFill>
            <a:srgbClr val="FFFFFF"/>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7" name="Text 4"/>
          <p:cNvSpPr/>
          <p:nvPr/>
        </p:nvSpPr>
        <p:spPr>
          <a:xfrm>
            <a:off x="822960" y="5394960"/>
            <a:ext cx="10515600" cy="822960"/>
          </a:xfrm>
          <a:prstGeom prst="rect">
            <a:avLst/>
          </a:prstGeom>
          <a:noFill/>
          <a:ln/>
        </p:spPr>
        <p:txBody>
          <a:bodyPr wrap="square" lIns="0" tIns="0" rIns="0" bIns="0" rtlCol="0" anchor="ctr"/>
          <a:lstStyle/>
          <a:p>
            <a:pPr indent="0" marL="0">
              <a:buNone/>
            </a:pPr>
            <a:r>
              <a:rPr lang="en-US" sz="1250" i="1" dirty="0">
                <a:solidFill>
                  <a:srgbClr val="6B7787"/>
                </a:solidFill>
              </a:rPr>
              <a:t>At Rs.14,00,000 CTC, relief exactly cancels the excess. At Rs.14,50,000, ordinary slab tax is already the smaller number, so relief stops applying.</a:t>
            </a:r>
            <a:endParaRPr lang="en-US" sz="1250" dirty="0"/>
          </a:p>
        </p:txBody>
      </p:sp>
      <p:sp>
        <p:nvSpPr>
          <p:cNvPr id="8" name="Text 5"/>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B7787"/>
                </a:solidFill>
              </a:rPr>
              <a:t>SmartEdit AI  ·  Final Viva Presentation</a:t>
            </a:r>
            <a:endParaRPr lang="en-US" sz="900" dirty="0"/>
          </a:p>
        </p:txBody>
      </p:sp>
      <p:sp>
        <p:nvSpPr>
          <p:cNvPr id="9" name="Text 6"/>
          <p:cNvSpPr/>
          <p:nvPr/>
        </p:nvSpPr>
        <p:spPr>
          <a:xfrm>
            <a:off x="10972800" y="6446520"/>
            <a:ext cx="731520" cy="274320"/>
          </a:xfrm>
          <a:prstGeom prst="rect">
            <a:avLst/>
          </a:prstGeom>
          <a:noFill/>
          <a:ln/>
        </p:spPr>
        <p:txBody>
          <a:bodyPr wrap="square" rtlCol="0" anchor="ctr"/>
          <a:lstStyle/>
          <a:p>
            <a:pPr algn="r" indent="0" marL="0">
              <a:buNone/>
            </a:pPr>
            <a:r>
              <a:rPr lang="en-US" sz="900" dirty="0">
                <a:solidFill>
                  <a:srgbClr val="6B7787"/>
                </a:solidFill>
              </a:rPr>
              <a:t>17 / 29</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9FC"/>
        </a:solidFill>
      </p:bgPr>
    </p:bg>
    <p:spTree>
      <p:nvGrpSpPr>
        <p:cNvPr id="1" name=""/>
        <p:cNvGrpSpPr/>
        <p:nvPr/>
      </p:nvGrpSpPr>
      <p:grpSpPr>
        <a:xfrm>
          <a:off x="0" y="0"/>
          <a:ext cx="0" cy="0"/>
          <a:chOff x="0" y="0"/>
          <a:chExt cx="0" cy="0"/>
        </a:xfrm>
      </p:grpSpPr>
      <p:sp>
        <p:nvSpPr>
          <p:cNvPr id="2" name="Text 0"/>
          <p:cNvSpPr/>
          <p:nvPr/>
        </p:nvSpPr>
        <p:spPr>
          <a:xfrm>
            <a:off x="457200" y="365760"/>
            <a:ext cx="11247120" cy="548640"/>
          </a:xfrm>
          <a:prstGeom prst="rect">
            <a:avLst/>
          </a:prstGeom>
          <a:noFill/>
          <a:ln/>
        </p:spPr>
        <p:txBody>
          <a:bodyPr wrap="square" lIns="0" tIns="0" rIns="0" bIns="0" rtlCol="0" anchor="ctr"/>
          <a:lstStyle/>
          <a:p>
            <a:pPr indent="0" marL="0">
              <a:buNone/>
            </a:pPr>
            <a:r>
              <a:rPr lang="en-US" sz="3000" b="1" dirty="0">
                <a:solidFill>
                  <a:srgbClr val="1457B8"/>
                </a:solidFill>
                <a:latin typeface="Georgia" pitchFamily="34" charset="0"/>
                <a:ea typeface="Georgia" pitchFamily="34" charset="-122"/>
                <a:cs typeface="Georgia" pitchFamily="34" charset="-120"/>
              </a:rPr>
              <a:t>Natural-Language Query Engine</a:t>
            </a:r>
            <a:endParaRPr lang="en-US" sz="3000" dirty="0"/>
          </a:p>
        </p:txBody>
      </p:sp>
      <p:sp>
        <p:nvSpPr>
          <p:cNvPr id="3" name="Text 1"/>
          <p:cNvSpPr/>
          <p:nvPr/>
        </p:nvSpPr>
        <p:spPr>
          <a:xfrm>
            <a:off x="457200" y="960120"/>
            <a:ext cx="11247120" cy="365760"/>
          </a:xfrm>
          <a:prstGeom prst="rect">
            <a:avLst/>
          </a:prstGeom>
          <a:noFill/>
          <a:ln/>
        </p:spPr>
        <p:txBody>
          <a:bodyPr wrap="square" lIns="0" tIns="0" rIns="0" bIns="0" rtlCol="0" anchor="ctr"/>
          <a:lstStyle/>
          <a:p>
            <a:pPr indent="0" marL="0">
              <a:buNone/>
            </a:pPr>
            <a:r>
              <a:rPr lang="en-US" sz="1400" i="1" dirty="0">
                <a:solidFill>
                  <a:srgbClr val="6B7787"/>
                </a:solidFill>
              </a:rPr>
              <a:t>Every rupee figure comes from a real database aggregate</a:t>
            </a:r>
            <a:endParaRPr lang="en-US" sz="1400" dirty="0"/>
          </a:p>
        </p:txBody>
      </p:sp>
      <p:pic>
        <p:nvPicPr>
          <p:cNvPr id="4" name="Image 0" descr="C:\Users\Vicke\OneDrive\Desktop\Python\A_COH_10\shyam sundar\SmartEditAI\docs\diagrams\12_rag_pipeline.png">    </p:cNvPr>
          <p:cNvPicPr>
            <a:picLocks noChangeAspect="1"/>
          </p:cNvPicPr>
          <p:nvPr/>
        </p:nvPicPr>
        <p:blipFill>
          <a:blip r:embed="rId1"/>
          <a:srcRect l="-12500" r="-12500" t="0" b="0"/>
          <a:stretch/>
        </p:blipFill>
        <p:spPr>
          <a:xfrm>
            <a:off x="640080" y="1463040"/>
            <a:ext cx="5943600" cy="4754880"/>
          </a:xfrm>
          <a:prstGeom prst="rect">
            <a:avLst/>
          </a:prstGeom>
        </p:spPr>
      </p:pic>
      <p:sp>
        <p:nvSpPr>
          <p:cNvPr id="5" name="Shape 2"/>
          <p:cNvSpPr/>
          <p:nvPr/>
        </p:nvSpPr>
        <p:spPr>
          <a:xfrm>
            <a:off x="6766560" y="1508760"/>
            <a:ext cx="4846320" cy="4709160"/>
          </a:xfrm>
          <a:prstGeom prst="roundRect">
            <a:avLst>
              <a:gd name="adj" fmla="val 1553"/>
            </a:avLst>
          </a:prstGeom>
          <a:solidFill>
            <a:srgbClr val="FFFFFF"/>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6" name="Text 3"/>
          <p:cNvSpPr/>
          <p:nvPr/>
        </p:nvSpPr>
        <p:spPr>
          <a:xfrm>
            <a:off x="6995160" y="1691640"/>
            <a:ext cx="4389120" cy="320040"/>
          </a:xfrm>
          <a:prstGeom prst="rect">
            <a:avLst/>
          </a:prstGeom>
          <a:noFill/>
          <a:ln/>
        </p:spPr>
        <p:txBody>
          <a:bodyPr wrap="square" lIns="0" tIns="0" rIns="0" bIns="0" rtlCol="0" anchor="ctr"/>
          <a:lstStyle/>
          <a:p>
            <a:pPr indent="0" marL="0">
              <a:buNone/>
            </a:pPr>
            <a:r>
              <a:rPr lang="en-US" sz="1450" b="1" dirty="0">
                <a:solidFill>
                  <a:srgbClr val="1457B8"/>
                </a:solidFill>
              </a:rPr>
              <a:t>The pipeline, in order</a:t>
            </a:r>
            <a:endParaRPr lang="en-US" sz="1450" dirty="0"/>
          </a:p>
        </p:txBody>
      </p:sp>
      <p:sp>
        <p:nvSpPr>
          <p:cNvPr id="7" name="Text 4"/>
          <p:cNvSpPr/>
          <p:nvPr/>
        </p:nvSpPr>
        <p:spPr>
          <a:xfrm>
            <a:off x="7040880" y="2103120"/>
            <a:ext cx="4572000" cy="393192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1250" dirty="0">
                <a:solidFill>
                  <a:srgbClr val="1F2733"/>
                </a:solidFill>
              </a:rPr>
              <a:t>parse_query turns the question into a structured query using regular expressions and keyword tables — no model involved</a:t>
            </a:r>
            <a:endParaRPr lang="en-US" sz="1250" dirty="0"/>
          </a:p>
          <a:p>
            <a:pPr marL="342900" indent="-342900">
              <a:spcAft>
                <a:spcPts val="1000"/>
              </a:spcAft>
              <a:buSzPct val="100000"/>
              <a:buFont typeface="+mj-lt"/>
              <a:buAutoNum type="arabicPeriod" startAt="1"/>
            </a:pPr>
            <a:r>
              <a:rPr lang="en-US" sz="1250" dirty="0">
                <a:solidFill>
                  <a:srgbClr val="1F2733"/>
                </a:solidFill>
              </a:rPr>
              <a:t>execute runs a real SQLAlchemy aggregate scoped to the signed-in user</a:t>
            </a:r>
            <a:endParaRPr lang="en-US" sz="1250" dirty="0"/>
          </a:p>
          <a:p>
            <a:pPr marL="342900" indent="-342900">
              <a:spcAft>
                <a:spcPts val="1000"/>
              </a:spcAft>
              <a:buSzPct val="100000"/>
              <a:buFont typeface="+mj-lt"/>
              <a:buAutoNum type="arabicPeriod" startAt="1"/>
            </a:pPr>
            <a:r>
              <a:rPr lang="en-US" sz="1250" dirty="0">
                <a:solidFill>
                  <a:srgbClr val="1F2733"/>
                </a:solidFill>
              </a:rPr>
              <a:t>Embeddings retrieve supporting transactions for context only — never for a figure</a:t>
            </a:r>
            <a:endParaRPr lang="en-US" sz="1250" dirty="0"/>
          </a:p>
          <a:p>
            <a:pPr marL="342900" indent="-342900">
              <a:spcAft>
                <a:spcPts val="1000"/>
              </a:spcAft>
              <a:buSzPct val="100000"/>
              <a:buFont typeface="+mj-lt"/>
              <a:buAutoNum type="arabicPeriod" startAt="1"/>
            </a:pPr>
            <a:r>
              <a:rPr lang="en-US" sz="1250" dirty="0">
                <a:solidFill>
                  <a:srgbClr val="1F2733"/>
                </a:solidFill>
              </a:rPr>
              <a:t>The model is handed the finished sentence and asked only to reword it</a:t>
            </a:r>
            <a:endParaRPr lang="en-US" sz="1250" dirty="0"/>
          </a:p>
          <a:p>
            <a:pPr marL="342900" indent="-342900">
              <a:spcAft>
                <a:spcPts val="1000"/>
              </a:spcAft>
              <a:buSzPct val="100000"/>
              <a:buFont typeface="+mj-lt"/>
              <a:buAutoNum type="arabicPeriod" startAt="1"/>
            </a:pPr>
            <a:r>
              <a:rPr lang="en-US" sz="1250" dirty="0">
                <a:solidFill>
                  <a:srgbClr val="1F2733"/>
                </a:solidFill>
              </a:rPr>
              <a:t>A guard discards the reply if it invents or miscomputes anything</a:t>
            </a:r>
            <a:endParaRPr lang="en-US" sz="1250" dirty="0"/>
          </a:p>
        </p:txBody>
      </p:sp>
      <p:sp>
        <p:nvSpPr>
          <p:cNvPr id="8" name="Text 5"/>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B7787"/>
                </a:solidFill>
              </a:rPr>
              <a:t>SmartEdit AI  ·  Final Viva Presentation</a:t>
            </a:r>
            <a:endParaRPr lang="en-US" sz="900" dirty="0"/>
          </a:p>
        </p:txBody>
      </p:sp>
      <p:sp>
        <p:nvSpPr>
          <p:cNvPr id="9" name="Text 6"/>
          <p:cNvSpPr/>
          <p:nvPr/>
        </p:nvSpPr>
        <p:spPr>
          <a:xfrm>
            <a:off x="10972800" y="6446520"/>
            <a:ext cx="731520" cy="274320"/>
          </a:xfrm>
          <a:prstGeom prst="rect">
            <a:avLst/>
          </a:prstGeom>
          <a:noFill/>
          <a:ln/>
        </p:spPr>
        <p:txBody>
          <a:bodyPr wrap="square" rtlCol="0" anchor="ctr"/>
          <a:lstStyle/>
          <a:p>
            <a:pPr algn="r" indent="0" marL="0">
              <a:buNone/>
            </a:pPr>
            <a:r>
              <a:rPr lang="en-US" sz="900" dirty="0">
                <a:solidFill>
                  <a:srgbClr val="6B7787"/>
                </a:solidFill>
              </a:rPr>
              <a:t>18 / 29</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9FC"/>
        </a:solidFill>
      </p:bgPr>
    </p:bg>
    <p:spTree>
      <p:nvGrpSpPr>
        <p:cNvPr id="1" name=""/>
        <p:cNvGrpSpPr/>
        <p:nvPr/>
      </p:nvGrpSpPr>
      <p:grpSpPr>
        <a:xfrm>
          <a:off x="0" y="0"/>
          <a:ext cx="0" cy="0"/>
          <a:chOff x="0" y="0"/>
          <a:chExt cx="0" cy="0"/>
        </a:xfrm>
      </p:grpSpPr>
      <p:sp>
        <p:nvSpPr>
          <p:cNvPr id="2" name="Text 0"/>
          <p:cNvSpPr/>
          <p:nvPr/>
        </p:nvSpPr>
        <p:spPr>
          <a:xfrm>
            <a:off x="457200" y="365760"/>
            <a:ext cx="11247120" cy="548640"/>
          </a:xfrm>
          <a:prstGeom prst="rect">
            <a:avLst/>
          </a:prstGeom>
          <a:noFill/>
          <a:ln/>
        </p:spPr>
        <p:txBody>
          <a:bodyPr wrap="square" lIns="0" tIns="0" rIns="0" bIns="0" rtlCol="0" anchor="ctr"/>
          <a:lstStyle/>
          <a:p>
            <a:pPr indent="0" marL="0">
              <a:buNone/>
            </a:pPr>
            <a:r>
              <a:rPr lang="en-US" sz="3000" b="1" dirty="0">
                <a:solidFill>
                  <a:srgbClr val="1457B8"/>
                </a:solidFill>
                <a:latin typeface="Georgia" pitchFamily="34" charset="0"/>
                <a:ea typeface="Georgia" pitchFamily="34" charset="-122"/>
                <a:cs typeface="Georgia" pitchFamily="34" charset="-120"/>
              </a:rPr>
              <a:t>The On-Device Model</a:t>
            </a:r>
            <a:endParaRPr lang="en-US" sz="3000" dirty="0"/>
          </a:p>
        </p:txBody>
      </p:sp>
      <p:sp>
        <p:nvSpPr>
          <p:cNvPr id="3" name="Shape 1"/>
          <p:cNvSpPr/>
          <p:nvPr/>
        </p:nvSpPr>
        <p:spPr>
          <a:xfrm>
            <a:off x="548640" y="1645920"/>
            <a:ext cx="2651760" cy="1554480"/>
          </a:xfrm>
          <a:prstGeom prst="roundRect">
            <a:avLst>
              <a:gd name="adj" fmla="val 4706"/>
            </a:avLst>
          </a:prstGeom>
          <a:solidFill>
            <a:srgbClr val="FFFFFF"/>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4" name="Text 2"/>
          <p:cNvSpPr/>
          <p:nvPr/>
        </p:nvSpPr>
        <p:spPr>
          <a:xfrm>
            <a:off x="548640" y="1783080"/>
            <a:ext cx="2651760" cy="822960"/>
          </a:xfrm>
          <a:prstGeom prst="rect">
            <a:avLst/>
          </a:prstGeom>
          <a:noFill/>
          <a:ln/>
        </p:spPr>
        <p:txBody>
          <a:bodyPr wrap="square" lIns="0" tIns="0" rIns="0" bIns="0" rtlCol="0" anchor="ctr"/>
          <a:lstStyle/>
          <a:p>
            <a:pPr algn="ctr" indent="0" marL="0">
              <a:buNone/>
            </a:pPr>
            <a:r>
              <a:rPr lang="en-US" sz="3200" b="1" dirty="0">
                <a:solidFill>
                  <a:srgbClr val="1457B8"/>
                </a:solidFill>
              </a:rPr>
              <a:t>1,066 MB</a:t>
            </a:r>
            <a:endParaRPr lang="en-US" sz="3200" dirty="0"/>
          </a:p>
        </p:txBody>
      </p:sp>
      <p:sp>
        <p:nvSpPr>
          <p:cNvPr id="5" name="Text 3"/>
          <p:cNvSpPr/>
          <p:nvPr/>
        </p:nvSpPr>
        <p:spPr>
          <a:xfrm>
            <a:off x="548640" y="2606040"/>
            <a:ext cx="2651760" cy="502920"/>
          </a:xfrm>
          <a:prstGeom prst="rect">
            <a:avLst/>
          </a:prstGeom>
          <a:noFill/>
          <a:ln/>
        </p:spPr>
        <p:txBody>
          <a:bodyPr wrap="square" lIns="0" tIns="0" rIns="0" bIns="0" rtlCol="0" anchor="ctr"/>
          <a:lstStyle/>
          <a:p>
            <a:pPr algn="ctr" indent="0" marL="0">
              <a:buNone/>
            </a:pPr>
            <a:r>
              <a:rPr lang="en-US" sz="1150" dirty="0">
                <a:solidFill>
                  <a:srgbClr val="6B7787"/>
                </a:solidFill>
              </a:rPr>
              <a:t>Model file size (GGUF, Q4_K_M)</a:t>
            </a:r>
            <a:endParaRPr lang="en-US" sz="1150" dirty="0"/>
          </a:p>
        </p:txBody>
      </p:sp>
      <p:sp>
        <p:nvSpPr>
          <p:cNvPr id="6" name="Shape 4"/>
          <p:cNvSpPr/>
          <p:nvPr/>
        </p:nvSpPr>
        <p:spPr>
          <a:xfrm>
            <a:off x="3429000" y="1645920"/>
            <a:ext cx="2651760" cy="1554480"/>
          </a:xfrm>
          <a:prstGeom prst="roundRect">
            <a:avLst>
              <a:gd name="adj" fmla="val 4706"/>
            </a:avLst>
          </a:prstGeom>
          <a:solidFill>
            <a:srgbClr val="FFFFFF"/>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7" name="Text 5"/>
          <p:cNvSpPr/>
          <p:nvPr/>
        </p:nvSpPr>
        <p:spPr>
          <a:xfrm>
            <a:off x="3429000" y="1783080"/>
            <a:ext cx="2651760" cy="822960"/>
          </a:xfrm>
          <a:prstGeom prst="rect">
            <a:avLst/>
          </a:prstGeom>
          <a:noFill/>
          <a:ln/>
        </p:spPr>
        <p:txBody>
          <a:bodyPr wrap="square" lIns="0" tIns="0" rIns="0" bIns="0" rtlCol="0" anchor="ctr"/>
          <a:lstStyle/>
          <a:p>
            <a:pPr algn="ctr" indent="0" marL="0">
              <a:buNone/>
            </a:pPr>
            <a:r>
              <a:rPr lang="en-US" sz="3200" b="1" dirty="0">
                <a:solidFill>
                  <a:srgbClr val="1457B8"/>
                </a:solidFill>
              </a:rPr>
              <a:t>2.7 s</a:t>
            </a:r>
            <a:endParaRPr lang="en-US" sz="3200" dirty="0"/>
          </a:p>
        </p:txBody>
      </p:sp>
      <p:sp>
        <p:nvSpPr>
          <p:cNvPr id="8" name="Text 6"/>
          <p:cNvSpPr/>
          <p:nvPr/>
        </p:nvSpPr>
        <p:spPr>
          <a:xfrm>
            <a:off x="3429000" y="2606040"/>
            <a:ext cx="2651760" cy="502920"/>
          </a:xfrm>
          <a:prstGeom prst="rect">
            <a:avLst/>
          </a:prstGeom>
          <a:noFill/>
          <a:ln/>
        </p:spPr>
        <p:txBody>
          <a:bodyPr wrap="square" lIns="0" tIns="0" rIns="0" bIns="0" rtlCol="0" anchor="ctr"/>
          <a:lstStyle/>
          <a:p>
            <a:pPr algn="ctr" indent="0" marL="0">
              <a:buNone/>
            </a:pPr>
            <a:r>
              <a:rPr lang="en-US" sz="1150" dirty="0">
                <a:solidFill>
                  <a:srgbClr val="6B7787"/>
                </a:solidFill>
              </a:rPr>
              <a:t>Time to load</a:t>
            </a:r>
            <a:endParaRPr lang="en-US" sz="1150" dirty="0"/>
          </a:p>
        </p:txBody>
      </p:sp>
      <p:sp>
        <p:nvSpPr>
          <p:cNvPr id="9" name="Shape 7"/>
          <p:cNvSpPr/>
          <p:nvPr/>
        </p:nvSpPr>
        <p:spPr>
          <a:xfrm>
            <a:off x="6309360" y="1645920"/>
            <a:ext cx="2651760" cy="1554480"/>
          </a:xfrm>
          <a:prstGeom prst="roundRect">
            <a:avLst>
              <a:gd name="adj" fmla="val 4706"/>
            </a:avLst>
          </a:prstGeom>
          <a:solidFill>
            <a:srgbClr val="FFFFFF"/>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10" name="Text 8"/>
          <p:cNvSpPr/>
          <p:nvPr/>
        </p:nvSpPr>
        <p:spPr>
          <a:xfrm>
            <a:off x="6309360" y="1783080"/>
            <a:ext cx="2651760" cy="822960"/>
          </a:xfrm>
          <a:prstGeom prst="rect">
            <a:avLst/>
          </a:prstGeom>
          <a:noFill/>
          <a:ln/>
        </p:spPr>
        <p:txBody>
          <a:bodyPr wrap="square" lIns="0" tIns="0" rIns="0" bIns="0" rtlCol="0" anchor="ctr"/>
          <a:lstStyle/>
          <a:p>
            <a:pPr algn="ctr" indent="0" marL="0">
              <a:buNone/>
            </a:pPr>
            <a:r>
              <a:rPr lang="en-US" sz="3200" b="1" dirty="0">
                <a:solidFill>
                  <a:srgbClr val="1457B8"/>
                </a:solidFill>
              </a:rPr>
              <a:t>8.8 tok/s</a:t>
            </a:r>
            <a:endParaRPr lang="en-US" sz="3200" dirty="0"/>
          </a:p>
        </p:txBody>
      </p:sp>
      <p:sp>
        <p:nvSpPr>
          <p:cNvPr id="11" name="Text 9"/>
          <p:cNvSpPr/>
          <p:nvPr/>
        </p:nvSpPr>
        <p:spPr>
          <a:xfrm>
            <a:off x="6309360" y="2606040"/>
            <a:ext cx="2651760" cy="502920"/>
          </a:xfrm>
          <a:prstGeom prst="rect">
            <a:avLst/>
          </a:prstGeom>
          <a:noFill/>
          <a:ln/>
        </p:spPr>
        <p:txBody>
          <a:bodyPr wrap="square" lIns="0" tIns="0" rIns="0" bIns="0" rtlCol="0" anchor="ctr"/>
          <a:lstStyle/>
          <a:p>
            <a:pPr algn="ctr" indent="0" marL="0">
              <a:buNone/>
            </a:pPr>
            <a:r>
              <a:rPr lang="en-US" sz="1150" dirty="0">
                <a:solidFill>
                  <a:srgbClr val="6B7787"/>
                </a:solidFill>
              </a:rPr>
              <a:t>Generation speed</a:t>
            </a:r>
            <a:endParaRPr lang="en-US" sz="1150" dirty="0"/>
          </a:p>
        </p:txBody>
      </p:sp>
      <p:sp>
        <p:nvSpPr>
          <p:cNvPr id="12" name="Shape 10"/>
          <p:cNvSpPr/>
          <p:nvPr/>
        </p:nvSpPr>
        <p:spPr>
          <a:xfrm>
            <a:off x="9189720" y="1645920"/>
            <a:ext cx="2651760" cy="1554480"/>
          </a:xfrm>
          <a:prstGeom prst="roundRect">
            <a:avLst>
              <a:gd name="adj" fmla="val 4706"/>
            </a:avLst>
          </a:prstGeom>
          <a:solidFill>
            <a:srgbClr val="FFFFFF"/>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13" name="Text 11"/>
          <p:cNvSpPr/>
          <p:nvPr/>
        </p:nvSpPr>
        <p:spPr>
          <a:xfrm>
            <a:off x="9189720" y="1783080"/>
            <a:ext cx="2651760" cy="822960"/>
          </a:xfrm>
          <a:prstGeom prst="rect">
            <a:avLst/>
          </a:prstGeom>
          <a:noFill/>
          <a:ln/>
        </p:spPr>
        <p:txBody>
          <a:bodyPr wrap="square" lIns="0" tIns="0" rIns="0" bIns="0" rtlCol="0" anchor="ctr"/>
          <a:lstStyle/>
          <a:p>
            <a:pPr algn="ctr" indent="0" marL="0">
              <a:buNone/>
            </a:pPr>
            <a:r>
              <a:rPr lang="en-US" sz="3200" b="1" dirty="0">
                <a:solidFill>
                  <a:srgbClr val="1457B8"/>
                </a:solidFill>
              </a:rPr>
              <a:t>4096</a:t>
            </a:r>
            <a:endParaRPr lang="en-US" sz="3200" dirty="0"/>
          </a:p>
        </p:txBody>
      </p:sp>
      <p:sp>
        <p:nvSpPr>
          <p:cNvPr id="14" name="Text 12"/>
          <p:cNvSpPr/>
          <p:nvPr/>
        </p:nvSpPr>
        <p:spPr>
          <a:xfrm>
            <a:off x="9189720" y="2606040"/>
            <a:ext cx="2651760" cy="502920"/>
          </a:xfrm>
          <a:prstGeom prst="rect">
            <a:avLst/>
          </a:prstGeom>
          <a:noFill/>
          <a:ln/>
        </p:spPr>
        <p:txBody>
          <a:bodyPr wrap="square" lIns="0" tIns="0" rIns="0" bIns="0" rtlCol="0" anchor="ctr"/>
          <a:lstStyle/>
          <a:p>
            <a:pPr algn="ctr" indent="0" marL="0">
              <a:buNone/>
            </a:pPr>
            <a:r>
              <a:rPr lang="en-US" sz="1150" dirty="0">
                <a:solidFill>
                  <a:srgbClr val="6B7787"/>
                </a:solidFill>
              </a:rPr>
              <a:t>Context window (n_ctx)</a:t>
            </a:r>
            <a:endParaRPr lang="en-US" sz="1150" dirty="0"/>
          </a:p>
        </p:txBody>
      </p:sp>
      <p:sp>
        <p:nvSpPr>
          <p:cNvPr id="15" name="Shape 13"/>
          <p:cNvSpPr/>
          <p:nvPr/>
        </p:nvSpPr>
        <p:spPr>
          <a:xfrm>
            <a:off x="548640" y="3429000"/>
            <a:ext cx="11064240" cy="2606040"/>
          </a:xfrm>
          <a:prstGeom prst="roundRect">
            <a:avLst>
              <a:gd name="adj" fmla="val 2807"/>
            </a:avLst>
          </a:prstGeom>
          <a:solidFill>
            <a:srgbClr val="FFFFFF"/>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16" name="Text 14"/>
          <p:cNvSpPr/>
          <p:nvPr/>
        </p:nvSpPr>
        <p:spPr>
          <a:xfrm>
            <a:off x="868680" y="3611880"/>
            <a:ext cx="10515600" cy="2377440"/>
          </a:xfrm>
          <a:prstGeom prst="rect">
            <a:avLst/>
          </a:prstGeom>
          <a:noFill/>
          <a:ln/>
        </p:spPr>
        <p:txBody>
          <a:bodyPr wrap="square" lIns="0" tIns="0" rIns="0" bIns="0" rtlCol="0" anchor="t"/>
          <a:lstStyle/>
          <a:p>
            <a:pPr marL="342900" indent="-342900">
              <a:spcAft>
                <a:spcPts val="1100"/>
              </a:spcAft>
              <a:buSzPct val="100000"/>
              <a:buChar char="•"/>
            </a:pPr>
            <a:r>
              <a:rPr lang="en-US" sz="1400" dirty="0">
                <a:solidFill>
                  <a:srgbClr val="1F2733"/>
                </a:solidFill>
              </a:rPr>
              <a:t>Qwen2.5-1.5B-Instruct, quantised to Q4_K_M in GGUF format</a:t>
            </a:r>
            <a:endParaRPr lang="en-US" sz="1400" dirty="0"/>
          </a:p>
          <a:p>
            <a:pPr marL="342900" indent="-342900">
              <a:spcAft>
                <a:spcPts val="1100"/>
              </a:spcAft>
              <a:buSzPct val="100000"/>
              <a:buChar char="•"/>
            </a:pPr>
            <a:r>
              <a:rPr lang="en-US" sz="1400" dirty="0">
                <a:solidFill>
                  <a:srgbClr val="1F2733"/>
                </a:solidFill>
              </a:rPr>
              <a:t>Runs on llama-cpp-python 0.3.34, installed from a prebuilt CPU wheel only 6.6 MB in size — no compiler needed on the client machine</a:t>
            </a:r>
            <a:endParaRPr lang="en-US" sz="1400" dirty="0"/>
          </a:p>
          <a:p>
            <a:pPr marL="342900" indent="-342900">
              <a:spcAft>
                <a:spcPts val="1100"/>
              </a:spcAft>
              <a:buSzPct val="100000"/>
              <a:buChar char="•"/>
            </a:pPr>
            <a:r>
              <a:rPr lang="en-US" sz="1400" dirty="0">
                <a:solidFill>
                  <a:srgbClr val="1F2733"/>
                </a:solidFill>
              </a:rPr>
              <a:t>Thread count equal to the number of CPU cores on the machine it runs on</a:t>
            </a:r>
            <a:endParaRPr lang="en-US" sz="1400" dirty="0"/>
          </a:p>
          <a:p>
            <a:pPr marL="342900" indent="-342900">
              <a:spcAft>
                <a:spcPts val="1100"/>
              </a:spcAft>
              <a:buSzPct val="100000"/>
              <a:buChar char="•"/>
            </a:pPr>
            <a:r>
              <a:rPr lang="en-US" sz="1400" dirty="0">
                <a:solidFill>
                  <a:srgbClr val="1F2733"/>
                </a:solidFill>
              </a:rPr>
              <a:t>Measured on the development machine; a faster or slower machine will load and generate at a different speed, but the same figures reported here</a:t>
            </a:r>
            <a:endParaRPr lang="en-US" sz="1400" dirty="0"/>
          </a:p>
          <a:p>
            <a:pPr marL="342900" indent="-342900">
              <a:spcAft>
                <a:spcPts val="1100"/>
              </a:spcAft>
              <a:buSzPct val="100000"/>
              <a:buChar char="•"/>
            </a:pPr>
            <a:r>
              <a:rPr lang="en-US" sz="1400" dirty="0">
                <a:solidFill>
                  <a:srgbClr val="1F2733"/>
                </a:solidFill>
              </a:rPr>
              <a:t>Nothing leaves the machine in the default configuration</a:t>
            </a:r>
            <a:endParaRPr lang="en-US" sz="1400" dirty="0"/>
          </a:p>
        </p:txBody>
      </p:sp>
      <p:sp>
        <p:nvSpPr>
          <p:cNvPr id="17" name="Text 15"/>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B7787"/>
                </a:solidFill>
              </a:rPr>
              <a:t>SmartEdit AI  ·  Final Viva Presentation</a:t>
            </a:r>
            <a:endParaRPr lang="en-US" sz="900" dirty="0"/>
          </a:p>
        </p:txBody>
      </p:sp>
      <p:sp>
        <p:nvSpPr>
          <p:cNvPr id="18" name="Text 16"/>
          <p:cNvSpPr/>
          <p:nvPr/>
        </p:nvSpPr>
        <p:spPr>
          <a:xfrm>
            <a:off x="10972800" y="6446520"/>
            <a:ext cx="731520" cy="274320"/>
          </a:xfrm>
          <a:prstGeom prst="rect">
            <a:avLst/>
          </a:prstGeom>
          <a:noFill/>
          <a:ln/>
        </p:spPr>
        <p:txBody>
          <a:bodyPr wrap="square" rtlCol="0" anchor="ctr"/>
          <a:lstStyle/>
          <a:p>
            <a:pPr algn="r" indent="0" marL="0">
              <a:buNone/>
            </a:pPr>
            <a:r>
              <a:rPr lang="en-US" sz="900" dirty="0">
                <a:solidFill>
                  <a:srgbClr val="6B7787"/>
                </a:solidFill>
              </a:rPr>
              <a:t>19 / 29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9FC"/>
        </a:solidFill>
      </p:bgPr>
    </p:bg>
    <p:spTree>
      <p:nvGrpSpPr>
        <p:cNvPr id="1" name=""/>
        <p:cNvGrpSpPr/>
        <p:nvPr/>
      </p:nvGrpSpPr>
      <p:grpSpPr>
        <a:xfrm>
          <a:off x="0" y="0"/>
          <a:ext cx="0" cy="0"/>
          <a:chOff x="0" y="0"/>
          <a:chExt cx="0" cy="0"/>
        </a:xfrm>
      </p:grpSpPr>
      <p:sp>
        <p:nvSpPr>
          <p:cNvPr id="2" name="Text 0"/>
          <p:cNvSpPr/>
          <p:nvPr/>
        </p:nvSpPr>
        <p:spPr>
          <a:xfrm>
            <a:off x="457200" y="365760"/>
            <a:ext cx="11247120" cy="548640"/>
          </a:xfrm>
          <a:prstGeom prst="rect">
            <a:avLst/>
          </a:prstGeom>
          <a:noFill/>
          <a:ln/>
        </p:spPr>
        <p:txBody>
          <a:bodyPr wrap="square" lIns="0" tIns="0" rIns="0" bIns="0" rtlCol="0" anchor="ctr"/>
          <a:lstStyle/>
          <a:p>
            <a:pPr indent="0" marL="0">
              <a:buNone/>
            </a:pPr>
            <a:r>
              <a:rPr lang="en-US" sz="3000" b="1" dirty="0">
                <a:solidFill>
                  <a:srgbClr val="1457B8"/>
                </a:solidFill>
                <a:latin typeface="Georgia" pitchFamily="34" charset="0"/>
                <a:ea typeface="Georgia" pitchFamily="34" charset="-122"/>
                <a:cs typeface="Georgia" pitchFamily="34" charset="-120"/>
              </a:rPr>
              <a:t>The Provider Fallback Ladder</a:t>
            </a:r>
            <a:endParaRPr lang="en-US" sz="3000" dirty="0"/>
          </a:p>
        </p:txBody>
      </p:sp>
      <p:sp>
        <p:nvSpPr>
          <p:cNvPr id="3" name="Text 1"/>
          <p:cNvSpPr/>
          <p:nvPr/>
        </p:nvSpPr>
        <p:spPr>
          <a:xfrm>
            <a:off x="457200" y="960120"/>
            <a:ext cx="11247120" cy="365760"/>
          </a:xfrm>
          <a:prstGeom prst="rect">
            <a:avLst/>
          </a:prstGeom>
          <a:noFill/>
          <a:ln/>
        </p:spPr>
        <p:txBody>
          <a:bodyPr wrap="square" lIns="0" tIns="0" rIns="0" bIns="0" rtlCol="0" anchor="ctr"/>
          <a:lstStyle/>
          <a:p>
            <a:pPr indent="0" marL="0">
              <a:buNone/>
            </a:pPr>
            <a:r>
              <a:rPr lang="en-US" sz="1400" i="1" dirty="0">
                <a:solidFill>
                  <a:srgbClr val="6B7787"/>
                </a:solidFill>
              </a:rPr>
              <a:t>An answer is always produced</a:t>
            </a:r>
            <a:endParaRPr lang="en-US" sz="1400" dirty="0"/>
          </a:p>
        </p:txBody>
      </p:sp>
      <p:pic>
        <p:nvPicPr>
          <p:cNvPr id="4" name="Image 0" descr="C:\Users\Vicke\OneDrive\Desktop\Python\A_COH_10\shyam sundar\SmartEditAI\docs\diagrams\14_llm_fallback_chain.png">    </p:cNvPr>
          <p:cNvPicPr>
            <a:picLocks noChangeAspect="1"/>
          </p:cNvPicPr>
          <p:nvPr/>
        </p:nvPicPr>
        <p:blipFill>
          <a:blip r:embed="rId1"/>
          <a:srcRect l="-126471" r="-126471" t="0" b="0"/>
          <a:stretch/>
        </p:blipFill>
        <p:spPr>
          <a:xfrm>
            <a:off x="640080" y="1554480"/>
            <a:ext cx="10972800" cy="3108960"/>
          </a:xfrm>
          <a:prstGeom prst="rect">
            <a:avLst/>
          </a:prstGeom>
        </p:spPr>
      </p:pic>
      <p:sp>
        <p:nvSpPr>
          <p:cNvPr id="5" name="Shape 2"/>
          <p:cNvSpPr/>
          <p:nvPr/>
        </p:nvSpPr>
        <p:spPr>
          <a:xfrm>
            <a:off x="548640" y="4846320"/>
            <a:ext cx="11064240" cy="1371600"/>
          </a:xfrm>
          <a:prstGeom prst="roundRect">
            <a:avLst>
              <a:gd name="adj" fmla="val 5333"/>
            </a:avLst>
          </a:prstGeom>
          <a:solidFill>
            <a:srgbClr val="1457B8"/>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6" name="Text 3"/>
          <p:cNvSpPr/>
          <p:nvPr/>
        </p:nvSpPr>
        <p:spPr>
          <a:xfrm>
            <a:off x="822960" y="5074920"/>
            <a:ext cx="10515600" cy="548640"/>
          </a:xfrm>
          <a:prstGeom prst="rect">
            <a:avLst/>
          </a:prstGeom>
          <a:noFill/>
          <a:ln/>
        </p:spPr>
        <p:txBody>
          <a:bodyPr wrap="square" lIns="0" tIns="0" rIns="0" bIns="0" rtlCol="0" anchor="ctr"/>
          <a:lstStyle/>
          <a:p>
            <a:pPr indent="0" marL="0">
              <a:buNone/>
            </a:pPr>
            <a:r>
              <a:rPr lang="en-US" sz="1500" b="1" dirty="0">
                <a:solidFill>
                  <a:srgbClr val="FFFFFF"/>
                </a:solidFill>
              </a:rPr>
              <a:t>Local model  →  Ollama (if running)  →  Gemini (only with a supplied key)  →  Deterministic rule-based advisor</a:t>
            </a:r>
            <a:endParaRPr lang="en-US" sz="1500" dirty="0"/>
          </a:p>
        </p:txBody>
      </p:sp>
      <p:sp>
        <p:nvSpPr>
          <p:cNvPr id="7" name="Text 4"/>
          <p:cNvSpPr/>
          <p:nvPr/>
        </p:nvSpPr>
        <p:spPr>
          <a:xfrm>
            <a:off x="822960" y="5577840"/>
            <a:ext cx="10515600" cy="548640"/>
          </a:xfrm>
          <a:prstGeom prst="rect">
            <a:avLst/>
          </a:prstGeom>
          <a:noFill/>
          <a:ln/>
        </p:spPr>
        <p:txBody>
          <a:bodyPr wrap="square" lIns="0" tIns="0" rIns="0" bIns="0" rtlCol="0" anchor="ctr"/>
          <a:lstStyle/>
          <a:p>
            <a:pPr indent="0" marL="0">
              <a:buNone/>
            </a:pPr>
            <a:r>
              <a:rPr lang="en-US" sz="1250" i="1" dirty="0">
                <a:solidFill>
                  <a:srgbClr val="DCE7FF"/>
                </a:solidFill>
              </a:rPr>
              <a:t>Every step in this chain is optional except the last one, and the last one has no external dependency at all.</a:t>
            </a:r>
            <a:endParaRPr lang="en-US" sz="1250" dirty="0"/>
          </a:p>
        </p:txBody>
      </p:sp>
      <p:sp>
        <p:nvSpPr>
          <p:cNvPr id="8" name="Text 5"/>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B7787"/>
                </a:solidFill>
              </a:rPr>
              <a:t>SmartEdit AI  ·  Final Viva Presentation</a:t>
            </a:r>
            <a:endParaRPr lang="en-US" sz="900" dirty="0"/>
          </a:p>
        </p:txBody>
      </p:sp>
      <p:sp>
        <p:nvSpPr>
          <p:cNvPr id="9" name="Text 6"/>
          <p:cNvSpPr/>
          <p:nvPr/>
        </p:nvSpPr>
        <p:spPr>
          <a:xfrm>
            <a:off x="10972800" y="6446520"/>
            <a:ext cx="731520" cy="274320"/>
          </a:xfrm>
          <a:prstGeom prst="rect">
            <a:avLst/>
          </a:prstGeom>
          <a:noFill/>
          <a:ln/>
        </p:spPr>
        <p:txBody>
          <a:bodyPr wrap="square" rtlCol="0" anchor="ctr"/>
          <a:lstStyle/>
          <a:p>
            <a:pPr algn="r" indent="0" marL="0">
              <a:buNone/>
            </a:pPr>
            <a:r>
              <a:rPr lang="en-US" sz="900" dirty="0">
                <a:solidFill>
                  <a:srgbClr val="6B7787"/>
                </a:solidFill>
              </a:rPr>
              <a:t>20 / 29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9FC"/>
        </a:solidFill>
      </p:bgPr>
    </p:bg>
    <p:spTree>
      <p:nvGrpSpPr>
        <p:cNvPr id="1" name=""/>
        <p:cNvGrpSpPr/>
        <p:nvPr/>
      </p:nvGrpSpPr>
      <p:grpSpPr>
        <a:xfrm>
          <a:off x="0" y="0"/>
          <a:ext cx="0" cy="0"/>
          <a:chOff x="0" y="0"/>
          <a:chExt cx="0" cy="0"/>
        </a:xfrm>
      </p:grpSpPr>
      <p:sp>
        <p:nvSpPr>
          <p:cNvPr id="2" name="Text 0"/>
          <p:cNvSpPr/>
          <p:nvPr/>
        </p:nvSpPr>
        <p:spPr>
          <a:xfrm>
            <a:off x="457200" y="365760"/>
            <a:ext cx="11247120" cy="548640"/>
          </a:xfrm>
          <a:prstGeom prst="rect">
            <a:avLst/>
          </a:prstGeom>
          <a:noFill/>
          <a:ln/>
        </p:spPr>
        <p:txBody>
          <a:bodyPr wrap="square" lIns="0" tIns="0" rIns="0" bIns="0" rtlCol="0" anchor="ctr"/>
          <a:lstStyle/>
          <a:p>
            <a:pPr indent="0" marL="0">
              <a:buNone/>
            </a:pPr>
            <a:r>
              <a:rPr lang="en-US" sz="3000" b="1" dirty="0">
                <a:solidFill>
                  <a:srgbClr val="1457B8"/>
                </a:solidFill>
                <a:latin typeface="Georgia" pitchFamily="34" charset="0"/>
                <a:ea typeface="Georgia" pitchFamily="34" charset="-122"/>
                <a:cs typeface="Georgia" pitchFamily="34" charset="-120"/>
              </a:rPr>
              <a:t>Grounding — the Failure Observed</a:t>
            </a:r>
            <a:endParaRPr lang="en-US" sz="3000" dirty="0"/>
          </a:p>
        </p:txBody>
      </p:sp>
      <p:sp>
        <p:nvSpPr>
          <p:cNvPr id="3" name="Text 1"/>
          <p:cNvSpPr/>
          <p:nvPr/>
        </p:nvSpPr>
        <p:spPr>
          <a:xfrm>
            <a:off x="457200" y="960120"/>
            <a:ext cx="11247120" cy="365760"/>
          </a:xfrm>
          <a:prstGeom prst="rect">
            <a:avLst/>
          </a:prstGeom>
          <a:noFill/>
          <a:ln/>
        </p:spPr>
        <p:txBody>
          <a:bodyPr wrap="square" lIns="0" tIns="0" rIns="0" bIns="0" rtlCol="0" anchor="ctr"/>
          <a:lstStyle/>
          <a:p>
            <a:pPr indent="0" marL="0">
              <a:buNone/>
            </a:pPr>
            <a:r>
              <a:rPr lang="en-US" sz="1400" i="1" dirty="0">
                <a:solidFill>
                  <a:srgbClr val="6B7787"/>
                </a:solidFill>
              </a:rPr>
              <a:t>Why the language model is never trusted with a number</a:t>
            </a:r>
            <a:endParaRPr lang="en-US" sz="1400" dirty="0"/>
          </a:p>
        </p:txBody>
      </p:sp>
      <p:sp>
        <p:nvSpPr>
          <p:cNvPr id="4" name="Shape 2"/>
          <p:cNvSpPr/>
          <p:nvPr/>
        </p:nvSpPr>
        <p:spPr>
          <a:xfrm>
            <a:off x="548640" y="1600200"/>
            <a:ext cx="11064240" cy="2103120"/>
          </a:xfrm>
          <a:prstGeom prst="roundRect">
            <a:avLst>
              <a:gd name="adj" fmla="val 3478"/>
            </a:avLst>
          </a:prstGeom>
          <a:solidFill>
            <a:srgbClr val="C0392B"/>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5" name="Text 3"/>
          <p:cNvSpPr/>
          <p:nvPr/>
        </p:nvSpPr>
        <p:spPr>
          <a:xfrm>
            <a:off x="822960" y="1783080"/>
            <a:ext cx="10515600" cy="1737360"/>
          </a:xfrm>
          <a:prstGeom prst="rect">
            <a:avLst/>
          </a:prstGeom>
          <a:noFill/>
          <a:ln/>
        </p:spPr>
        <p:txBody>
          <a:bodyPr wrap="square" lIns="0" tIns="0" rIns="0" bIns="0" rtlCol="0" anchor="t"/>
          <a:lstStyle/>
          <a:p>
            <a:pPr indent="0" marL="0">
              <a:buNone/>
            </a:pPr>
            <a:r>
              <a:rPr lang="en-US" sz="1600" dirty="0">
                <a:solidFill>
                  <a:srgbClr val="FFFFFF"/>
                </a:solidFill>
              </a:rPr>
              <a:t>Asked directly how much was spent on food, given a total and a transaction count, the model attempted to divide one number by the other itself — and emitted LaTeX instead of an answer.</a:t>
            </a:r>
            <a:endParaRPr lang="en-US" sz="1600" dirty="0"/>
          </a:p>
        </p:txBody>
      </p:sp>
      <p:sp>
        <p:nvSpPr>
          <p:cNvPr id="6" name="Shape 4"/>
          <p:cNvSpPr/>
          <p:nvPr/>
        </p:nvSpPr>
        <p:spPr>
          <a:xfrm>
            <a:off x="548640" y="3886200"/>
            <a:ext cx="11064240" cy="2148840"/>
          </a:xfrm>
          <a:prstGeom prst="roundRect">
            <a:avLst>
              <a:gd name="adj" fmla="val 3404"/>
            </a:avLst>
          </a:prstGeom>
          <a:solidFill>
            <a:srgbClr val="FFFFFF"/>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7" name="Text 5"/>
          <p:cNvSpPr/>
          <p:nvPr/>
        </p:nvSpPr>
        <p:spPr>
          <a:xfrm>
            <a:off x="822960" y="4069080"/>
            <a:ext cx="10515600" cy="320040"/>
          </a:xfrm>
          <a:prstGeom prst="rect">
            <a:avLst/>
          </a:prstGeom>
          <a:noFill/>
          <a:ln/>
        </p:spPr>
        <p:txBody>
          <a:bodyPr wrap="square" lIns="0" tIns="0" rIns="0" bIns="0" rtlCol="0" anchor="ctr"/>
          <a:lstStyle/>
          <a:p>
            <a:pPr indent="0" marL="0">
              <a:buNone/>
            </a:pPr>
            <a:r>
              <a:rPr lang="en-US" sz="1400" b="1" dirty="0">
                <a:solidFill>
                  <a:srgbClr val="1457B8"/>
                </a:solidFill>
              </a:rPr>
              <a:t>A second, related failure — found during the live run</a:t>
            </a:r>
            <a:endParaRPr lang="en-US" sz="1400" dirty="0"/>
          </a:p>
        </p:txBody>
      </p:sp>
      <p:sp>
        <p:nvSpPr>
          <p:cNvPr id="8" name="Text 6"/>
          <p:cNvSpPr/>
          <p:nvPr/>
        </p:nvSpPr>
        <p:spPr>
          <a:xfrm>
            <a:off x="822960" y="4434840"/>
            <a:ext cx="10515600" cy="1463040"/>
          </a:xfrm>
          <a:prstGeom prst="rect">
            <a:avLst/>
          </a:prstGeom>
          <a:noFill/>
          <a:ln/>
        </p:spPr>
        <p:txBody>
          <a:bodyPr wrap="square" lIns="0" tIns="0" rIns="0" bIns="0" rtlCol="0" anchor="t"/>
          <a:lstStyle/>
          <a:p>
            <a:pPr indent="0" marL="0">
              <a:buNone/>
            </a:pPr>
            <a:r>
              <a:rPr lang="en-US" sz="1400" dirty="0">
                <a:solidFill>
                  <a:srgbClr val="1F2733"/>
                </a:solidFill>
              </a:rPr>
              <a:t>The dashboard advisory was, at one point, quoting savings figures the model had invented, rather than figures the Analytics Engine had actually computed.</a:t>
            </a:r>
            <a:endParaRPr lang="en-US" sz="1400" dirty="0"/>
          </a:p>
        </p:txBody>
      </p:sp>
      <p:sp>
        <p:nvSpPr>
          <p:cNvPr id="9" name="Text 7"/>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B7787"/>
                </a:solidFill>
              </a:rPr>
              <a:t>SmartEdit AI  ·  Final Viva Presentation</a:t>
            </a:r>
            <a:endParaRPr lang="en-US" sz="900" dirty="0"/>
          </a:p>
        </p:txBody>
      </p:sp>
      <p:sp>
        <p:nvSpPr>
          <p:cNvPr id="10" name="Text 8"/>
          <p:cNvSpPr/>
          <p:nvPr/>
        </p:nvSpPr>
        <p:spPr>
          <a:xfrm>
            <a:off x="10972800" y="6446520"/>
            <a:ext cx="731520" cy="274320"/>
          </a:xfrm>
          <a:prstGeom prst="rect">
            <a:avLst/>
          </a:prstGeom>
          <a:noFill/>
          <a:ln/>
        </p:spPr>
        <p:txBody>
          <a:bodyPr wrap="square" rtlCol="0" anchor="ctr"/>
          <a:lstStyle/>
          <a:p>
            <a:pPr algn="r" indent="0" marL="0">
              <a:buNone/>
            </a:pPr>
            <a:r>
              <a:rPr lang="en-US" sz="900" dirty="0">
                <a:solidFill>
                  <a:srgbClr val="6B7787"/>
                </a:solidFill>
              </a:rPr>
              <a:t>21 / 29</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9FC"/>
        </a:solidFill>
      </p:bgPr>
    </p:bg>
    <p:spTree>
      <p:nvGrpSpPr>
        <p:cNvPr id="1" name=""/>
        <p:cNvGrpSpPr/>
        <p:nvPr/>
      </p:nvGrpSpPr>
      <p:grpSpPr>
        <a:xfrm>
          <a:off x="0" y="0"/>
          <a:ext cx="0" cy="0"/>
          <a:chOff x="0" y="0"/>
          <a:chExt cx="0" cy="0"/>
        </a:xfrm>
      </p:grpSpPr>
      <p:sp>
        <p:nvSpPr>
          <p:cNvPr id="2" name="Text 0"/>
          <p:cNvSpPr/>
          <p:nvPr/>
        </p:nvSpPr>
        <p:spPr>
          <a:xfrm>
            <a:off x="457200" y="365760"/>
            <a:ext cx="11247120" cy="548640"/>
          </a:xfrm>
          <a:prstGeom prst="rect">
            <a:avLst/>
          </a:prstGeom>
          <a:noFill/>
          <a:ln/>
        </p:spPr>
        <p:txBody>
          <a:bodyPr wrap="square" lIns="0" tIns="0" rIns="0" bIns="0" rtlCol="0" anchor="ctr"/>
          <a:lstStyle/>
          <a:p>
            <a:pPr indent="0" marL="0">
              <a:buNone/>
            </a:pPr>
            <a:r>
              <a:rPr lang="en-US" sz="3000" b="1" dirty="0">
                <a:solidFill>
                  <a:srgbClr val="1457B8"/>
                </a:solidFill>
                <a:latin typeface="Georgia" pitchFamily="34" charset="0"/>
                <a:ea typeface="Georgia" pitchFamily="34" charset="-122"/>
                <a:cs typeface="Georgia" pitchFamily="34" charset="-120"/>
              </a:rPr>
              <a:t>Grounding — the Guard Built</a:t>
            </a:r>
            <a:endParaRPr lang="en-US" sz="3000" dirty="0"/>
          </a:p>
        </p:txBody>
      </p:sp>
      <p:sp>
        <p:nvSpPr>
          <p:cNvPr id="3" name="Shape 1"/>
          <p:cNvSpPr/>
          <p:nvPr/>
        </p:nvSpPr>
        <p:spPr>
          <a:xfrm>
            <a:off x="548640" y="1554480"/>
            <a:ext cx="6035040" cy="4480560"/>
          </a:xfrm>
          <a:prstGeom prst="roundRect">
            <a:avLst>
              <a:gd name="adj" fmla="val 1633"/>
            </a:avLst>
          </a:prstGeom>
          <a:solidFill>
            <a:srgbClr val="1457B8"/>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4" name="Text 2"/>
          <p:cNvSpPr/>
          <p:nvPr/>
        </p:nvSpPr>
        <p:spPr>
          <a:xfrm>
            <a:off x="822960" y="1737360"/>
            <a:ext cx="5486400" cy="640080"/>
          </a:xfrm>
          <a:prstGeom prst="rect">
            <a:avLst/>
          </a:prstGeom>
          <a:noFill/>
          <a:ln/>
        </p:spPr>
        <p:txBody>
          <a:bodyPr wrap="square" lIns="0" tIns="0" rIns="0" bIns="0" rtlCol="0" anchor="t"/>
          <a:lstStyle/>
          <a:p>
            <a:pPr indent="0" marL="0">
              <a:buNone/>
            </a:pPr>
            <a:r>
              <a:rPr lang="en-US" sz="1350" dirty="0">
                <a:solidFill>
                  <a:srgbClr val="FFFFFF"/>
                </a:solidFill>
              </a:rPr>
              <a:t>Every model reply is checked. It is discarded, in favour of the original deterministic sentence, if it:</a:t>
            </a:r>
            <a:endParaRPr lang="en-US" sz="1350" dirty="0"/>
          </a:p>
        </p:txBody>
      </p:sp>
      <p:sp>
        <p:nvSpPr>
          <p:cNvPr id="5" name="Text 3"/>
          <p:cNvSpPr/>
          <p:nvPr/>
        </p:nvSpPr>
        <p:spPr>
          <a:xfrm>
            <a:off x="868680" y="2423160"/>
            <a:ext cx="5577840" cy="3383280"/>
          </a:xfrm>
          <a:prstGeom prst="rect">
            <a:avLst/>
          </a:prstGeom>
          <a:noFill/>
          <a:ln/>
        </p:spPr>
        <p:txBody>
          <a:bodyPr wrap="square" lIns="0" tIns="0" rIns="0" bIns="0" rtlCol="0" anchor="t"/>
          <a:lstStyle/>
          <a:p>
            <a:pPr marL="342900" indent="-342900">
              <a:spcAft>
                <a:spcPts val="1200"/>
              </a:spcAft>
              <a:buSzPct val="100000"/>
              <a:buChar char="•"/>
            </a:pPr>
            <a:r>
              <a:rPr lang="en-US" sz="1350" dirty="0">
                <a:solidFill>
                  <a:srgbClr val="FFFFFF"/>
                </a:solidFill>
              </a:rPr>
              <a:t>Quotes a figure that was never computed</a:t>
            </a:r>
            <a:endParaRPr lang="en-US" sz="1350" dirty="0"/>
          </a:p>
          <a:p>
            <a:pPr marL="342900" indent="-342900">
              <a:spcAft>
                <a:spcPts val="1200"/>
              </a:spcAft>
              <a:buSzPct val="100000"/>
              <a:buChar char="•"/>
            </a:pPr>
            <a:r>
              <a:rPr lang="en-US" sz="1350" dirty="0">
                <a:solidFill>
                  <a:srgbClr val="FFFFFF"/>
                </a:solidFill>
              </a:rPr>
              <a:t>Shows arithmetic working</a:t>
            </a:r>
            <a:endParaRPr lang="en-US" sz="1350" dirty="0"/>
          </a:p>
          <a:p>
            <a:pPr marL="342900" indent="-342900">
              <a:spcAft>
                <a:spcPts val="1200"/>
              </a:spcAft>
              <a:buSzPct val="100000"/>
              <a:buChar char="•"/>
            </a:pPr>
            <a:r>
              <a:rPr lang="en-US" sz="1350" dirty="0">
                <a:solidFill>
                  <a:srgbClr val="FFFFFF"/>
                </a:solidFill>
              </a:rPr>
              <a:t>Contains LaTeX</a:t>
            </a:r>
            <a:endParaRPr lang="en-US" sz="1350" dirty="0"/>
          </a:p>
          <a:p>
            <a:pPr marL="342900" indent="-342900">
              <a:spcAft>
                <a:spcPts val="1200"/>
              </a:spcAft>
              <a:buSzPct val="100000"/>
              <a:buChar char="•"/>
            </a:pPr>
            <a:r>
              <a:rPr lang="en-US" sz="1350" dirty="0">
                <a:solidFill>
                  <a:srgbClr val="FFFFFF"/>
                </a:solidFill>
              </a:rPr>
              <a:t>Is written in the first person</a:t>
            </a:r>
            <a:endParaRPr lang="en-US" sz="1350" dirty="0"/>
          </a:p>
          <a:p>
            <a:pPr marL="342900" indent="-342900">
              <a:spcAft>
                <a:spcPts val="1200"/>
              </a:spcAft>
              <a:buSzPct val="100000"/>
              <a:buChar char="•"/>
            </a:pPr>
            <a:r>
              <a:rPr lang="en-US" sz="1350" dirty="0">
                <a:solidFill>
                  <a:srgbClr val="FFFFFF"/>
                </a:solidFill>
              </a:rPr>
              <a:t>Opens with congratulations</a:t>
            </a:r>
            <a:endParaRPr lang="en-US" sz="1350" dirty="0"/>
          </a:p>
          <a:p>
            <a:pPr marL="342900" indent="-342900">
              <a:spcAft>
                <a:spcPts val="1200"/>
              </a:spcAft>
              <a:buSzPct val="100000"/>
              <a:buChar char="•"/>
            </a:pPr>
            <a:r>
              <a:rPr lang="en-US" sz="1350" dirty="0">
                <a:solidFill>
                  <a:srgbClr val="FFFFFF"/>
                </a:solidFill>
              </a:rPr>
              <a:t>Runs past three sentences</a:t>
            </a:r>
            <a:endParaRPr lang="en-US" sz="1350" dirty="0"/>
          </a:p>
        </p:txBody>
      </p:sp>
      <p:sp>
        <p:nvSpPr>
          <p:cNvPr id="6" name="Shape 4"/>
          <p:cNvSpPr/>
          <p:nvPr/>
        </p:nvSpPr>
        <p:spPr>
          <a:xfrm>
            <a:off x="6766560" y="1554480"/>
            <a:ext cx="4846320" cy="4480560"/>
          </a:xfrm>
          <a:prstGeom prst="roundRect">
            <a:avLst>
              <a:gd name="adj" fmla="val 1633"/>
            </a:avLst>
          </a:prstGeom>
          <a:solidFill>
            <a:srgbClr val="FFFFFF"/>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7" name="Text 5"/>
          <p:cNvSpPr/>
          <p:nvPr/>
        </p:nvSpPr>
        <p:spPr>
          <a:xfrm>
            <a:off x="6995160" y="1737360"/>
            <a:ext cx="4389120" cy="640080"/>
          </a:xfrm>
          <a:prstGeom prst="rect">
            <a:avLst/>
          </a:prstGeom>
          <a:noFill/>
          <a:ln/>
        </p:spPr>
        <p:txBody>
          <a:bodyPr wrap="square" lIns="0" tIns="0" rIns="0" bIns="0" rtlCol="0" anchor="ctr"/>
          <a:lstStyle/>
          <a:p>
            <a:pPr indent="0" marL="0">
              <a:buNone/>
            </a:pPr>
            <a:r>
              <a:rPr lang="en-US" sz="1450" b="1" dirty="0">
                <a:solidFill>
                  <a:srgbClr val="1457B8"/>
                </a:solidFill>
              </a:rPr>
              <a:t>Multi-row answers bypass the model entirely</a:t>
            </a:r>
            <a:endParaRPr lang="en-US" sz="1450" dirty="0"/>
          </a:p>
        </p:txBody>
      </p:sp>
      <p:sp>
        <p:nvSpPr>
          <p:cNvPr id="8" name="Text 6"/>
          <p:cNvSpPr/>
          <p:nvPr/>
        </p:nvSpPr>
        <p:spPr>
          <a:xfrm>
            <a:off x="6995160" y="2514600"/>
            <a:ext cx="4434840" cy="3291840"/>
          </a:xfrm>
          <a:prstGeom prst="rect">
            <a:avLst/>
          </a:prstGeom>
          <a:noFill/>
          <a:ln/>
        </p:spPr>
        <p:txBody>
          <a:bodyPr wrap="square" lIns="0" tIns="0" rIns="0" bIns="0" rtlCol="0" anchor="t"/>
          <a:lstStyle/>
          <a:p>
            <a:pPr indent="0" marL="0">
              <a:buNone/>
            </a:pPr>
            <a:r>
              <a:rPr lang="en-US" sz="1300" dirty="0">
                <a:solidFill>
                  <a:srgbClr val="1F2733"/>
                </a:solidFill>
              </a:rPr>
              <a:t>Lists, category breakdowns and period comparisons never reach the model at all — a small model reliably garbles anything with more than one row of numbers, so the deterministic, database-computed text is returned directly, with nothing generated left to check.</a:t>
            </a:r>
            <a:endParaRPr lang="en-US" sz="1300" dirty="0"/>
          </a:p>
        </p:txBody>
      </p:sp>
      <p:sp>
        <p:nvSpPr>
          <p:cNvPr id="9" name="Text 7"/>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B7787"/>
                </a:solidFill>
              </a:rPr>
              <a:t>SmartEdit AI  ·  Final Viva Presentation</a:t>
            </a:r>
            <a:endParaRPr lang="en-US" sz="900" dirty="0"/>
          </a:p>
        </p:txBody>
      </p:sp>
      <p:sp>
        <p:nvSpPr>
          <p:cNvPr id="10" name="Text 8"/>
          <p:cNvSpPr/>
          <p:nvPr/>
        </p:nvSpPr>
        <p:spPr>
          <a:xfrm>
            <a:off x="10972800" y="6446520"/>
            <a:ext cx="731520" cy="274320"/>
          </a:xfrm>
          <a:prstGeom prst="rect">
            <a:avLst/>
          </a:prstGeom>
          <a:noFill/>
          <a:ln/>
        </p:spPr>
        <p:txBody>
          <a:bodyPr wrap="square" rtlCol="0" anchor="ctr"/>
          <a:lstStyle/>
          <a:p>
            <a:pPr algn="r" indent="0" marL="0">
              <a:buNone/>
            </a:pPr>
            <a:r>
              <a:rPr lang="en-US" sz="900" dirty="0">
                <a:solidFill>
                  <a:srgbClr val="6B7787"/>
                </a:solidFill>
              </a:rPr>
              <a:t>22 / 29</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9FC"/>
        </a:solidFill>
      </p:bgPr>
    </p:bg>
    <p:spTree>
      <p:nvGrpSpPr>
        <p:cNvPr id="1" name=""/>
        <p:cNvGrpSpPr/>
        <p:nvPr/>
      </p:nvGrpSpPr>
      <p:grpSpPr>
        <a:xfrm>
          <a:off x="0" y="0"/>
          <a:ext cx="0" cy="0"/>
          <a:chOff x="0" y="0"/>
          <a:chExt cx="0" cy="0"/>
        </a:xfrm>
      </p:grpSpPr>
      <p:sp>
        <p:nvSpPr>
          <p:cNvPr id="2" name="Text 0"/>
          <p:cNvSpPr/>
          <p:nvPr/>
        </p:nvSpPr>
        <p:spPr>
          <a:xfrm>
            <a:off x="457200" y="365760"/>
            <a:ext cx="11247120" cy="548640"/>
          </a:xfrm>
          <a:prstGeom prst="rect">
            <a:avLst/>
          </a:prstGeom>
          <a:noFill/>
          <a:ln/>
        </p:spPr>
        <p:txBody>
          <a:bodyPr wrap="square" lIns="0" tIns="0" rIns="0" bIns="0" rtlCol="0" anchor="ctr"/>
          <a:lstStyle/>
          <a:p>
            <a:pPr indent="0" marL="0">
              <a:buNone/>
            </a:pPr>
            <a:r>
              <a:rPr lang="en-US" sz="3000" b="1" dirty="0">
                <a:solidFill>
                  <a:srgbClr val="1457B8"/>
                </a:solidFill>
                <a:latin typeface="Georgia" pitchFamily="34" charset="0"/>
                <a:ea typeface="Georgia" pitchFamily="34" charset="-122"/>
                <a:cs typeface="Georgia" pitchFamily="34" charset="-120"/>
              </a:rPr>
              <a:t>Privacy &amp; Offline Operation</a:t>
            </a:r>
            <a:endParaRPr lang="en-US" sz="3000" dirty="0"/>
          </a:p>
        </p:txBody>
      </p:sp>
      <p:pic>
        <p:nvPicPr>
          <p:cNvPr id="3" name="Image 0" descr="C:\Users\Vicke\OneDrive\Desktop\Python\A_COH_10\shyam sundar\SmartEditAI\docs\diagrams\09_deployment_diagram.png">    </p:cNvPr>
          <p:cNvPicPr>
            <a:picLocks noChangeAspect="1"/>
          </p:cNvPicPr>
          <p:nvPr/>
        </p:nvPicPr>
        <p:blipFill>
          <a:blip r:embed="rId1"/>
          <a:srcRect l="-19231" r="-19231" t="0" b="0"/>
          <a:stretch/>
        </p:blipFill>
        <p:spPr>
          <a:xfrm>
            <a:off x="640080" y="1463040"/>
            <a:ext cx="6583680" cy="4754880"/>
          </a:xfrm>
          <a:prstGeom prst="rect">
            <a:avLst/>
          </a:prstGeom>
        </p:spPr>
      </p:pic>
      <p:sp>
        <p:nvSpPr>
          <p:cNvPr id="4" name="Shape 1"/>
          <p:cNvSpPr/>
          <p:nvPr/>
        </p:nvSpPr>
        <p:spPr>
          <a:xfrm>
            <a:off x="7406640" y="1508760"/>
            <a:ext cx="4206240" cy="4709160"/>
          </a:xfrm>
          <a:prstGeom prst="roundRect">
            <a:avLst>
              <a:gd name="adj" fmla="val 1739"/>
            </a:avLst>
          </a:prstGeom>
          <a:solidFill>
            <a:srgbClr val="1457B8"/>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5" name="Text 2"/>
          <p:cNvSpPr/>
          <p:nvPr/>
        </p:nvSpPr>
        <p:spPr>
          <a:xfrm>
            <a:off x="7635240" y="1691640"/>
            <a:ext cx="3749040" cy="320040"/>
          </a:xfrm>
          <a:prstGeom prst="rect">
            <a:avLst/>
          </a:prstGeom>
          <a:noFill/>
          <a:ln/>
        </p:spPr>
        <p:txBody>
          <a:bodyPr wrap="square" lIns="0" tIns="0" rIns="0" bIns="0" rtlCol="0" anchor="ctr"/>
          <a:lstStyle/>
          <a:p>
            <a:pPr indent="0" marL="0">
              <a:buNone/>
            </a:pPr>
            <a:r>
              <a:rPr lang="en-US" sz="1400" b="1" dirty="0">
                <a:solidFill>
                  <a:srgbClr val="FFFFFF"/>
                </a:solidFill>
              </a:rPr>
              <a:t>In the default configuration</a:t>
            </a:r>
            <a:endParaRPr lang="en-US" sz="1400" dirty="0"/>
          </a:p>
        </p:txBody>
      </p:sp>
      <p:sp>
        <p:nvSpPr>
          <p:cNvPr id="6" name="Text 3"/>
          <p:cNvSpPr/>
          <p:nvPr/>
        </p:nvSpPr>
        <p:spPr>
          <a:xfrm>
            <a:off x="7635240" y="2148840"/>
            <a:ext cx="3794760" cy="3931920"/>
          </a:xfrm>
          <a:prstGeom prst="rect">
            <a:avLst/>
          </a:prstGeom>
          <a:noFill/>
          <a:ln/>
        </p:spPr>
        <p:txBody>
          <a:bodyPr wrap="square" lIns="0" tIns="0" rIns="0" bIns="0" rtlCol="0" anchor="t"/>
          <a:lstStyle/>
          <a:p>
            <a:pPr marL="342900" indent="-342900">
              <a:spcAft>
                <a:spcPts val="1100"/>
              </a:spcAft>
              <a:buSzPct val="100000"/>
              <a:buChar char="•"/>
            </a:pPr>
            <a:r>
              <a:rPr lang="en-US" sz="1250" dirty="0">
                <a:solidFill>
                  <a:srgbClr val="FFFFFF"/>
                </a:solidFill>
              </a:rPr>
              <a:t>Nothing leaves the machine</a:t>
            </a:r>
            <a:endParaRPr lang="en-US" sz="1250" dirty="0"/>
          </a:p>
          <a:p>
            <a:pPr marL="342900" indent="-342900">
              <a:spcAft>
                <a:spcPts val="1100"/>
              </a:spcAft>
              <a:buSzPct val="100000"/>
              <a:buChar char="•"/>
            </a:pPr>
            <a:r>
              <a:rPr lang="en-US" sz="1250" dirty="0">
                <a:solidFill>
                  <a:srgbClr val="FFFFFF"/>
                </a:solidFill>
              </a:rPr>
              <a:t>The language model, embeddings and retrieval all run locally</a:t>
            </a:r>
            <a:endParaRPr lang="en-US" sz="1250" dirty="0"/>
          </a:p>
          <a:p>
            <a:pPr marL="342900" indent="-342900">
              <a:spcAft>
                <a:spcPts val="1100"/>
              </a:spcAft>
              <a:buSzPct val="100000"/>
              <a:buChar char="•"/>
            </a:pPr>
            <a:r>
              <a:rPr lang="en-US" sz="1250" dirty="0">
                <a:solidFill>
                  <a:srgbClr val="FFFFFF"/>
                </a:solidFill>
              </a:rPr>
              <a:t>No internet connection is required for the application to function</a:t>
            </a:r>
            <a:endParaRPr lang="en-US" sz="1250" dirty="0"/>
          </a:p>
          <a:p>
            <a:pPr marL="342900" indent="-342900">
              <a:spcAft>
                <a:spcPts val="1100"/>
              </a:spcAft>
              <a:buSzPct val="100000"/>
              <a:buChar char="•"/>
            </a:pPr>
            <a:r>
              <a:rPr lang="en-US" sz="1250" dirty="0">
                <a:solidFill>
                  <a:srgbClr val="FFFFFF"/>
                </a:solidFill>
              </a:rPr>
              <a:t>Every optional component degrades quietly rather than crashing — without llama.cpp the rule-based advisor still answers, without sentence-transformers retrieval falls back to keyword search</a:t>
            </a:r>
            <a:endParaRPr lang="en-US" sz="1250" dirty="0"/>
          </a:p>
        </p:txBody>
      </p:sp>
      <p:sp>
        <p:nvSpPr>
          <p:cNvPr id="7" name="Text 4"/>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B7787"/>
                </a:solidFill>
              </a:rPr>
              <a:t>SmartEdit AI  ·  Final Viva Presentation</a:t>
            </a:r>
            <a:endParaRPr lang="en-US" sz="900" dirty="0"/>
          </a:p>
        </p:txBody>
      </p:sp>
      <p:sp>
        <p:nvSpPr>
          <p:cNvPr id="8" name="Text 5"/>
          <p:cNvSpPr/>
          <p:nvPr/>
        </p:nvSpPr>
        <p:spPr>
          <a:xfrm>
            <a:off x="10972800" y="6446520"/>
            <a:ext cx="731520" cy="274320"/>
          </a:xfrm>
          <a:prstGeom prst="rect">
            <a:avLst/>
          </a:prstGeom>
          <a:noFill/>
          <a:ln/>
        </p:spPr>
        <p:txBody>
          <a:bodyPr wrap="square" rtlCol="0" anchor="ctr"/>
          <a:lstStyle/>
          <a:p>
            <a:pPr algn="r" indent="0" marL="0">
              <a:buNone/>
            </a:pPr>
            <a:r>
              <a:rPr lang="en-US" sz="900" dirty="0">
                <a:solidFill>
                  <a:srgbClr val="6B7787"/>
                </a:solidFill>
              </a:rPr>
              <a:t>23 / 29</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9FC"/>
        </a:solidFill>
      </p:bgPr>
    </p:bg>
    <p:spTree>
      <p:nvGrpSpPr>
        <p:cNvPr id="1" name=""/>
        <p:cNvGrpSpPr/>
        <p:nvPr/>
      </p:nvGrpSpPr>
      <p:grpSpPr>
        <a:xfrm>
          <a:off x="0" y="0"/>
          <a:ext cx="0" cy="0"/>
          <a:chOff x="0" y="0"/>
          <a:chExt cx="0" cy="0"/>
        </a:xfrm>
      </p:grpSpPr>
      <p:sp>
        <p:nvSpPr>
          <p:cNvPr id="2" name="Text 0"/>
          <p:cNvSpPr/>
          <p:nvPr/>
        </p:nvSpPr>
        <p:spPr>
          <a:xfrm>
            <a:off x="457200" y="365760"/>
            <a:ext cx="11247120" cy="548640"/>
          </a:xfrm>
          <a:prstGeom prst="rect">
            <a:avLst/>
          </a:prstGeom>
          <a:noFill/>
          <a:ln/>
        </p:spPr>
        <p:txBody>
          <a:bodyPr wrap="square" lIns="0" tIns="0" rIns="0" bIns="0" rtlCol="0" anchor="ctr"/>
          <a:lstStyle/>
          <a:p>
            <a:pPr indent="0" marL="0">
              <a:buNone/>
            </a:pPr>
            <a:r>
              <a:rPr lang="en-US" sz="3000" b="1" dirty="0">
                <a:solidFill>
                  <a:srgbClr val="1457B8"/>
                </a:solidFill>
                <a:latin typeface="Georgia" pitchFamily="34" charset="0"/>
                <a:ea typeface="Georgia" pitchFamily="34" charset="-122"/>
                <a:cs typeface="Georgia" pitchFamily="34" charset="-120"/>
              </a:rPr>
              <a:t>Testing</a:t>
            </a:r>
            <a:endParaRPr lang="en-US" sz="3000" dirty="0"/>
          </a:p>
        </p:txBody>
      </p:sp>
      <p:sp>
        <p:nvSpPr>
          <p:cNvPr id="3" name="Text 1"/>
          <p:cNvSpPr/>
          <p:nvPr/>
        </p:nvSpPr>
        <p:spPr>
          <a:xfrm>
            <a:off x="457200" y="960120"/>
            <a:ext cx="11247120" cy="365760"/>
          </a:xfrm>
          <a:prstGeom prst="rect">
            <a:avLst/>
          </a:prstGeom>
          <a:noFill/>
          <a:ln/>
        </p:spPr>
        <p:txBody>
          <a:bodyPr wrap="square" lIns="0" tIns="0" rIns="0" bIns="0" rtlCol="0" anchor="ctr"/>
          <a:lstStyle/>
          <a:p>
            <a:pPr indent="0" marL="0">
              <a:buNone/>
            </a:pPr>
            <a:r>
              <a:rPr lang="en-US" sz="1400" i="1" dirty="0">
                <a:solidFill>
                  <a:srgbClr val="6B7787"/>
                </a:solidFill>
              </a:rPr>
              <a:t>172 automated tests, all passing, across five files</a:t>
            </a:r>
            <a:endParaRPr lang="en-US" sz="1400" dirty="0"/>
          </a:p>
        </p:txBody>
      </p:sp>
      <p:sp>
        <p:nvSpPr>
          <p:cNvPr id="4" name="Shape 2"/>
          <p:cNvSpPr/>
          <p:nvPr/>
        </p:nvSpPr>
        <p:spPr>
          <a:xfrm>
            <a:off x="548640" y="1600200"/>
            <a:ext cx="2651760" cy="1371600"/>
          </a:xfrm>
          <a:prstGeom prst="roundRect">
            <a:avLst>
              <a:gd name="adj" fmla="val 5333"/>
            </a:avLst>
          </a:prstGeom>
          <a:solidFill>
            <a:srgbClr val="FFFFFF"/>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5" name="Text 3"/>
          <p:cNvSpPr/>
          <p:nvPr/>
        </p:nvSpPr>
        <p:spPr>
          <a:xfrm>
            <a:off x="548640" y="1719072"/>
            <a:ext cx="2651760" cy="731520"/>
          </a:xfrm>
          <a:prstGeom prst="rect">
            <a:avLst/>
          </a:prstGeom>
          <a:noFill/>
          <a:ln/>
        </p:spPr>
        <p:txBody>
          <a:bodyPr wrap="square" lIns="0" tIns="0" rIns="0" bIns="0" rtlCol="0" anchor="ctr"/>
          <a:lstStyle/>
          <a:p>
            <a:pPr algn="ctr" indent="0" marL="0">
              <a:buNone/>
            </a:pPr>
            <a:r>
              <a:rPr lang="en-US" sz="3000" b="1" dirty="0">
                <a:solidFill>
                  <a:srgbClr val="1457B8"/>
                </a:solidFill>
              </a:rPr>
              <a:t>172</a:t>
            </a:r>
            <a:endParaRPr lang="en-US" sz="3000" dirty="0"/>
          </a:p>
        </p:txBody>
      </p:sp>
      <p:sp>
        <p:nvSpPr>
          <p:cNvPr id="6" name="Text 4"/>
          <p:cNvSpPr/>
          <p:nvPr/>
        </p:nvSpPr>
        <p:spPr>
          <a:xfrm>
            <a:off x="548640" y="2423160"/>
            <a:ext cx="2651760" cy="457200"/>
          </a:xfrm>
          <a:prstGeom prst="rect">
            <a:avLst/>
          </a:prstGeom>
          <a:noFill/>
          <a:ln/>
        </p:spPr>
        <p:txBody>
          <a:bodyPr wrap="square" lIns="0" tIns="0" rIns="0" bIns="0" rtlCol="0" anchor="ctr"/>
          <a:lstStyle/>
          <a:p>
            <a:pPr algn="ctr" indent="0" marL="0">
              <a:buNone/>
            </a:pPr>
            <a:r>
              <a:rPr lang="en-US" sz="1100" dirty="0">
                <a:solidFill>
                  <a:srgbClr val="6B7787"/>
                </a:solidFill>
              </a:rPr>
              <a:t>Tests, all passing</a:t>
            </a:r>
            <a:endParaRPr lang="en-US" sz="1100" dirty="0"/>
          </a:p>
        </p:txBody>
      </p:sp>
      <p:sp>
        <p:nvSpPr>
          <p:cNvPr id="7" name="Shape 5"/>
          <p:cNvSpPr/>
          <p:nvPr/>
        </p:nvSpPr>
        <p:spPr>
          <a:xfrm>
            <a:off x="3429000" y="1600200"/>
            <a:ext cx="2651760" cy="1371600"/>
          </a:xfrm>
          <a:prstGeom prst="roundRect">
            <a:avLst>
              <a:gd name="adj" fmla="val 5333"/>
            </a:avLst>
          </a:prstGeom>
          <a:solidFill>
            <a:srgbClr val="FFFFFF"/>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8" name="Text 6"/>
          <p:cNvSpPr/>
          <p:nvPr/>
        </p:nvSpPr>
        <p:spPr>
          <a:xfrm>
            <a:off x="3429000" y="1719072"/>
            <a:ext cx="2651760" cy="731520"/>
          </a:xfrm>
          <a:prstGeom prst="rect">
            <a:avLst/>
          </a:prstGeom>
          <a:noFill/>
          <a:ln/>
        </p:spPr>
        <p:txBody>
          <a:bodyPr wrap="square" lIns="0" tIns="0" rIns="0" bIns="0" rtlCol="0" anchor="ctr"/>
          <a:lstStyle/>
          <a:p>
            <a:pPr algn="ctr" indent="0" marL="0">
              <a:buNone/>
            </a:pPr>
            <a:r>
              <a:rPr lang="en-US" sz="3000" b="1" dirty="0">
                <a:solidFill>
                  <a:srgbClr val="1457B8"/>
                </a:solidFill>
              </a:rPr>
              <a:t>5</a:t>
            </a:r>
            <a:endParaRPr lang="en-US" sz="3000" dirty="0"/>
          </a:p>
        </p:txBody>
      </p:sp>
      <p:sp>
        <p:nvSpPr>
          <p:cNvPr id="9" name="Text 7"/>
          <p:cNvSpPr/>
          <p:nvPr/>
        </p:nvSpPr>
        <p:spPr>
          <a:xfrm>
            <a:off x="3429000" y="2423160"/>
            <a:ext cx="2651760" cy="457200"/>
          </a:xfrm>
          <a:prstGeom prst="rect">
            <a:avLst/>
          </a:prstGeom>
          <a:noFill/>
          <a:ln/>
        </p:spPr>
        <p:txBody>
          <a:bodyPr wrap="square" lIns="0" tIns="0" rIns="0" bIns="0" rtlCol="0" anchor="ctr"/>
          <a:lstStyle/>
          <a:p>
            <a:pPr algn="ctr" indent="0" marL="0">
              <a:buNone/>
            </a:pPr>
            <a:r>
              <a:rPr lang="en-US" sz="1100" dirty="0">
                <a:solidFill>
                  <a:srgbClr val="6B7787"/>
                </a:solidFill>
              </a:rPr>
              <a:t>Test files</a:t>
            </a:r>
            <a:endParaRPr lang="en-US" sz="1100" dirty="0"/>
          </a:p>
        </p:txBody>
      </p:sp>
      <p:sp>
        <p:nvSpPr>
          <p:cNvPr id="10" name="Shape 8"/>
          <p:cNvSpPr/>
          <p:nvPr/>
        </p:nvSpPr>
        <p:spPr>
          <a:xfrm>
            <a:off x="6309360" y="1600200"/>
            <a:ext cx="2651760" cy="1371600"/>
          </a:xfrm>
          <a:prstGeom prst="roundRect">
            <a:avLst>
              <a:gd name="adj" fmla="val 5333"/>
            </a:avLst>
          </a:prstGeom>
          <a:solidFill>
            <a:srgbClr val="FFFFFF"/>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11" name="Text 9"/>
          <p:cNvSpPr/>
          <p:nvPr/>
        </p:nvSpPr>
        <p:spPr>
          <a:xfrm>
            <a:off x="6309360" y="1719072"/>
            <a:ext cx="2651760" cy="731520"/>
          </a:xfrm>
          <a:prstGeom prst="rect">
            <a:avLst/>
          </a:prstGeom>
          <a:noFill/>
          <a:ln/>
        </p:spPr>
        <p:txBody>
          <a:bodyPr wrap="square" lIns="0" tIns="0" rIns="0" bIns="0" rtlCol="0" anchor="ctr"/>
          <a:lstStyle/>
          <a:p>
            <a:pPr algn="ctr" indent="0" marL="0">
              <a:buNone/>
            </a:pPr>
            <a:r>
              <a:rPr lang="en-US" sz="3000" b="1" dirty="0">
                <a:solidFill>
                  <a:srgbClr val="1457B8"/>
                </a:solidFill>
              </a:rPr>
              <a:t>8</a:t>
            </a:r>
            <a:endParaRPr lang="en-US" sz="3000" dirty="0"/>
          </a:p>
        </p:txBody>
      </p:sp>
      <p:sp>
        <p:nvSpPr>
          <p:cNvPr id="12" name="Text 10"/>
          <p:cNvSpPr/>
          <p:nvPr/>
        </p:nvSpPr>
        <p:spPr>
          <a:xfrm>
            <a:off x="6309360" y="2423160"/>
            <a:ext cx="2651760" cy="457200"/>
          </a:xfrm>
          <a:prstGeom prst="rect">
            <a:avLst/>
          </a:prstGeom>
          <a:noFill/>
          <a:ln/>
        </p:spPr>
        <p:txBody>
          <a:bodyPr wrap="square" lIns="0" tIns="0" rIns="0" bIns="0" rtlCol="0" anchor="ctr"/>
          <a:lstStyle/>
          <a:p>
            <a:pPr algn="ctr" indent="0" marL="0">
              <a:buNone/>
            </a:pPr>
            <a:r>
              <a:rPr lang="en-US" sz="1100" dirty="0">
                <a:solidFill>
                  <a:srgbClr val="6B7787"/>
                </a:solidFill>
              </a:rPr>
              <a:t>Modules covered</a:t>
            </a:r>
            <a:endParaRPr lang="en-US" sz="1100" dirty="0"/>
          </a:p>
        </p:txBody>
      </p:sp>
      <p:sp>
        <p:nvSpPr>
          <p:cNvPr id="13" name="Shape 11"/>
          <p:cNvSpPr/>
          <p:nvPr/>
        </p:nvSpPr>
        <p:spPr>
          <a:xfrm>
            <a:off x="9189720" y="1600200"/>
            <a:ext cx="2651760" cy="1371600"/>
          </a:xfrm>
          <a:prstGeom prst="roundRect">
            <a:avLst>
              <a:gd name="adj" fmla="val 5333"/>
            </a:avLst>
          </a:prstGeom>
          <a:solidFill>
            <a:srgbClr val="FFFFFF"/>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14" name="Text 12"/>
          <p:cNvSpPr/>
          <p:nvPr/>
        </p:nvSpPr>
        <p:spPr>
          <a:xfrm>
            <a:off x="9189720" y="1719072"/>
            <a:ext cx="2651760" cy="731520"/>
          </a:xfrm>
          <a:prstGeom prst="rect">
            <a:avLst/>
          </a:prstGeom>
          <a:noFill/>
          <a:ln/>
        </p:spPr>
        <p:txBody>
          <a:bodyPr wrap="square" lIns="0" tIns="0" rIns="0" bIns="0" rtlCol="0" anchor="ctr"/>
          <a:lstStyle/>
          <a:p>
            <a:pPr algn="ctr" indent="0" marL="0">
              <a:buNone/>
            </a:pPr>
            <a:r>
              <a:rPr lang="en-US" sz="3000" b="1" dirty="0">
                <a:solidFill>
                  <a:srgbClr val="1457B8"/>
                </a:solidFill>
              </a:rPr>
              <a:t>100%</a:t>
            </a:r>
            <a:endParaRPr lang="en-US" sz="3000" dirty="0"/>
          </a:p>
        </p:txBody>
      </p:sp>
      <p:sp>
        <p:nvSpPr>
          <p:cNvPr id="15" name="Text 13"/>
          <p:cNvSpPr/>
          <p:nvPr/>
        </p:nvSpPr>
        <p:spPr>
          <a:xfrm>
            <a:off x="9189720" y="2423160"/>
            <a:ext cx="2651760" cy="457200"/>
          </a:xfrm>
          <a:prstGeom prst="rect">
            <a:avLst/>
          </a:prstGeom>
          <a:noFill/>
          <a:ln/>
        </p:spPr>
        <p:txBody>
          <a:bodyPr wrap="square" lIns="0" tIns="0" rIns="0" bIns="0" rtlCol="0" anchor="ctr"/>
          <a:lstStyle/>
          <a:p>
            <a:pPr algn="ctr" indent="0" marL="0">
              <a:buNone/>
            </a:pPr>
            <a:r>
              <a:rPr lang="en-US" sz="1100" dirty="0">
                <a:solidFill>
                  <a:srgbClr val="6B7787"/>
                </a:solidFill>
              </a:rPr>
              <a:t>Routes require login</a:t>
            </a:r>
            <a:endParaRPr lang="en-US" sz="1100" dirty="0"/>
          </a:p>
        </p:txBody>
      </p:sp>
      <p:sp>
        <p:nvSpPr>
          <p:cNvPr id="16" name="Shape 14"/>
          <p:cNvSpPr/>
          <p:nvPr/>
        </p:nvSpPr>
        <p:spPr>
          <a:xfrm>
            <a:off x="548640" y="3246120"/>
            <a:ext cx="11064240" cy="2788920"/>
          </a:xfrm>
          <a:prstGeom prst="roundRect">
            <a:avLst>
              <a:gd name="adj" fmla="val 2623"/>
            </a:avLst>
          </a:prstGeom>
          <a:solidFill>
            <a:srgbClr val="FFFFFF"/>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17" name="Text 15"/>
          <p:cNvSpPr/>
          <p:nvPr/>
        </p:nvSpPr>
        <p:spPr>
          <a:xfrm>
            <a:off x="868680" y="3429000"/>
            <a:ext cx="10607040" cy="24688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733"/>
                </a:solidFill>
              </a:rPr>
              <a:t>test_parser.py — every sample layout, header detection, balance-delta direction, Indian amount and date formats</a:t>
            </a:r>
            <a:endParaRPr lang="en-US" sz="1200" dirty="0"/>
          </a:p>
          <a:p>
            <a:pPr marL="342900" indent="-342900">
              <a:spcAft>
                <a:spcPts val="600"/>
              </a:spcAft>
              <a:buSzPct val="100000"/>
              <a:buChar char="•"/>
            </a:pPr>
            <a:r>
              <a:rPr lang="en-US" sz="1200" dirty="0">
                <a:solidFill>
                  <a:srgbClr val="1F2733"/>
                </a:solidFill>
              </a:rPr>
              <a:t>test_classifier.py — category placement, rail-versus-merchant precedence, the PREMIUM/EMI trap</a:t>
            </a:r>
            <a:endParaRPr lang="en-US" sz="1200" dirty="0"/>
          </a:p>
          <a:p>
            <a:pPr marL="342900" indent="-342900">
              <a:spcAft>
                <a:spcPts val="600"/>
              </a:spcAft>
              <a:buSzPct val="100000"/>
              <a:buChar char="•"/>
            </a:pPr>
            <a:r>
              <a:rPr lang="en-US" sz="1200" dirty="0">
                <a:solidFill>
                  <a:srgbClr val="1F2733"/>
                </a:solidFill>
              </a:rPr>
              <a:t>test_salary.py — statutory percentages, regime differences, HRA minimum, PF ceiling, marginal relief across the whole relief band</a:t>
            </a:r>
            <a:endParaRPr lang="en-US" sz="1200" dirty="0"/>
          </a:p>
          <a:p>
            <a:pPr marL="342900" indent="-342900">
              <a:spcAft>
                <a:spcPts val="600"/>
              </a:spcAft>
              <a:buSzPct val="100000"/>
              <a:buChar char="•"/>
            </a:pPr>
            <a:r>
              <a:rPr lang="en-US" sz="1200" dirty="0">
                <a:solidFill>
                  <a:srgbClr val="1F2733"/>
                </a:solidFill>
              </a:rPr>
              <a:t>test_analytics.py — summary arithmetic, recurring-commitment restriction, user isolation, fingerprint behaviour</a:t>
            </a:r>
            <a:endParaRPr lang="en-US" sz="1200" dirty="0"/>
          </a:p>
          <a:p>
            <a:pPr marL="342900" indent="-342900">
              <a:spcAft>
                <a:spcPts val="600"/>
              </a:spcAft>
              <a:buSzPct val="100000"/>
              <a:buChar char="•"/>
            </a:pPr>
            <a:r>
              <a:rPr lang="en-US" sz="1200" dirty="0">
                <a:solidFill>
                  <a:srgbClr val="1F2733"/>
                </a:solidFill>
              </a:rPr>
              <a:t>test_chat.py — exact totals from SQL, and every guard rejection reason</a:t>
            </a:r>
            <a:endParaRPr lang="en-US" sz="1200" dirty="0"/>
          </a:p>
          <a:p>
            <a:pPr marL="342900" indent="-342900">
              <a:spcAft>
                <a:spcPts val="600"/>
              </a:spcAft>
              <a:buSzPct val="100000"/>
              <a:buChar char="•"/>
            </a:pPr>
            <a:r>
              <a:rPr lang="en-US" sz="1200" dirty="0">
                <a:solidFill>
                  <a:srgbClr val="1F2733"/>
                </a:solidFill>
              </a:rPr>
              <a:t>test_routes.py — every page requires login; one account can neither read nor delete another account's transaction</a:t>
            </a:r>
            <a:endParaRPr lang="en-US" sz="1200" dirty="0"/>
          </a:p>
        </p:txBody>
      </p:sp>
      <p:sp>
        <p:nvSpPr>
          <p:cNvPr id="18" name="Text 16"/>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B7787"/>
                </a:solidFill>
              </a:rPr>
              <a:t>SmartEdit AI  ·  Final Viva Presentation</a:t>
            </a:r>
            <a:endParaRPr lang="en-US" sz="900" dirty="0"/>
          </a:p>
        </p:txBody>
      </p:sp>
      <p:sp>
        <p:nvSpPr>
          <p:cNvPr id="19" name="Text 17"/>
          <p:cNvSpPr/>
          <p:nvPr/>
        </p:nvSpPr>
        <p:spPr>
          <a:xfrm>
            <a:off x="10972800" y="6446520"/>
            <a:ext cx="731520" cy="274320"/>
          </a:xfrm>
          <a:prstGeom prst="rect">
            <a:avLst/>
          </a:prstGeom>
          <a:noFill/>
          <a:ln/>
        </p:spPr>
        <p:txBody>
          <a:bodyPr wrap="square" rtlCol="0" anchor="ctr"/>
          <a:lstStyle/>
          <a:p>
            <a:pPr algn="r" indent="0" marL="0">
              <a:buNone/>
            </a:pPr>
            <a:r>
              <a:rPr lang="en-US" sz="900" dirty="0">
                <a:solidFill>
                  <a:srgbClr val="6B7787"/>
                </a:solidFill>
              </a:rPr>
              <a:t>24 / 29</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9FC"/>
        </a:solidFill>
      </p:bgPr>
    </p:bg>
    <p:spTree>
      <p:nvGrpSpPr>
        <p:cNvPr id="1" name=""/>
        <p:cNvGrpSpPr/>
        <p:nvPr/>
      </p:nvGrpSpPr>
      <p:grpSpPr>
        <a:xfrm>
          <a:off x="0" y="0"/>
          <a:ext cx="0" cy="0"/>
          <a:chOff x="0" y="0"/>
          <a:chExt cx="0" cy="0"/>
        </a:xfrm>
      </p:grpSpPr>
      <p:sp>
        <p:nvSpPr>
          <p:cNvPr id="2" name="Text 0"/>
          <p:cNvSpPr/>
          <p:nvPr/>
        </p:nvSpPr>
        <p:spPr>
          <a:xfrm>
            <a:off x="457200" y="365760"/>
            <a:ext cx="11247120" cy="548640"/>
          </a:xfrm>
          <a:prstGeom prst="rect">
            <a:avLst/>
          </a:prstGeom>
          <a:noFill/>
          <a:ln/>
        </p:spPr>
        <p:txBody>
          <a:bodyPr wrap="square" lIns="0" tIns="0" rIns="0" bIns="0" rtlCol="0" anchor="ctr"/>
          <a:lstStyle/>
          <a:p>
            <a:pPr indent="0" marL="0">
              <a:buNone/>
            </a:pPr>
            <a:r>
              <a:rPr lang="en-US" sz="3000" b="1" dirty="0">
                <a:solidFill>
                  <a:srgbClr val="1457B8"/>
                </a:solidFill>
                <a:latin typeface="Georgia" pitchFamily="34" charset="0"/>
                <a:ea typeface="Georgia" pitchFamily="34" charset="-122"/>
                <a:cs typeface="Georgia" pitchFamily="34" charset="-120"/>
              </a:rPr>
              <a:t>The Live Run</a:t>
            </a:r>
            <a:endParaRPr lang="en-US" sz="3000" dirty="0"/>
          </a:p>
        </p:txBody>
      </p:sp>
      <p:sp>
        <p:nvSpPr>
          <p:cNvPr id="3" name="Text 1"/>
          <p:cNvSpPr/>
          <p:nvPr/>
        </p:nvSpPr>
        <p:spPr>
          <a:xfrm>
            <a:off x="457200" y="960120"/>
            <a:ext cx="11247120" cy="365760"/>
          </a:xfrm>
          <a:prstGeom prst="rect">
            <a:avLst/>
          </a:prstGeom>
          <a:noFill/>
          <a:ln/>
        </p:spPr>
        <p:txBody>
          <a:bodyPr wrap="square" lIns="0" tIns="0" rIns="0" bIns="0" rtlCol="0" anchor="ctr"/>
          <a:lstStyle/>
          <a:p>
            <a:pPr indent="0" marL="0">
              <a:buNone/>
            </a:pPr>
            <a:r>
              <a:rPr lang="en-US" sz="1400" i="1" dirty="0">
                <a:solidFill>
                  <a:srgbClr val="6B7787"/>
                </a:solidFill>
              </a:rPr>
              <a:t>Evidence from the finished build, not a simulation</a:t>
            </a:r>
            <a:endParaRPr lang="en-US" sz="1400" dirty="0"/>
          </a:p>
        </p:txBody>
      </p:sp>
      <p:sp>
        <p:nvSpPr>
          <p:cNvPr id="4" name="Shape 2"/>
          <p:cNvSpPr/>
          <p:nvPr/>
        </p:nvSpPr>
        <p:spPr>
          <a:xfrm>
            <a:off x="548640" y="1554480"/>
            <a:ext cx="11064240" cy="2880360"/>
          </a:xfrm>
          <a:prstGeom prst="roundRect">
            <a:avLst>
              <a:gd name="adj" fmla="val 2540"/>
            </a:avLst>
          </a:prstGeom>
          <a:solidFill>
            <a:srgbClr val="FFFFFF"/>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5" name="Text 3"/>
          <p:cNvSpPr/>
          <p:nvPr/>
        </p:nvSpPr>
        <p:spPr>
          <a:xfrm>
            <a:off x="868680" y="1737360"/>
            <a:ext cx="10607040" cy="228600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1F2733"/>
                </a:solidFill>
              </a:rPr>
              <a:t>Registered an account, uploaded two statements</a:t>
            </a:r>
            <a:endParaRPr lang="en-US" sz="1400" dirty="0"/>
          </a:p>
          <a:p>
            <a:pPr marL="342900" indent="-342900">
              <a:spcAft>
                <a:spcPts val="900"/>
              </a:spcAft>
              <a:buSzPct val="100000"/>
              <a:buChar char="•"/>
            </a:pPr>
            <a:r>
              <a:rPr lang="en-US" sz="1400" dirty="0">
                <a:solidFill>
                  <a:srgbClr val="1F2733"/>
                </a:solidFill>
              </a:rPr>
              <a:t>69 transactions imported, with 69 distinct fingerprints</a:t>
            </a:r>
            <a:endParaRPr lang="en-US" sz="1400" dirty="0"/>
          </a:p>
          <a:p>
            <a:pPr marL="342900" indent="-342900">
              <a:spcAft>
                <a:spcPts val="900"/>
              </a:spcAft>
              <a:buSzPct val="100000"/>
              <a:buChar char="•"/>
            </a:pPr>
            <a:r>
              <a:rPr lang="en-US" sz="1400" dirty="0">
                <a:solidFill>
                  <a:srgbClr val="1F2733"/>
                </a:solidFill>
              </a:rPr>
              <a:t>A third upload of an already-loaded statement correctly imported nothing</a:t>
            </a:r>
            <a:endParaRPr lang="en-US" sz="1400" dirty="0"/>
          </a:p>
          <a:p>
            <a:pPr marL="342900" indent="-342900">
              <a:spcAft>
                <a:spcPts val="900"/>
              </a:spcAft>
              <a:buSzPct val="100000"/>
              <a:buChar char="•"/>
            </a:pPr>
            <a:r>
              <a:rPr lang="en-US" sz="1400" dirty="0">
                <a:solidFill>
                  <a:srgbClr val="1F2733"/>
                </a:solidFill>
              </a:rPr>
              <a:t>69 embeddings indexed for the chatbot to use</a:t>
            </a:r>
            <a:endParaRPr lang="en-US" sz="1400" dirty="0"/>
          </a:p>
          <a:p>
            <a:pPr marL="342900" indent="-342900">
              <a:spcAft>
                <a:spcPts val="900"/>
              </a:spcAft>
              <a:buSzPct val="100000"/>
              <a:buChar char="•"/>
            </a:pPr>
            <a:r>
              <a:rPr lang="en-US" sz="1400" dirty="0">
                <a:solidFill>
                  <a:srgbClr val="1F2733"/>
                </a:solidFill>
              </a:rPr>
              <a:t>All eleven pages returned HTTP 200 with no template errors</a:t>
            </a:r>
            <a:endParaRPr lang="en-US" sz="1400" dirty="0"/>
          </a:p>
          <a:p>
            <a:pPr marL="342900" indent="-342900">
              <a:spcAft>
                <a:spcPts val="900"/>
              </a:spcAft>
              <a:buSzPct val="100000"/>
              <a:buChar char="•"/>
            </a:pPr>
            <a:r>
              <a:rPr lang="en-US" sz="1400" dirty="0">
                <a:solidFill>
                  <a:srgbClr val="1F2733"/>
                </a:solidFill>
              </a:rPr>
              <a:t>The chatbot answered "how much did I spend on groceries in June" with:</a:t>
            </a:r>
            <a:endParaRPr lang="en-US" sz="1400" dirty="0"/>
          </a:p>
        </p:txBody>
      </p:sp>
      <p:sp>
        <p:nvSpPr>
          <p:cNvPr id="6" name="Shape 4"/>
          <p:cNvSpPr/>
          <p:nvPr/>
        </p:nvSpPr>
        <p:spPr>
          <a:xfrm>
            <a:off x="1280160" y="3794760"/>
            <a:ext cx="9601200" cy="777240"/>
          </a:xfrm>
          <a:prstGeom prst="roundRect">
            <a:avLst>
              <a:gd name="adj" fmla="val 9412"/>
            </a:avLst>
          </a:prstGeom>
          <a:solidFill>
            <a:srgbClr val="1AA260"/>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7" name="Text 5"/>
          <p:cNvSpPr/>
          <p:nvPr/>
        </p:nvSpPr>
        <p:spPr>
          <a:xfrm>
            <a:off x="1463040" y="3794760"/>
            <a:ext cx="9235440" cy="777240"/>
          </a:xfrm>
          <a:prstGeom prst="rect">
            <a:avLst/>
          </a:prstGeom>
          <a:noFill/>
          <a:ln/>
        </p:spPr>
        <p:txBody>
          <a:bodyPr wrap="square" lIns="0" tIns="0" rIns="0" bIns="0" rtlCol="0" anchor="ctr"/>
          <a:lstStyle/>
          <a:p>
            <a:pPr algn="ctr" indent="0" marL="0">
              <a:buNone/>
            </a:pPr>
            <a:r>
              <a:rPr lang="en-US" sz="1600" b="1" i="1" dirty="0">
                <a:solidFill>
                  <a:srgbClr val="FFFFFF"/>
                </a:solidFill>
              </a:rPr>
              <a:t>“In June 2026, you spent Rs.4,960 on groceries.”</a:t>
            </a:r>
            <a:endParaRPr lang="en-US" sz="1600" dirty="0"/>
          </a:p>
        </p:txBody>
      </p:sp>
      <p:sp>
        <p:nvSpPr>
          <p:cNvPr id="8" name="Shape 6"/>
          <p:cNvSpPr/>
          <p:nvPr/>
        </p:nvSpPr>
        <p:spPr>
          <a:xfrm>
            <a:off x="548640" y="4754880"/>
            <a:ext cx="11064240" cy="1463040"/>
          </a:xfrm>
          <a:prstGeom prst="roundRect">
            <a:avLst>
              <a:gd name="adj" fmla="val 5000"/>
            </a:avLst>
          </a:prstGeom>
          <a:solidFill>
            <a:srgbClr val="1457B8"/>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9" name="Text 7"/>
          <p:cNvSpPr/>
          <p:nvPr/>
        </p:nvSpPr>
        <p:spPr>
          <a:xfrm>
            <a:off x="822960" y="4892040"/>
            <a:ext cx="10515600" cy="320040"/>
          </a:xfrm>
          <a:prstGeom prst="rect">
            <a:avLst/>
          </a:prstGeom>
          <a:noFill/>
          <a:ln/>
        </p:spPr>
        <p:txBody>
          <a:bodyPr wrap="square" lIns="0" tIns="0" rIns="0" bIns="0" rtlCol="0" anchor="ctr"/>
          <a:lstStyle/>
          <a:p>
            <a:pPr indent="0" marL="0">
              <a:buNone/>
            </a:pPr>
            <a:r>
              <a:rPr lang="en-US" sz="1350" b="1" dirty="0">
                <a:solidFill>
                  <a:srgbClr val="FFFFFF"/>
                </a:solidFill>
              </a:rPr>
              <a:t>Two defects this run exposed, and fixed:</a:t>
            </a:r>
            <a:endParaRPr lang="en-US" sz="1350" dirty="0"/>
          </a:p>
        </p:txBody>
      </p:sp>
      <p:sp>
        <p:nvSpPr>
          <p:cNvPr id="10" name="Text 8"/>
          <p:cNvSpPr/>
          <p:nvPr/>
        </p:nvSpPr>
        <p:spPr>
          <a:xfrm>
            <a:off x="822960" y="5230368"/>
            <a:ext cx="10515600" cy="914400"/>
          </a:xfrm>
          <a:prstGeom prst="rect">
            <a:avLst/>
          </a:prstGeom>
          <a:noFill/>
          <a:ln/>
        </p:spPr>
        <p:txBody>
          <a:bodyPr wrap="square" lIns="0" tIns="0" rIns="0" bIns="0" rtlCol="0" anchor="t"/>
          <a:lstStyle/>
          <a:p>
            <a:pPr indent="0" marL="0">
              <a:buNone/>
            </a:pPr>
            <a:r>
              <a:rPr lang="en-US" sz="1200" dirty="0">
                <a:solidFill>
                  <a:srgbClr val="DCE7FF"/>
                </a:solidFill>
              </a:rPr>
              <a:t>The dashboard advisory was quoting invented savings figures; and route tests were writing to the real database because Flask-SQLAlchemy binds its engine at init_app — fixed by making the database location properly configurable.</a:t>
            </a:r>
            <a:endParaRPr lang="en-US" sz="1200" dirty="0"/>
          </a:p>
        </p:txBody>
      </p:sp>
      <p:sp>
        <p:nvSpPr>
          <p:cNvPr id="11" name="Text 9"/>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B7787"/>
                </a:solidFill>
              </a:rPr>
              <a:t>SmartEdit AI  ·  Final Viva Presentation</a:t>
            </a:r>
            <a:endParaRPr lang="en-US" sz="900" dirty="0"/>
          </a:p>
        </p:txBody>
      </p:sp>
      <p:sp>
        <p:nvSpPr>
          <p:cNvPr id="12" name="Text 10"/>
          <p:cNvSpPr/>
          <p:nvPr/>
        </p:nvSpPr>
        <p:spPr>
          <a:xfrm>
            <a:off x="10972800" y="6446520"/>
            <a:ext cx="731520" cy="274320"/>
          </a:xfrm>
          <a:prstGeom prst="rect">
            <a:avLst/>
          </a:prstGeom>
          <a:noFill/>
          <a:ln/>
        </p:spPr>
        <p:txBody>
          <a:bodyPr wrap="square" rtlCol="0" anchor="ctr"/>
          <a:lstStyle/>
          <a:p>
            <a:pPr algn="r" indent="0" marL="0">
              <a:buNone/>
            </a:pPr>
            <a:r>
              <a:rPr lang="en-US" sz="900" dirty="0">
                <a:solidFill>
                  <a:srgbClr val="6B7787"/>
                </a:solidFill>
              </a:rPr>
              <a:t>25 / 29</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9FC"/>
        </a:solidFill>
      </p:bgPr>
    </p:bg>
    <p:spTree>
      <p:nvGrpSpPr>
        <p:cNvPr id="1" name=""/>
        <p:cNvGrpSpPr/>
        <p:nvPr/>
      </p:nvGrpSpPr>
      <p:grpSpPr>
        <a:xfrm>
          <a:off x="0" y="0"/>
          <a:ext cx="0" cy="0"/>
          <a:chOff x="0" y="0"/>
          <a:chExt cx="0" cy="0"/>
        </a:xfrm>
      </p:grpSpPr>
      <p:sp>
        <p:nvSpPr>
          <p:cNvPr id="2" name="Text 0"/>
          <p:cNvSpPr/>
          <p:nvPr/>
        </p:nvSpPr>
        <p:spPr>
          <a:xfrm>
            <a:off x="457200" y="365760"/>
            <a:ext cx="11247120" cy="548640"/>
          </a:xfrm>
          <a:prstGeom prst="rect">
            <a:avLst/>
          </a:prstGeom>
          <a:noFill/>
          <a:ln/>
        </p:spPr>
        <p:txBody>
          <a:bodyPr wrap="square" lIns="0" tIns="0" rIns="0" bIns="0" rtlCol="0" anchor="ctr"/>
          <a:lstStyle/>
          <a:p>
            <a:pPr indent="0" marL="0">
              <a:buNone/>
            </a:pPr>
            <a:r>
              <a:rPr lang="en-US" sz="3000" b="1" dirty="0">
                <a:solidFill>
                  <a:srgbClr val="1457B8"/>
                </a:solidFill>
                <a:latin typeface="Georgia" pitchFamily="34" charset="0"/>
                <a:ea typeface="Georgia" pitchFamily="34" charset="-122"/>
                <a:cs typeface="Georgia" pitchFamily="34" charset="-120"/>
              </a:rPr>
              <a:t>Limitations, Stated Honestly</a:t>
            </a:r>
            <a:endParaRPr lang="en-US" sz="3000" dirty="0"/>
          </a:p>
        </p:txBody>
      </p:sp>
      <p:sp>
        <p:nvSpPr>
          <p:cNvPr id="3" name="Shape 1"/>
          <p:cNvSpPr/>
          <p:nvPr/>
        </p:nvSpPr>
        <p:spPr>
          <a:xfrm>
            <a:off x="548640" y="1554480"/>
            <a:ext cx="11064240" cy="4480560"/>
          </a:xfrm>
          <a:prstGeom prst="roundRect">
            <a:avLst>
              <a:gd name="adj" fmla="val 1633"/>
            </a:avLst>
          </a:prstGeom>
          <a:solidFill>
            <a:srgbClr val="FFFFFF"/>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4" name="Text 2"/>
          <p:cNvSpPr/>
          <p:nvPr/>
        </p:nvSpPr>
        <p:spPr>
          <a:xfrm>
            <a:off x="868680" y="1783080"/>
            <a:ext cx="10607040" cy="4114800"/>
          </a:xfrm>
          <a:prstGeom prst="rect">
            <a:avLst/>
          </a:prstGeom>
          <a:noFill/>
          <a:ln/>
        </p:spPr>
        <p:txBody>
          <a:bodyPr wrap="square" lIns="0" tIns="0" rIns="0" bIns="0" rtlCol="0" anchor="t"/>
          <a:lstStyle/>
          <a:p>
            <a:pPr marL="342900" indent="-342900">
              <a:spcAft>
                <a:spcPts val="1400"/>
              </a:spcAft>
              <a:buSzPct val="100000"/>
              <a:buChar char="•"/>
            </a:pPr>
            <a:r>
              <a:rPr lang="en-US" sz="1400" dirty="0">
                <a:solidFill>
                  <a:srgbClr val="1F2733"/>
                </a:solidFill>
              </a:rPr>
              <a:t>The classifier's fallback model has a held-out accuracy of only 64.7% — honestly measured on a corpus deliberately weighted towards ambiguous narrations, but still a real ceiling on the hardest cases.</a:t>
            </a:r>
            <a:endParaRPr lang="en-US" sz="1400" dirty="0"/>
          </a:p>
          <a:p>
            <a:pPr marL="342900" indent="-342900">
              <a:spcAft>
                <a:spcPts val="1400"/>
              </a:spcAft>
              <a:buSzPct val="100000"/>
              <a:buChar char="•"/>
            </a:pPr>
            <a:r>
              <a:rPr lang="en-US" sz="1400" dirty="0">
                <a:solidFill>
                  <a:srgbClr val="1F2733"/>
                </a:solidFill>
              </a:rPr>
              <a:t>Bank coverage is limited to the eleven banks currently recognised; a genuinely novel layout would need a new column alias map before it parses correctly.</a:t>
            </a:r>
            <a:endParaRPr lang="en-US" sz="1400" dirty="0"/>
          </a:p>
          <a:p>
            <a:pPr marL="342900" indent="-342900">
              <a:spcAft>
                <a:spcPts val="1400"/>
              </a:spcAft>
              <a:buSzPct val="100000"/>
              <a:buChar char="•"/>
            </a:pPr>
            <a:r>
              <a:rPr lang="en-US" sz="1400" dirty="0">
                <a:solidFill>
                  <a:srgbClr val="1F2733"/>
                </a:solidFill>
              </a:rPr>
              <a:t>The on-device model is only 1.5 billion parameters, and is deliberately never trusted with arithmetic or reasoning of its own — this is a design strength, but it does mean the model's own language ability is modest.</a:t>
            </a:r>
            <a:endParaRPr lang="en-US" sz="1400" dirty="0"/>
          </a:p>
          <a:p>
            <a:pPr marL="342900" indent="-342900">
              <a:spcAft>
                <a:spcPts val="1400"/>
              </a:spcAft>
              <a:buSzPct val="100000"/>
              <a:buChar char="•"/>
            </a:pPr>
            <a:r>
              <a:rPr lang="en-US" sz="1400" dirty="0">
                <a:solidFill>
                  <a:srgbClr val="1F2733"/>
                </a:solidFill>
              </a:rPr>
              <a:t>The fallback classifier was trained on 746 labelled narrations — a real but modest corpus size for the hardest, most ambiguous cases it has to handle.</a:t>
            </a:r>
            <a:endParaRPr lang="en-US" sz="1400" dirty="0"/>
          </a:p>
          <a:p>
            <a:pPr marL="342900" indent="-342900">
              <a:spcAft>
                <a:spcPts val="1400"/>
              </a:spcAft>
              <a:buSzPct val="100000"/>
              <a:buChar char="•"/>
            </a:pPr>
            <a:r>
              <a:rPr lang="en-US" sz="1400" dirty="0">
                <a:solidFill>
                  <a:srgbClr val="1F2733"/>
                </a:solidFill>
              </a:rPr>
              <a:t>The parser's header-scoring window is fixed at the first 25 rows; a bank whose real-world exports carry an unusually long preamble beyond that would need the window widened.</a:t>
            </a:r>
            <a:endParaRPr lang="en-US" sz="1400" dirty="0"/>
          </a:p>
          <a:p>
            <a:pPr marL="342900" indent="-342900">
              <a:spcAft>
                <a:spcPts val="1400"/>
              </a:spcAft>
              <a:buSzPct val="100000"/>
              <a:buChar char="•"/>
            </a:pPr>
            <a:r>
              <a:rPr lang="en-US" sz="1400" dirty="0">
                <a:solidFill>
                  <a:srgbClr val="1F2733"/>
                </a:solidFill>
              </a:rPr>
              <a:t>The live run and automated tests validate the system against the bundled sample statements and a single test account at a time; broader multi-user, multi-bank scale testing was outside this semester's scope.</a:t>
            </a:r>
            <a:endParaRPr lang="en-US" sz="1400" dirty="0"/>
          </a:p>
        </p:txBody>
      </p:sp>
      <p:sp>
        <p:nvSpPr>
          <p:cNvPr id="5"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B7787"/>
                </a:solidFill>
              </a:rPr>
              <a:t>SmartEdit AI  ·  Final Viva Presentation</a:t>
            </a:r>
            <a:endParaRPr lang="en-US" sz="900" dirty="0"/>
          </a:p>
        </p:txBody>
      </p:sp>
      <p:sp>
        <p:nvSpPr>
          <p:cNvPr id="6" name="Text 4"/>
          <p:cNvSpPr/>
          <p:nvPr/>
        </p:nvSpPr>
        <p:spPr>
          <a:xfrm>
            <a:off x="10972800" y="6446520"/>
            <a:ext cx="731520" cy="274320"/>
          </a:xfrm>
          <a:prstGeom prst="rect">
            <a:avLst/>
          </a:prstGeom>
          <a:noFill/>
          <a:ln/>
        </p:spPr>
        <p:txBody>
          <a:bodyPr wrap="square" rtlCol="0" anchor="ctr"/>
          <a:lstStyle/>
          <a:p>
            <a:pPr algn="r" indent="0" marL="0">
              <a:buNone/>
            </a:pPr>
            <a:r>
              <a:rPr lang="en-US" sz="900" dirty="0">
                <a:solidFill>
                  <a:srgbClr val="6B7787"/>
                </a:solidFill>
              </a:rPr>
              <a:t>26 / 29</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9FC"/>
        </a:solidFill>
      </p:bgPr>
    </p:bg>
    <p:spTree>
      <p:nvGrpSpPr>
        <p:cNvPr id="1" name=""/>
        <p:cNvGrpSpPr/>
        <p:nvPr/>
      </p:nvGrpSpPr>
      <p:grpSpPr>
        <a:xfrm>
          <a:off x="0" y="0"/>
          <a:ext cx="0" cy="0"/>
          <a:chOff x="0" y="0"/>
          <a:chExt cx="0" cy="0"/>
        </a:xfrm>
      </p:grpSpPr>
      <p:sp>
        <p:nvSpPr>
          <p:cNvPr id="2" name="Text 0"/>
          <p:cNvSpPr/>
          <p:nvPr/>
        </p:nvSpPr>
        <p:spPr>
          <a:xfrm>
            <a:off x="457200" y="365760"/>
            <a:ext cx="11247120" cy="548640"/>
          </a:xfrm>
          <a:prstGeom prst="rect">
            <a:avLst/>
          </a:prstGeom>
          <a:noFill/>
          <a:ln/>
        </p:spPr>
        <p:txBody>
          <a:bodyPr wrap="square" lIns="0" tIns="0" rIns="0" bIns="0" rtlCol="0" anchor="ctr"/>
          <a:lstStyle/>
          <a:p>
            <a:pPr indent="0" marL="0">
              <a:buNone/>
            </a:pPr>
            <a:r>
              <a:rPr lang="en-US" sz="3000" b="1" dirty="0">
                <a:solidFill>
                  <a:srgbClr val="1457B8"/>
                </a:solidFill>
                <a:latin typeface="Georgia" pitchFamily="34" charset="0"/>
                <a:ea typeface="Georgia" pitchFamily="34" charset="-122"/>
                <a:cs typeface="Georgia" pitchFamily="34" charset="-120"/>
              </a:rPr>
              <a:t>Future Work</a:t>
            </a:r>
            <a:endParaRPr lang="en-US" sz="3000" dirty="0"/>
          </a:p>
        </p:txBody>
      </p:sp>
      <p:sp>
        <p:nvSpPr>
          <p:cNvPr id="3" name="Shape 1"/>
          <p:cNvSpPr/>
          <p:nvPr/>
        </p:nvSpPr>
        <p:spPr>
          <a:xfrm>
            <a:off x="548640" y="1554480"/>
            <a:ext cx="11064240" cy="4480560"/>
          </a:xfrm>
          <a:prstGeom prst="roundRect">
            <a:avLst>
              <a:gd name="adj" fmla="val 1633"/>
            </a:avLst>
          </a:prstGeom>
          <a:solidFill>
            <a:srgbClr val="FFFFFF"/>
          </a:solidFill>
          <a:ln w="12700">
            <a:solidFill>
              <a:srgbClr val="E8F0FE"/>
            </a:solidFill>
            <a:prstDash val="solid"/>
          </a:ln>
          <a:effectLst>
            <a:outerShdw sx="100000" sy="100000" kx="0" ky="0" algn="bl" rotWithShape="0" blurRad="101600" dist="25400" dir="8100000">
              <a:srgbClr val="1457B8">
                <a:alpha val="12000"/>
              </a:srgbClr>
            </a:outerShdw>
          </a:effectLst>
        </p:spPr>
      </p:sp>
      <p:sp>
        <p:nvSpPr>
          <p:cNvPr id="4" name="Text 2"/>
          <p:cNvSpPr/>
          <p:nvPr/>
        </p:nvSpPr>
        <p:spPr>
          <a:xfrm>
            <a:off x="868680" y="1783080"/>
            <a:ext cx="10607040" cy="4114800"/>
          </a:xfrm>
          <a:prstGeom prst="rect">
            <a:avLst/>
          </a:prstGeom>
          <a:noFill/>
          <a:ln/>
        </p:spPr>
        <p:txBody>
          <a:bodyPr wrap="square" lIns="0" tIns="0" rIns="0" bIns="0" rtlCol="0" anchor="t"/>
          <a:lstStyle/>
          <a:p>
            <a:pPr marL="342900" indent="-342900">
              <a:spcAft>
                <a:spcPts val="1600"/>
              </a:spcAft>
              <a:buSzPct val="100000"/>
              <a:buFont typeface="+mj-lt"/>
              <a:buAutoNum type="arabicPeriod" startAt="1"/>
            </a:pPr>
            <a:r>
              <a:rPr lang="en-US" sz="1500" dirty="0">
                <a:solidFill>
                  <a:srgbClr val="1F2733"/>
                </a:solidFill>
              </a:rPr>
              <a:t>Grow and diversify the labelled narration corpus beyond 746 examples, and evaluate a stronger fallback model architecture, to raise the classifier's 64.7% held-out accuracy on ambiguous cases.</a:t>
            </a:r>
            <a:endParaRPr lang="en-US" sz="1500" dirty="0"/>
          </a:p>
          <a:p>
            <a:pPr marL="342900" indent="-342900">
              <a:spcAft>
                <a:spcPts val="1600"/>
              </a:spcAft>
              <a:buSzPct val="100000"/>
              <a:buFont typeface="+mj-lt"/>
              <a:buAutoNum type="arabicPeriod" startAt="1"/>
            </a:pPr>
            <a:r>
              <a:rPr lang="en-US" sz="1500" dirty="0">
                <a:solidFill>
                  <a:srgbClr val="1F2733"/>
                </a:solidFill>
              </a:rPr>
              <a:t>Extend bank coverage beyond the current eleven banks with additional column alias maps.</a:t>
            </a:r>
            <a:endParaRPr lang="en-US" sz="1500" dirty="0"/>
          </a:p>
          <a:p>
            <a:pPr marL="342900" indent="-342900">
              <a:spcAft>
                <a:spcPts val="1600"/>
              </a:spcAft>
              <a:buSzPct val="100000"/>
              <a:buFont typeface="+mj-lt"/>
              <a:buAutoNum type="arabicPeriod" startAt="1"/>
            </a:pPr>
            <a:r>
              <a:rPr lang="en-US" sz="1500" dirty="0">
                <a:solidFill>
                  <a:srgbClr val="1F2733"/>
                </a:solidFill>
              </a:rPr>
              <a:t>Make the parser's preamble-scoring window adaptive rather than fixed at 25 rows, for banks whose real exports need more.</a:t>
            </a:r>
            <a:endParaRPr lang="en-US" sz="1500" dirty="0"/>
          </a:p>
          <a:p>
            <a:pPr marL="342900" indent="-342900">
              <a:spcAft>
                <a:spcPts val="1600"/>
              </a:spcAft>
              <a:buSzPct val="100000"/>
              <a:buFont typeface="+mj-lt"/>
              <a:buAutoNum type="arabicPeriod" startAt="1"/>
            </a:pPr>
            <a:r>
              <a:rPr lang="en-US" sz="1500" dirty="0">
                <a:solidFill>
                  <a:srgbClr val="1F2733"/>
                </a:solidFill>
              </a:rPr>
              <a:t>Extend the live-run style of end-to-end verification to more banks and a wider range of account histories, beyond the single test account exercised this semester.</a:t>
            </a:r>
            <a:endParaRPr lang="en-US" sz="1500" dirty="0"/>
          </a:p>
          <a:p>
            <a:pPr marL="342900" indent="-342900">
              <a:spcAft>
                <a:spcPts val="1600"/>
              </a:spcAft>
              <a:buSzPct val="100000"/>
              <a:buFont typeface="+mj-lt"/>
              <a:buAutoNum type="arabicPeriod" startAt="1"/>
            </a:pPr>
            <a:r>
              <a:rPr lang="en-US" sz="1500" dirty="0">
                <a:solidFill>
                  <a:srgbClr val="1F2733"/>
                </a:solidFill>
              </a:rPr>
              <a:t>Continue widening the guard's checklist as new model failure modes are observed, in the same way the current checklist grew directly out of the LaTeX and invented-savings-figure incidents.</a:t>
            </a:r>
            <a:endParaRPr lang="en-US" sz="1500" dirty="0"/>
          </a:p>
        </p:txBody>
      </p:sp>
      <p:sp>
        <p:nvSpPr>
          <p:cNvPr id="5"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B7787"/>
                </a:solidFill>
              </a:rPr>
              <a:t>SmartEdit AI  ·  Final Viva Presentation</a:t>
            </a:r>
            <a:endParaRPr lang="en-US" sz="900" dirty="0"/>
          </a:p>
        </p:txBody>
      </p:sp>
      <p:sp>
        <p:nvSpPr>
          <p:cNvPr id="6" name="Text 4"/>
          <p:cNvSpPr/>
          <p:nvPr/>
        </p:nvSpPr>
        <p:spPr>
          <a:xfrm>
            <a:off x="10972800" y="6446520"/>
            <a:ext cx="731520" cy="274320"/>
          </a:xfrm>
          <a:prstGeom prst="rect">
            <a:avLst/>
          </a:prstGeom>
          <a:noFill/>
          <a:ln/>
        </p:spPr>
        <p:txBody>
          <a:bodyPr wrap="square" rtlCol="0" anchor="ctr"/>
          <a:lstStyle/>
          <a:p>
            <a:pPr algn="r" indent="0" marL="0">
              <a:buNone/>
            </a:pPr>
            <a:r>
              <a:rPr lang="en-US" sz="900" dirty="0">
                <a:solidFill>
                  <a:srgbClr val="6B7787"/>
                </a:solidFill>
              </a:rPr>
              <a:t>27 / 29</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457B8"/>
        </a:solidFill>
      </p:bgPr>
    </p:bg>
    <p:spTree>
      <p:nvGrpSpPr>
        <p:cNvPr id="1" name=""/>
        <p:cNvGrpSpPr/>
        <p:nvPr/>
      </p:nvGrpSpPr>
      <p:grpSpPr>
        <a:xfrm>
          <a:off x="0" y="0"/>
          <a:ext cx="0" cy="0"/>
          <a:chOff x="0" y="0"/>
          <a:chExt cx="0" cy="0"/>
        </a:xfrm>
      </p:grpSpPr>
      <p:sp>
        <p:nvSpPr>
          <p:cNvPr id="2" name="Text 0"/>
          <p:cNvSpPr/>
          <p:nvPr/>
        </p:nvSpPr>
        <p:spPr>
          <a:xfrm>
            <a:off x="822960" y="502920"/>
            <a:ext cx="10058400" cy="64008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Conclusion</a:t>
            </a:r>
            <a:endParaRPr lang="en-US" sz="3200" dirty="0"/>
          </a:p>
        </p:txBody>
      </p:sp>
      <p:sp>
        <p:nvSpPr>
          <p:cNvPr id="3" name="Text 1"/>
          <p:cNvSpPr/>
          <p:nvPr/>
        </p:nvSpPr>
        <p:spPr>
          <a:xfrm>
            <a:off x="868680" y="1417320"/>
            <a:ext cx="10424160" cy="4389120"/>
          </a:xfrm>
          <a:prstGeom prst="rect">
            <a:avLst/>
          </a:prstGeom>
          <a:noFill/>
          <a:ln/>
        </p:spPr>
        <p:txBody>
          <a:bodyPr wrap="square" lIns="0" tIns="0" rIns="0" bIns="0" rtlCol="0" anchor="t"/>
          <a:lstStyle/>
          <a:p>
            <a:pPr marL="342900" indent="-342900">
              <a:spcAft>
                <a:spcPts val="1300"/>
              </a:spcAft>
              <a:buSzPct val="100000"/>
              <a:buChar char="•"/>
            </a:pPr>
            <a:r>
              <a:rPr lang="en-US" sz="1500" dirty="0">
                <a:solidFill>
                  <a:srgbClr val="FFFFFF"/>
                </a:solidFill>
              </a:rPr>
              <a:t>A four-layer architecture — browser, Flask application with eight modules, on-device inference, and SQLite — built to read genuinely messy Indian bank statements</a:t>
            </a:r>
            <a:endParaRPr lang="en-US" sz="1500" dirty="0"/>
          </a:p>
          <a:p>
            <a:pPr marL="342900" indent="-342900">
              <a:spcAft>
                <a:spcPts val="1300"/>
              </a:spcAft>
              <a:buSzPct val="100000"/>
              <a:buChar char="•"/>
            </a:pPr>
            <a:r>
              <a:rPr lang="en-US" sz="1500" dirty="0">
                <a:solidFill>
                  <a:srgbClr val="FFFFFF"/>
                </a:solidFill>
              </a:rPr>
              <a:t>A classifier that resolves cryptic narrations correctly by testing merchant identity before generic payment-rail markers</a:t>
            </a:r>
            <a:endParaRPr lang="en-US" sz="1500" dirty="0"/>
          </a:p>
          <a:p>
            <a:pPr marL="342900" indent="-342900">
              <a:spcAft>
                <a:spcPts val="1300"/>
              </a:spcAft>
              <a:buSzPct val="100000"/>
              <a:buChar char="•"/>
            </a:pPr>
            <a:r>
              <a:rPr lang="en-US" sz="1500" dirty="0">
                <a:solidFill>
                  <a:srgbClr val="FFFFFF"/>
                </a:solidFill>
              </a:rPr>
              <a:t>A chatbot and advisory system where every rupee figure is computed by real SQL, and the language model is never trusted with a number</a:t>
            </a:r>
            <a:endParaRPr lang="en-US" sz="1500" dirty="0"/>
          </a:p>
          <a:p>
            <a:pPr marL="342900" indent="-342900">
              <a:spcAft>
                <a:spcPts val="1300"/>
              </a:spcAft>
              <a:buSzPct val="100000"/>
              <a:buChar char="•"/>
            </a:pPr>
            <a:r>
              <a:rPr lang="en-US" sz="1500" dirty="0">
                <a:solidFill>
                  <a:srgbClr val="FFFFFF"/>
                </a:solidFill>
              </a:rPr>
              <a:t>A salary and tax module that reaches all the way to marginal relief, not just the headline rebate</a:t>
            </a:r>
            <a:endParaRPr lang="en-US" sz="1500" dirty="0"/>
          </a:p>
          <a:p>
            <a:pPr marL="342900" indent="-342900">
              <a:spcAft>
                <a:spcPts val="1300"/>
              </a:spcAft>
              <a:buSzPct val="100000"/>
              <a:buChar char="•"/>
            </a:pPr>
            <a:r>
              <a:rPr lang="en-US" sz="1500" dirty="0">
                <a:solidFill>
                  <a:srgbClr val="FFFFFF"/>
                </a:solidFill>
              </a:rPr>
              <a:t>172 automated tests, all passing, plus a live run against real imported data that exposed and fixed two genuine defects</a:t>
            </a:r>
            <a:endParaRPr lang="en-US" sz="1500" dirty="0"/>
          </a:p>
          <a:p>
            <a:pPr marL="342900" indent="-342900">
              <a:spcAft>
                <a:spcPts val="1300"/>
              </a:spcAft>
              <a:buSzPct val="100000"/>
              <a:buChar char="•"/>
            </a:pPr>
            <a:r>
              <a:rPr lang="en-US" sz="1500" dirty="0">
                <a:solidFill>
                  <a:srgbClr val="FFFFFF"/>
                </a:solidFill>
              </a:rPr>
              <a:t>A system that runs on the user's own machine, with nothing leaving it by default</a:t>
            </a:r>
            <a:endParaRPr lang="en-US" sz="1500" dirty="0"/>
          </a:p>
        </p:txBody>
      </p:sp>
      <p:sp>
        <p:nvSpPr>
          <p:cNvPr id="4" name="Text 2"/>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B7787"/>
                </a:solidFill>
              </a:rPr>
              <a:t>SmartEdit AI  ·  Final Viva Presentation</a:t>
            </a:r>
            <a:endParaRPr lang="en-US" sz="900" dirty="0"/>
          </a:p>
        </p:txBody>
      </p:sp>
      <p:sp>
        <p:nvSpPr>
          <p:cNvPr id="5" name="Text 3"/>
          <p:cNvSpPr/>
          <p:nvPr/>
        </p:nvSpPr>
        <p:spPr>
          <a:xfrm>
            <a:off x="10972800" y="6446520"/>
            <a:ext cx="731520" cy="274320"/>
          </a:xfrm>
          <a:prstGeom prst="rect">
            <a:avLst/>
          </a:prstGeom>
          <a:noFill/>
          <a:ln/>
        </p:spPr>
        <p:txBody>
          <a:bodyPr wrap="square" rtlCol="0" anchor="ctr"/>
          <a:lstStyle/>
          <a:p>
            <a:pPr algn="r" indent="0" marL="0">
              <a:buNone/>
            </a:pPr>
            <a:r>
              <a:rPr lang="en-US" sz="900" dirty="0">
                <a:solidFill>
                  <a:srgbClr val="6B7787"/>
                </a:solidFill>
              </a:rPr>
              <a:t>28 / 29</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457B8"/>
        </a:solidFill>
      </p:bgPr>
    </p:bg>
    <p:spTree>
      <p:nvGrpSpPr>
        <p:cNvPr id="1" name=""/>
        <p:cNvGrpSpPr/>
        <p:nvPr/>
      </p:nvGrpSpPr>
      <p:grpSpPr>
        <a:xfrm>
          <a:off x="0" y="0"/>
          <a:ext cx="0" cy="0"/>
          <a:chOff x="0" y="0"/>
          <a:chExt cx="0" cy="0"/>
        </a:xfrm>
      </p:grpSpPr>
      <p:sp>
        <p:nvSpPr>
          <p:cNvPr id="2" name="Text 0"/>
          <p:cNvSpPr/>
          <p:nvPr/>
        </p:nvSpPr>
        <p:spPr>
          <a:xfrm>
            <a:off x="822960" y="2377440"/>
            <a:ext cx="10058400" cy="822960"/>
          </a:xfrm>
          <a:prstGeom prst="rect">
            <a:avLst/>
          </a:prstGeom>
          <a:noFill/>
          <a:ln/>
        </p:spPr>
        <p:txBody>
          <a:bodyPr wrap="square" lIns="0" tIns="0" rIns="0" bIns="0" rtlCol="0" anchor="ctr"/>
          <a:lstStyle/>
          <a:p>
            <a:pPr indent="0" marL="0">
              <a:buNone/>
            </a:pPr>
            <a:r>
              <a:rPr lang="en-US" sz="4400" b="1" dirty="0">
                <a:solidFill>
                  <a:srgbClr val="FFFFFF"/>
                </a:solidFill>
                <a:latin typeface="Georgia" pitchFamily="34" charset="0"/>
                <a:ea typeface="Georgia" pitchFamily="34" charset="-122"/>
                <a:cs typeface="Georgia" pitchFamily="34" charset="-120"/>
              </a:rPr>
              <a:t>Thank You</a:t>
            </a:r>
            <a:endParaRPr lang="en-US" sz="4400" dirty="0"/>
          </a:p>
        </p:txBody>
      </p:sp>
      <p:sp>
        <p:nvSpPr>
          <p:cNvPr id="3" name="Text 1"/>
          <p:cNvSpPr/>
          <p:nvPr/>
        </p:nvSpPr>
        <p:spPr>
          <a:xfrm>
            <a:off x="822960" y="3200400"/>
            <a:ext cx="10058400" cy="548640"/>
          </a:xfrm>
          <a:prstGeom prst="rect">
            <a:avLst/>
          </a:prstGeom>
          <a:noFill/>
          <a:ln/>
        </p:spPr>
        <p:txBody>
          <a:bodyPr wrap="square" lIns="0" tIns="0" rIns="0" bIns="0" rtlCol="0" anchor="ctr"/>
          <a:lstStyle/>
          <a:p>
            <a:pPr indent="0" marL="0">
              <a:buNone/>
            </a:pPr>
            <a:r>
              <a:rPr lang="en-US" sz="2200" i="1" dirty="0">
                <a:solidFill>
                  <a:srgbClr val="CADCFC"/>
                </a:solidFill>
              </a:rPr>
              <a:t>Questions</a:t>
            </a:r>
            <a:endParaRPr lang="en-US" sz="2200" dirty="0"/>
          </a:p>
        </p:txBody>
      </p:sp>
      <p:sp>
        <p:nvSpPr>
          <p:cNvPr id="4" name="Text 2"/>
          <p:cNvSpPr/>
          <p:nvPr/>
        </p:nvSpPr>
        <p:spPr>
          <a:xfrm>
            <a:off x="822960" y="5120640"/>
            <a:ext cx="10058400" cy="457200"/>
          </a:xfrm>
          <a:prstGeom prst="rect">
            <a:avLst/>
          </a:prstGeom>
          <a:noFill/>
          <a:ln/>
        </p:spPr>
        <p:txBody>
          <a:bodyPr wrap="square" lIns="0" tIns="0" rIns="0" bIns="0" rtlCol="0" anchor="ctr"/>
          <a:lstStyle/>
          <a:p>
            <a:pPr indent="0" marL="0">
              <a:buNone/>
            </a:pPr>
            <a:r>
              <a:rPr lang="en-US" sz="1300" dirty="0">
                <a:solidFill>
                  <a:srgbClr val="9DB8F0"/>
                </a:solidFill>
              </a:rPr>
              <a:t>SmartEdit AI — An Intelligent Personal Finance Web Application for Indian Salaried Users</a:t>
            </a:r>
            <a:endParaRPr lang="en-US" sz="1300" dirty="0"/>
          </a:p>
        </p:txBody>
      </p:sp>
      <p:sp>
        <p:nvSpPr>
          <p:cNvPr id="5" name="Text 3"/>
          <p:cNvSpPr/>
          <p:nvPr/>
        </p:nvSpPr>
        <p:spPr>
          <a:xfrm>
            <a:off x="822960" y="5577840"/>
            <a:ext cx="10058400" cy="365760"/>
          </a:xfrm>
          <a:prstGeom prst="rect">
            <a:avLst/>
          </a:prstGeom>
          <a:noFill/>
          <a:ln/>
        </p:spPr>
        <p:txBody>
          <a:bodyPr wrap="square" lIns="0" tIns="0" rIns="0" bIns="0" rtlCol="0" anchor="ctr"/>
          <a:lstStyle/>
          <a:p>
            <a:pPr indent="0" marL="0">
              <a:buNone/>
            </a:pPr>
            <a:r>
              <a:rPr lang="en-US" sz="1200" dirty="0">
                <a:solidFill>
                  <a:srgbClr val="9DB8F0"/>
                </a:solidFill>
              </a:rPr>
              <a:t>Shyam Sundar  ·  BITS ZG628T — Dissertation  ·  BITS Pilani (WILP)  ·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SmartEdit AI — Final Viva Presentation</dc:title>
  <dc:subject>PptxGenJS Presentation</dc:subject>
  <dc:creator>Shyam Sundar</dc:creator>
  <cp:lastModifiedBy>Shyam Sundar</cp:lastModifiedBy>
  <cp:revision>1</cp:revision>
  <dcterms:created xsi:type="dcterms:W3CDTF">2026-07-29T20:25:57Z</dcterms:created>
  <dcterms:modified xsi:type="dcterms:W3CDTF">2026-07-29T20:25:57Z</dcterms:modified>
</cp:coreProperties>
</file>